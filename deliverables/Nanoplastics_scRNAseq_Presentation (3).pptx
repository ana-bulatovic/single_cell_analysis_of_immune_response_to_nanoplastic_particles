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8262" autoAdjust="0"/>
  </p:normalViewPr>
  <p:slideViewPr>
    <p:cSldViewPr snapToGrid="0" snapToObjects="1">
      <p:cViewPr varScale="1">
        <p:scale>
          <a:sx n="49" d="100"/>
          <a:sy n="49" d="100"/>
        </p:scale>
        <p:origin x="1780"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Genes</c:v>
                </c:pt>
              </c:strCache>
            </c:strRef>
          </c:tx>
          <c:spPr>
            <a:solidFill>
              <a:srgbClr val="2AABCC"/>
            </a:solidFill>
            <a:effectLst/>
          </c:spPr>
          <c:invertIfNegative val="0"/>
          <c:dPt>
            <c:idx val="0"/>
            <c:invertIfNegative val="0"/>
            <c:bubble3D val="0"/>
            <c:extLst>
              <c:ext xmlns:c16="http://schemas.microsoft.com/office/drawing/2014/chart" uri="{C3380CC4-5D6E-409C-BE32-E72D297353CC}">
                <c16:uniqueId val="{00000001-D725-49F0-86B8-985610615C2C}"/>
              </c:ext>
            </c:extLst>
          </c:dPt>
          <c:dPt>
            <c:idx val="1"/>
            <c:invertIfNegative val="0"/>
            <c:bubble3D val="0"/>
            <c:spPr>
              <a:solidFill>
                <a:srgbClr val="E8A838"/>
              </a:solidFill>
              <a:effectLst/>
            </c:spPr>
            <c:extLst>
              <c:ext xmlns:c16="http://schemas.microsoft.com/office/drawing/2014/chart" uri="{C3380CC4-5D6E-409C-BE32-E72D297353CC}">
                <c16:uniqueId val="{00000003-D725-49F0-86B8-985610615C2C}"/>
              </c:ext>
            </c:extLst>
          </c:dPt>
          <c:dPt>
            <c:idx val="2"/>
            <c:invertIfNegative val="0"/>
            <c:bubble3D val="0"/>
            <c:spPr>
              <a:solidFill>
                <a:srgbClr val="AAAAAA"/>
              </a:solidFill>
              <a:effectLst/>
            </c:spPr>
            <c:extLst>
              <c:ext xmlns:c16="http://schemas.microsoft.com/office/drawing/2014/chart" uri="{C3380CC4-5D6E-409C-BE32-E72D297353CC}">
                <c16:uniqueId val="{00000005-D725-49F0-86B8-985610615C2C}"/>
              </c:ext>
            </c:extLst>
          </c:dPt>
          <c:dPt>
            <c:idx val="3"/>
            <c:invertIfNegative val="0"/>
            <c:bubble3D val="0"/>
            <c:spPr>
              <a:solidFill>
                <a:srgbClr val="1D6A8B"/>
              </a:solidFill>
              <a:effectLst/>
            </c:spPr>
            <c:extLst>
              <c:ext xmlns:c16="http://schemas.microsoft.com/office/drawing/2014/chart" uri="{C3380CC4-5D6E-409C-BE32-E72D297353CC}">
                <c16:uniqueId val="{00000007-D725-49F0-86B8-985610615C2C}"/>
              </c:ext>
            </c:extLst>
          </c:dPt>
          <c:dPt>
            <c:idx val="4"/>
            <c:invertIfNegative val="0"/>
            <c:bubble3D val="0"/>
            <c:spPr>
              <a:solidFill>
                <a:srgbClr val="E05C4B"/>
              </a:solidFill>
              <a:effectLst/>
            </c:spPr>
            <c:extLst>
              <c:ext xmlns:c16="http://schemas.microsoft.com/office/drawing/2014/chart" uri="{C3380CC4-5D6E-409C-BE32-E72D297353CC}">
                <c16:uniqueId val="{00000009-D725-49F0-86B8-985610615C2C}"/>
              </c:ext>
            </c:extLst>
          </c:dPt>
          <c:dLbls>
            <c:numFmt formatCode="#,##0" sourceLinked="0"/>
            <c:spPr>
              <a:noFill/>
              <a:ln>
                <a:noFill/>
              </a:ln>
              <a:effectLst/>
            </c:spPr>
            <c:txPr>
              <a:bodyPr/>
              <a:lstStyle/>
              <a:p>
                <a:pPr>
                  <a:defRPr sz="1200" b="0" i="0" u="none" strike="noStrike">
                    <a:solidFill>
                      <a:srgbClr val="333333"/>
                    </a:solidFill>
                    <a:latin typeface="Arial"/>
                  </a:defRPr>
                </a:pPr>
                <a:endParaRPr lang="sr-Latn-R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Unique 40nm</c:v>
                </c:pt>
                <c:pt idx="1">
                  <c:v>Unique 200nm</c:v>
                </c:pt>
                <c:pt idx="2">
                  <c:v>Shared 40+200</c:v>
                </c:pt>
                <c:pt idx="3">
                  <c:v>All three</c:v>
                </c:pt>
                <c:pt idx="4">
                  <c:v>Mix-only emergent</c:v>
                </c:pt>
              </c:strCache>
            </c:strRef>
          </c:cat>
          <c:val>
            <c:numRef>
              <c:f>Sheet1!$B$2:$B$6</c:f>
              <c:numCache>
                <c:formatCode>General</c:formatCode>
                <c:ptCount val="5"/>
                <c:pt idx="0">
                  <c:v>203</c:v>
                </c:pt>
                <c:pt idx="1">
                  <c:v>81</c:v>
                </c:pt>
                <c:pt idx="2">
                  <c:v>0</c:v>
                </c:pt>
                <c:pt idx="3">
                  <c:v>865</c:v>
                </c:pt>
                <c:pt idx="4">
                  <c:v>294</c:v>
                </c:pt>
              </c:numCache>
            </c:numRef>
          </c:val>
          <c:extLst>
            <c:ext xmlns:c16="http://schemas.microsoft.com/office/drawing/2014/chart" uri="{C3380CC4-5D6E-409C-BE32-E72D297353CC}">
              <c16:uniqueId val="{0000000A-D725-49F0-86B8-985610615C2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0E0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0817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today my colleague Ana and I are going to present our single-cell RNA-seq investigation into how </a:t>
            </a:r>
            <a:r>
              <a:rPr lang="en-US" dirty="0" err="1"/>
              <a:t>nanoplastic</a:t>
            </a:r>
            <a:r>
              <a:rPr lang="en-US" dirty="0"/>
              <a:t> particle size affects human immune cells. Our hypothesis: nanoparticle size alters both immune cell composition and gene expression in human PBMCs.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 plastic debris breaks down into </a:t>
            </a:r>
            <a:r>
              <a:rPr lang="en-US" dirty="0" err="1"/>
              <a:t>nanoplastics</a:t>
            </a:r>
            <a:r>
              <a:rPr lang="en-US" dirty="0"/>
              <a:t> under a micron in size, and these are now being found in oceans, food, air, and even human blood. Because they’re so small, they come into direct contact with circulating immune cells — T cells, B cells, NK cells, and monocytes. And critically, size itself matters: smaller particles cross biological barriers more easily and take different routes into the cell, which could mean very different immune consequences depending on particle size.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experimental design is straightforward: four samples from a single donor, all using carboxylated polystyrene nanoparticles as a model nanoplastic. Sample 1 received 40 nm particles — the smaller size with very high surface area. Sample 2 got 200 nm particles, larger with different cellular uptake dynamics. Sample 3 received a mixture of both sizes to test combined exposure effects. Sample 4 is the untreated control. After quality control, we retained between 6,000 and 12,000 cells per sample, giving us 33,240 cells in total across over 20,000 genes. Important limitations to keep in mind throughout: this is a single donor, in vitro, and we only measure RNA, not proteins.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has seven main steps. First, quality control and preprocessing — we filter out low-quality cells and normalise gene expression. Second, we integrate all four samples using ComBat batch correction, then reduce dimensions with PCA and UMAP, and cluster cells with the Leiden algorithm, finding 14 clusters. Third, we annotate cell types using canonical marker genes, then validate with two external references: the CoDi labels shipped with the dataset, and the Azimuth PBMC reference atlas. Steps four through seven are the biological analysis: composition changes, differential expression per cell type, pathway enrichment with GO, KEGG, and Reactome, and finally classifying genes by particle-size specificity. The full Python pipeline runs in about nine minutes.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control was straightforward and data quality was excellent. We applied standard PBMC thresholds: at least 200 genes per cell to exclude empty droplets, at most 7,000 genes to catch likely doublets where two cells were captured together, minimum 500 UMI counts, and no more than 15% mitochondrial reads which would indicate a stressed or dying cell. Retention was very high — between 96.9% and 98% across all four samples, meaning the input data was clean. After merging we had 33,240 cells. We then normalised library size, log-transformed, selected the top 3,000 highly variable genes, scaled, and ran PCA followed by ComBat batch correction to remove technical differences between the four sample files.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batch correction with ComBat, all four conditions mix on the UMAP — cells from 40 nm, 200 nm, mixture, and control samples appear in the same regions, meaning integration succeeded and cells are separating by biology, not by which sequencing run they came from. We found 14 Leiden clusters, which we then annotated biologically. On the cell-type-coloured UMAP, you can see distinct regions for CD4 T cells, CD8 T cells, NK cells, B cells, monocytes, and dendritic cells. This gives us the cell-type framework for all downstream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type annotation used three complementary approaches. The primary method is marker-based: for each cell we score the mean expression of canonical marker genes for each cell type and assign the winner. For example, cells with high LYZ and S100A8 are assigned as CD14+ monocytes, cells with high CD3D as T cells. We then validated these labels using CoDi — pre-computed labels shipped with the dataset — which mapped to 99.6% of cells with 64.7% agreement. That agreement level is expected given different naming granularity between methods. Finally, Azimuth provides the most detailed labels including CD4 versus CD8 T cells and memory versus naive states. The dominant population is CD4+ T cells at over 15,000 cells, followed by NK cells, B cells, CD8 T cells, and monocytes.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Composition analysis compares the fraction of each cell type across the four conditions. The most striking finding is in CD14+ monocytes: they rise from 5.7% in the untreated control to 9.7% under 200 nm PSNP exposure, suggesting recruitment or survival advantage. Surprisingly, in the mixture condition, CD14+ monocytes drop to their lowest level at 3.1% — which is not simply the average of the two single-size effects. This non-linear mixture response is biologically interesting and hints at complex interactions. CD4+ T cells remain dominant and stable at around 44 to 49% across all conditions, suggesting the overall immune composition is not dramatically disrupted, but specific populations show size-dependent shifts.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Differential expression analysis used the Wilcoxon rank-sum test, comparing each exposure against the control within each cell type separately. This cell-type-resolved approach avoids mixing signals from different immune populations. Across 22 completed comparisons, we found 36,814 significant gene-level results out of 66,000 tested — indicating a strong and widespread transcriptional response to PSNP exposure. Monocytes show the clearest activation signature, with upregulation of S100A8, CXCL8, IL1B, and TNF — all classical innate immune activation and inflammatory mediators. This confirms that nanoplastic exposure triggers genuine immune gene expression changes, and that the response is detectable even in a single-donor in vitro system.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Pathway enrichment translates long gene lists into interpretable biology. We sent significantly upregulated genes from each cell type and exposure combination to Enrichr, querying GO Biological Process, KEGG, and Reactome databases. The results tell a clear size-dependent story. Under 40 nm exposure, monocytes upregulate genes related to MHC class II assembly, antigen processing, and the endosomal-lysosomal pathway — consistent with increased phagocytic and antigen-presenting activity triggered by small particles that enter cells efficiently. Under 200 nm exposure, the enriched terms shift toward metabolic stress — cytoplasmic translation, mitochondrial function, and platelet activation regulation. The mixture condition shows the strongest innate immune signal: inflammatory response, cytokine-mediated signalling, and LPS response pathways, suggesting a synergistic immune activation when both particle sizes are present simultaneously.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results. We classified every significant DE gene in CD14+ monocytes into five categories: genes uniquely responsive to 40 nm only, uniquely to 200 nm only, shared between both single sizes, shared across all three conditions, or emerging only in the mixture. The dominant category is shared across all three exposures — 865 genes — representing a core PSNP particle response regardless of size. However, 40 nm uniquely activates 203 genes, more than double the 81 genes unique to 200 nm, consistent with antigen presentation and endosomal pathways from the enrichment analysis. Crucially, 294 genes only respond in the mixture condition — not in either single-size exposure alone. This mixture-only emergent response suggests that co-exposure to both particle sizes produces synergistic or antagonistic effects that cannot be predicted from either size in isolation.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core assignment tasks, we implemented five additional analyses. First, interferon signature scoring showed no strong global IFN activation across conditions — the control actually had the slightly highest IFN score, suggesting PSNP exposure did not trigger a classic antiviral response, though cell-type-specific IFN genes may still appear in the DE tables. Second, antigen presentation scoring using HLA-related genes revealed that CD14+ monocytes in the mixture condition show the lowest antigen presentation score, an interesting counterpoint to the inflammatory activation — possibly a regulatory response or exhaustion mechanism. Third, CoDi versus marker agreement at 64.7% validates our annotation against an independent external model. Fourth, we exported a pseudobulk count matrix with 32 condition × cell type groups, ready for DESeq2 or edgeR if stricter bulk-style testing is needed. Fifth, cell cycle scoring was attempted but failed because cell cycle genes were not retained in the 3,000 HVG matrix — this is a noted limitation.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produces nine main output files. The master object is the AnnData h5ad file with all 33,240 cells, the UMAP embedding, and all annotation columns. Four UMAP figures provide visual overview. The CSV tables cover: cell type composition per condition, differential expression results, pathway enrichment, size-specific gene classifications, CoDi versus marker agreement, antigen presentation scores, and a pseudobulk matrix for downstream bulk-style analysis. All files are documented in the run log and can be reproduced by following the README in the GitHub repository.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we successfully integrated over 33,000 PBMC cells from four PSNP exposure conditions. Our hypothesis is confirmed — particle size does reshape the immune transcriptional response. The key findings are: CD14+ monocytes show a clear size-dependent composition shift, with 200 nm particles causing the greatest monocyte enrichment. Pathway analysis reveals mechanistically distinct programmes — 40 nm particles activate antigen presentation and endosomal routes, while 200 nm particles induce metabolic stress, and the mixture triggers the broadest innate inflammatory response. Most notably, 294 genes respond only to the mixture — not to either single size — demonstrating that combined exposure produces emergent effects that cannot be predicted from single-size experiments alone. This has implications for risk assessment of real-world nanoplastic exposure, where multiple particle sizes co-occur.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study is without limitations, and being transparent about them is important. The single-donor design is the most significant — we cannot know whether these findings generalise across individuals with different genetics, age, or immune status. The in vitro design simplifies exposure, and RNA levels do not directly reflect protein abundance or cell function. We also lack spatial information, cannot assess cell cycle due to the HVG subset, and Azimuth annotation requires a separate R script run. Future work should prioritise multi-donor validation, protein-level confirmation with technologies like CITE-seq, and in vivo validation. Additional computational analyses like cell-cell communication modelling and pseudotime trajectory analysis of monocyte activation states would add further biological depth. The full reproducible pipeline is on GitHub with an environment file and README.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Our key takeaway is that nanoplastic particle size genuinely matters for immune cell responses — 40 nm and 200 nm particles trigger distinct transcriptional programmes in CD14+ monocytes, with 40 nm favouring antigen presentation pathways and 200 nm metabolic stress, while combined exposure produces an emergent inflammatory response with 294 genes that neither size alone activates. I am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84215F-7558-701F-6BCE-ED1884381A96}"/>
              </a:ext>
            </a:extLst>
          </p:cNvPr>
          <p:cNvSpPr txBox="1"/>
          <p:nvPr userDrawn="1">
            <p:extLst>
              <p:ext uri="{1162E1C5-73C7-4A58-AE30-91384D911F3F}">
                <p184:classification xmlns:p184="http://schemas.microsoft.com/office/powerpoint/2018/4/main" val="hdr"/>
              </p:ext>
            </p:extLst>
          </p:nvPr>
        </p:nvSpPr>
        <p:spPr>
          <a:xfrm>
            <a:off x="8651875" y="190500"/>
            <a:ext cx="327025" cy="152400"/>
          </a:xfrm>
          <a:prstGeom prst="rect">
            <a:avLst/>
          </a:prstGeom>
        </p:spPr>
        <p:txBody>
          <a:bodyPr horzOverflow="overflow" lIns="0" tIns="0" rIns="0" bIns="0">
            <a:spAutoFit/>
          </a:bodyPr>
          <a:lstStyle/>
          <a:p>
            <a:pPr algn="l"/>
            <a:r>
              <a:rPr lang="sr-Latn-RS" sz="1000">
                <a:solidFill>
                  <a:srgbClr val="000000">
                    <a:alpha val="50000"/>
                  </a:srgbClr>
                </a:solidFill>
                <a:latin typeface="Aptos" panose="020B0004020202020204" pitchFamily="34" charset="0"/>
              </a:rPr>
              <a:t>Open</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7132320" y="-1097280"/>
            <a:ext cx="3657600" cy="3657600"/>
          </a:xfrm>
          <a:prstGeom prst="ellipse">
            <a:avLst/>
          </a:prstGeom>
          <a:solidFill>
            <a:srgbClr val="1D6A8B">
              <a:alpha val="25000"/>
            </a:srgbClr>
          </a:solidFill>
          <a:ln/>
        </p:spPr>
        <p:txBody>
          <a:bodyPr/>
          <a:lstStyle/>
          <a:p>
            <a:endParaRPr lang="sr-Latn-RS"/>
          </a:p>
        </p:txBody>
      </p:sp>
      <p:sp>
        <p:nvSpPr>
          <p:cNvPr id="3" name="Shape 1"/>
          <p:cNvSpPr/>
          <p:nvPr/>
        </p:nvSpPr>
        <p:spPr>
          <a:xfrm>
            <a:off x="7772400" y="-457200"/>
            <a:ext cx="2286000" cy="2286000"/>
          </a:xfrm>
          <a:prstGeom prst="ellipse">
            <a:avLst/>
          </a:prstGeom>
          <a:solidFill>
            <a:srgbClr val="2AABCC">
              <a:alpha val="20000"/>
            </a:srgbClr>
          </a:solidFill>
          <a:ln/>
        </p:spPr>
        <p:txBody>
          <a:bodyPr/>
          <a:lstStyle/>
          <a:p>
            <a:endParaRPr lang="sr-Latn-RS"/>
          </a:p>
        </p:txBody>
      </p:sp>
      <p:sp>
        <p:nvSpPr>
          <p:cNvPr id="4" name="Text 2"/>
          <p:cNvSpPr/>
          <p:nvPr/>
        </p:nvSpPr>
        <p:spPr>
          <a:xfrm>
            <a:off x="548640" y="822960"/>
            <a:ext cx="8046720" cy="502920"/>
          </a:xfrm>
          <a:prstGeom prst="rect">
            <a:avLst/>
          </a:prstGeom>
          <a:noFill/>
          <a:ln/>
        </p:spPr>
        <p:txBody>
          <a:bodyPr wrap="square" rtlCol="0" anchor="ctr"/>
          <a:lstStyle/>
          <a:p>
            <a:pPr marL="0" indent="0" algn="l">
              <a:buNone/>
            </a:pPr>
            <a:r>
              <a:rPr lang="en-US" sz="1400" b="1" kern="0" spc="400" dirty="0">
                <a:solidFill>
                  <a:srgbClr val="2AABCC"/>
                </a:solidFill>
                <a:latin typeface="Calibri" pitchFamily="34" charset="0"/>
                <a:ea typeface="Calibri" pitchFamily="34" charset="-122"/>
                <a:cs typeface="Calibri" pitchFamily="34" charset="-120"/>
              </a:rPr>
              <a:t>SINGLE-CELL ANALYSIS</a:t>
            </a:r>
            <a:endParaRPr lang="en-US" sz="1400" dirty="0"/>
          </a:p>
        </p:txBody>
      </p:sp>
      <p:sp>
        <p:nvSpPr>
          <p:cNvPr id="5" name="Text 3"/>
          <p:cNvSpPr/>
          <p:nvPr/>
        </p:nvSpPr>
        <p:spPr>
          <a:xfrm>
            <a:off x="548640" y="1280160"/>
            <a:ext cx="8046720" cy="1737360"/>
          </a:xfrm>
          <a:prstGeom prst="rect">
            <a:avLst/>
          </a:prstGeom>
          <a:noFill/>
          <a:ln/>
        </p:spPr>
        <p:txBody>
          <a:bodyPr wrap="square"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Immune Response to</a:t>
            </a:r>
            <a:endParaRPr lang="en-US" sz="4400" dirty="0"/>
          </a:p>
          <a:p>
            <a:pPr marL="0" indent="0" algn="l">
              <a:buNone/>
            </a:pPr>
            <a:r>
              <a:rPr lang="en-US" sz="4400" b="1" dirty="0">
                <a:solidFill>
                  <a:srgbClr val="FFFFFF"/>
                </a:solidFill>
                <a:latin typeface="Cambria" pitchFamily="34" charset="0"/>
                <a:ea typeface="Cambria" pitchFamily="34" charset="-122"/>
                <a:cs typeface="Cambria" pitchFamily="34" charset="-120"/>
              </a:rPr>
              <a:t>Nanoplastic Particles</a:t>
            </a:r>
            <a:endParaRPr lang="en-US" sz="4400" dirty="0"/>
          </a:p>
        </p:txBody>
      </p:sp>
      <p:sp>
        <p:nvSpPr>
          <p:cNvPr id="6" name="Text 4"/>
          <p:cNvSpPr/>
          <p:nvPr/>
        </p:nvSpPr>
        <p:spPr>
          <a:xfrm>
            <a:off x="548640" y="3017520"/>
            <a:ext cx="8046720" cy="457200"/>
          </a:xfrm>
          <a:prstGeom prst="rect">
            <a:avLst/>
          </a:prstGeom>
          <a:noFill/>
          <a:ln/>
        </p:spPr>
        <p:txBody>
          <a:bodyPr wrap="square" rtlCol="0" anchor="ctr"/>
          <a:lstStyle/>
          <a:p>
            <a:pPr marL="0" indent="0" algn="l">
              <a:buNone/>
            </a:pPr>
            <a:r>
              <a:rPr lang="en-US" sz="1600" i="1" dirty="0">
                <a:solidFill>
                  <a:srgbClr val="7FA9BB"/>
                </a:solidFill>
                <a:latin typeface="Calibri" pitchFamily="34" charset="0"/>
                <a:ea typeface="Calibri" pitchFamily="34" charset="-122"/>
                <a:cs typeface="Calibri" pitchFamily="34" charset="-120"/>
              </a:rPr>
              <a:t>scRNA-seq Investigation of Size-Dependent Effects on Human PBMC</a:t>
            </a:r>
            <a:endParaRPr lang="en-US" sz="1600" dirty="0"/>
          </a:p>
        </p:txBody>
      </p:sp>
      <p:sp>
        <p:nvSpPr>
          <p:cNvPr id="7" name="Shape 5"/>
          <p:cNvSpPr/>
          <p:nvPr/>
        </p:nvSpPr>
        <p:spPr>
          <a:xfrm>
            <a:off x="548640" y="3794760"/>
            <a:ext cx="1965960" cy="384048"/>
          </a:xfrm>
          <a:prstGeom prst="roundRect">
            <a:avLst>
              <a:gd name="adj" fmla="val 11905"/>
            </a:avLst>
          </a:prstGeom>
          <a:solidFill>
            <a:srgbClr val="2AABCC">
              <a:alpha val="80000"/>
            </a:srgbClr>
          </a:solidFill>
          <a:ln/>
        </p:spPr>
        <p:txBody>
          <a:bodyPr/>
          <a:lstStyle/>
          <a:p>
            <a:endParaRPr lang="sr-Latn-RS"/>
          </a:p>
        </p:txBody>
      </p:sp>
      <p:sp>
        <p:nvSpPr>
          <p:cNvPr id="8" name="Text 6"/>
          <p:cNvSpPr/>
          <p:nvPr/>
        </p:nvSpPr>
        <p:spPr>
          <a:xfrm>
            <a:off x="548640" y="3794760"/>
            <a:ext cx="19659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40 nm PSNPs</a:t>
            </a:r>
            <a:endParaRPr lang="en-US" sz="1100" dirty="0"/>
          </a:p>
        </p:txBody>
      </p:sp>
      <p:sp>
        <p:nvSpPr>
          <p:cNvPr id="9" name="Shape 7"/>
          <p:cNvSpPr/>
          <p:nvPr/>
        </p:nvSpPr>
        <p:spPr>
          <a:xfrm>
            <a:off x="2697480" y="3794760"/>
            <a:ext cx="1965960" cy="384048"/>
          </a:xfrm>
          <a:prstGeom prst="roundRect">
            <a:avLst>
              <a:gd name="adj" fmla="val 11905"/>
            </a:avLst>
          </a:prstGeom>
          <a:solidFill>
            <a:srgbClr val="E8A838">
              <a:alpha val="80000"/>
            </a:srgbClr>
          </a:solidFill>
          <a:ln/>
        </p:spPr>
        <p:txBody>
          <a:bodyPr/>
          <a:lstStyle/>
          <a:p>
            <a:endParaRPr lang="sr-Latn-RS"/>
          </a:p>
        </p:txBody>
      </p:sp>
      <p:sp>
        <p:nvSpPr>
          <p:cNvPr id="10" name="Text 8"/>
          <p:cNvSpPr/>
          <p:nvPr/>
        </p:nvSpPr>
        <p:spPr>
          <a:xfrm>
            <a:off x="2697480" y="3794760"/>
            <a:ext cx="19659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200 nm PSNPs</a:t>
            </a:r>
            <a:endParaRPr lang="en-US" sz="1100" dirty="0"/>
          </a:p>
        </p:txBody>
      </p:sp>
      <p:sp>
        <p:nvSpPr>
          <p:cNvPr id="11" name="Shape 9"/>
          <p:cNvSpPr/>
          <p:nvPr/>
        </p:nvSpPr>
        <p:spPr>
          <a:xfrm>
            <a:off x="4846320" y="3794760"/>
            <a:ext cx="1965960" cy="384048"/>
          </a:xfrm>
          <a:prstGeom prst="roundRect">
            <a:avLst>
              <a:gd name="adj" fmla="val 11905"/>
            </a:avLst>
          </a:prstGeom>
          <a:solidFill>
            <a:srgbClr val="E05C4B">
              <a:alpha val="80000"/>
            </a:srgbClr>
          </a:solidFill>
          <a:ln/>
        </p:spPr>
        <p:txBody>
          <a:bodyPr/>
          <a:lstStyle/>
          <a:p>
            <a:endParaRPr lang="sr-Latn-RS"/>
          </a:p>
        </p:txBody>
      </p:sp>
      <p:sp>
        <p:nvSpPr>
          <p:cNvPr id="12" name="Text 10"/>
          <p:cNvSpPr/>
          <p:nvPr/>
        </p:nvSpPr>
        <p:spPr>
          <a:xfrm>
            <a:off x="4846320" y="3794760"/>
            <a:ext cx="19659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40+200 nm Mix</a:t>
            </a:r>
            <a:endParaRPr lang="en-US" sz="1100" dirty="0"/>
          </a:p>
        </p:txBody>
      </p:sp>
      <p:sp>
        <p:nvSpPr>
          <p:cNvPr id="13" name="Shape 11"/>
          <p:cNvSpPr/>
          <p:nvPr/>
        </p:nvSpPr>
        <p:spPr>
          <a:xfrm>
            <a:off x="6995160" y="3794760"/>
            <a:ext cx="1965960" cy="384048"/>
          </a:xfrm>
          <a:prstGeom prst="roundRect">
            <a:avLst>
              <a:gd name="adj" fmla="val 11905"/>
            </a:avLst>
          </a:prstGeom>
          <a:solidFill>
            <a:srgbClr val="2E8B57">
              <a:alpha val="80000"/>
            </a:srgbClr>
          </a:solidFill>
          <a:ln/>
        </p:spPr>
        <p:txBody>
          <a:bodyPr/>
          <a:lstStyle/>
          <a:p>
            <a:endParaRPr lang="sr-Latn-RS"/>
          </a:p>
        </p:txBody>
      </p:sp>
      <p:sp>
        <p:nvSpPr>
          <p:cNvPr id="14" name="Text 12"/>
          <p:cNvSpPr/>
          <p:nvPr/>
        </p:nvSpPr>
        <p:spPr>
          <a:xfrm>
            <a:off x="6995160" y="3794760"/>
            <a:ext cx="196596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Control</a:t>
            </a:r>
            <a:endParaRPr lang="en-US" sz="1100" dirty="0"/>
          </a:p>
        </p:txBody>
      </p:sp>
      <p:sp>
        <p:nvSpPr>
          <p:cNvPr id="16" name="Text 13">
            <a:extLst>
              <a:ext uri="{FF2B5EF4-FFF2-40B4-BE49-F238E27FC236}">
                <a16:creationId xmlns:a16="http://schemas.microsoft.com/office/drawing/2014/main" id="{DCA30034-B42E-BB76-F939-8E72F5E811AC}"/>
              </a:ext>
            </a:extLst>
          </p:cNvPr>
          <p:cNvSpPr/>
          <p:nvPr/>
        </p:nvSpPr>
        <p:spPr>
          <a:xfrm>
            <a:off x="613410" y="4251960"/>
            <a:ext cx="8465820" cy="891540"/>
          </a:xfrm>
          <a:prstGeom prst="rect">
            <a:avLst/>
          </a:prstGeom>
          <a:noFill/>
          <a:ln/>
        </p:spPr>
        <p:txBody>
          <a:bodyPr wrap="square" rtlCol="0" anchor="ctr"/>
          <a:lstStyle/>
          <a:p>
            <a:pPr marL="0" indent="0" algn="ctr">
              <a:buNone/>
            </a:pPr>
            <a:r>
              <a:rPr lang="en-US" sz="1400" i="1" dirty="0">
                <a:solidFill>
                  <a:srgbClr val="7FA9BB"/>
                </a:solidFill>
                <a:latin typeface="Calibri" pitchFamily="34" charset="0"/>
                <a:ea typeface="Calibri" pitchFamily="34" charset="-122"/>
                <a:cs typeface="Calibri" pitchFamily="34" charset="-120"/>
              </a:rPr>
              <a:t>Ana </a:t>
            </a:r>
            <a:r>
              <a:rPr lang="en-US" sz="1400" i="1" dirty="0" err="1">
                <a:solidFill>
                  <a:srgbClr val="7FA9BB"/>
                </a:solidFill>
                <a:latin typeface="Calibri" pitchFamily="34" charset="0"/>
                <a:ea typeface="Calibri" pitchFamily="34" charset="-122"/>
                <a:cs typeface="Calibri" pitchFamily="34" charset="-120"/>
              </a:rPr>
              <a:t>Bulatovi</a:t>
            </a:r>
            <a:r>
              <a:rPr lang="sr-Latn-RS" sz="1400" i="1" dirty="0">
                <a:solidFill>
                  <a:srgbClr val="7FA9BB"/>
                </a:solidFill>
                <a:latin typeface="Calibri" pitchFamily="34" charset="0"/>
                <a:ea typeface="Calibri" pitchFamily="34" charset="-122"/>
                <a:cs typeface="Calibri" pitchFamily="34" charset="-120"/>
              </a:rPr>
              <a:t>ć 2025</a:t>
            </a:r>
            <a:r>
              <a:rPr lang="en-US" sz="1400" i="1" dirty="0">
                <a:solidFill>
                  <a:srgbClr val="7FA9BB"/>
                </a:solidFill>
                <a:latin typeface="Calibri" pitchFamily="34" charset="0"/>
                <a:ea typeface="Calibri" pitchFamily="34" charset="-122"/>
                <a:cs typeface="Calibri" pitchFamily="34" charset="-120"/>
              </a:rPr>
              <a:t>/3046 </a:t>
            </a:r>
          </a:p>
          <a:p>
            <a:pPr marL="0" indent="0" algn="ctr">
              <a:buNone/>
            </a:pPr>
            <a:r>
              <a:rPr lang="en-US" sz="1400" i="1" dirty="0">
                <a:solidFill>
                  <a:srgbClr val="7FA9BB"/>
                </a:solidFill>
                <a:latin typeface="Calibri" pitchFamily="34" charset="0"/>
                <a:ea typeface="Calibri" pitchFamily="34" charset="-122"/>
                <a:cs typeface="Calibri" pitchFamily="34" charset="-120"/>
              </a:rPr>
              <a:t>Marija </a:t>
            </a:r>
            <a:r>
              <a:rPr lang="en-US" sz="1400" i="1" dirty="0" err="1">
                <a:solidFill>
                  <a:srgbClr val="7FA9BB"/>
                </a:solidFill>
                <a:latin typeface="Calibri" pitchFamily="34" charset="0"/>
                <a:ea typeface="Calibri" pitchFamily="34" charset="-122"/>
                <a:cs typeface="Calibri" pitchFamily="34" charset="-120"/>
              </a:rPr>
              <a:t>Dovijani</a:t>
            </a:r>
            <a:r>
              <a:rPr lang="sr-Latn-RS" sz="1400" i="1" dirty="0">
                <a:solidFill>
                  <a:srgbClr val="7FA9BB"/>
                </a:solidFill>
                <a:latin typeface="Calibri" pitchFamily="34" charset="0"/>
                <a:ea typeface="Calibri" pitchFamily="34" charset="-122"/>
                <a:cs typeface="Calibri" pitchFamily="34" charset="-120"/>
              </a:rPr>
              <a:t>ć 2025</a:t>
            </a:r>
            <a:r>
              <a:rPr lang="en-US" sz="1400" i="1" dirty="0">
                <a:solidFill>
                  <a:srgbClr val="7FA9BB"/>
                </a:solidFill>
                <a:latin typeface="Calibri" pitchFamily="34" charset="0"/>
                <a:ea typeface="Calibri" pitchFamily="34" charset="-122"/>
                <a:cs typeface="Calibri" pitchFamily="34" charset="-120"/>
              </a:rPr>
              <a:t>/3064</a:t>
            </a:r>
            <a:endParaRPr lang="en-US" sz="14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lgn="l">
              <a:buNone/>
            </a:pPr>
            <a:r>
              <a:rPr lang="en-US" sz="3600" b="1" dirty="0">
                <a:solidFill>
                  <a:srgbClr val="0A2342"/>
                </a:solidFill>
                <a:latin typeface="Cambria" pitchFamily="34" charset="0"/>
                <a:ea typeface="Cambria" pitchFamily="34" charset="-122"/>
                <a:cs typeface="Cambria" pitchFamily="34" charset="-120"/>
              </a:rPr>
              <a:t>Why Nanoplastics Matter</a:t>
            </a:r>
            <a:endParaRPr lang="en-US" sz="3600" dirty="0"/>
          </a:p>
        </p:txBody>
      </p:sp>
      <p:sp>
        <p:nvSpPr>
          <p:cNvPr id="3" name="Shape 1"/>
          <p:cNvSpPr/>
          <p:nvPr/>
        </p:nvSpPr>
        <p:spPr>
          <a:xfrm>
            <a:off x="457200" y="1051560"/>
            <a:ext cx="2651760" cy="3017520"/>
          </a:xfrm>
          <a:prstGeom prst="roundRect">
            <a:avLst>
              <a:gd name="adj" fmla="val 2759"/>
            </a:avLst>
          </a:prstGeom>
          <a:solidFill>
            <a:srgbClr val="FFFFFF"/>
          </a:solidFill>
          <a:ln/>
          <a:effectLst>
            <a:outerShdw blurRad="101600" dist="25400" dir="2700000" algn="bl" rotWithShape="0">
              <a:srgbClr val="000000">
                <a:alpha val="10000"/>
              </a:srgbClr>
            </a:outerShdw>
          </a:effectLst>
        </p:spPr>
        <p:txBody>
          <a:bodyPr/>
          <a:lstStyle/>
          <a:p>
            <a:endParaRPr lang="sr-Latn-RS"/>
          </a:p>
        </p:txBody>
      </p:sp>
      <p:sp>
        <p:nvSpPr>
          <p:cNvPr id="4" name="Text 2"/>
          <p:cNvSpPr/>
          <p:nvPr/>
        </p:nvSpPr>
        <p:spPr>
          <a:xfrm>
            <a:off x="457200" y="1143000"/>
            <a:ext cx="265176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5" name="Text 3"/>
          <p:cNvSpPr/>
          <p:nvPr/>
        </p:nvSpPr>
        <p:spPr>
          <a:xfrm>
            <a:off x="457200" y="1691640"/>
            <a:ext cx="2651760" cy="365760"/>
          </a:xfrm>
          <a:prstGeom prst="rect">
            <a:avLst/>
          </a:prstGeom>
          <a:noFill/>
          <a:ln/>
        </p:spPr>
        <p:txBody>
          <a:bodyPr wrap="square" rtlCol="0" anchor="ctr"/>
          <a:lstStyle/>
          <a:p>
            <a:pPr marL="0" indent="0" algn="ctr">
              <a:buNone/>
            </a:pPr>
            <a:r>
              <a:rPr lang="en-US" sz="1400" b="1" dirty="0">
                <a:solidFill>
                  <a:srgbClr val="1D6A8B"/>
                </a:solidFill>
                <a:latin typeface="Calibri" pitchFamily="34" charset="0"/>
                <a:ea typeface="Calibri" pitchFamily="34" charset="-122"/>
                <a:cs typeface="Calibri" pitchFamily="34" charset="-120"/>
              </a:rPr>
              <a:t>Global Exposure</a:t>
            </a:r>
            <a:endParaRPr lang="en-US" sz="1400" dirty="0"/>
          </a:p>
        </p:txBody>
      </p:sp>
      <p:sp>
        <p:nvSpPr>
          <p:cNvPr id="6" name="Text 4"/>
          <p:cNvSpPr/>
          <p:nvPr/>
        </p:nvSpPr>
        <p:spPr>
          <a:xfrm>
            <a:off x="594360" y="2103120"/>
            <a:ext cx="2377440" cy="1737360"/>
          </a:xfrm>
          <a:prstGeom prst="rect">
            <a:avLst/>
          </a:prstGeom>
          <a:noFill/>
          <a:ln/>
        </p:spPr>
        <p:txBody>
          <a:bodyPr wrap="square" rtlCol="0" anchor="t"/>
          <a:lstStyle/>
          <a:p>
            <a:pPr marL="0" indent="0" algn="l">
              <a:buNone/>
            </a:pPr>
            <a:r>
              <a:rPr lang="en-US" sz="1200" dirty="0">
                <a:solidFill>
                  <a:srgbClr val="0A2342"/>
                </a:solidFill>
                <a:latin typeface="Calibri" pitchFamily="34" charset="0"/>
                <a:ea typeface="Calibri" pitchFamily="34" charset="-122"/>
                <a:cs typeface="Calibri" pitchFamily="34" charset="-120"/>
              </a:rPr>
              <a:t>Plastic debris degrades into nanoplastics (&lt;1 μm) found in oceans, food, air, and now detected in human blood and tissues.</a:t>
            </a:r>
            <a:endParaRPr lang="en-US" sz="1200" dirty="0"/>
          </a:p>
        </p:txBody>
      </p:sp>
      <p:sp>
        <p:nvSpPr>
          <p:cNvPr id="7" name="Shape 5"/>
          <p:cNvSpPr/>
          <p:nvPr/>
        </p:nvSpPr>
        <p:spPr>
          <a:xfrm>
            <a:off x="3291840" y="1051560"/>
            <a:ext cx="2651760" cy="3017520"/>
          </a:xfrm>
          <a:prstGeom prst="roundRect">
            <a:avLst>
              <a:gd name="adj" fmla="val 2759"/>
            </a:avLst>
          </a:prstGeom>
          <a:solidFill>
            <a:srgbClr val="FFFFFF"/>
          </a:solidFill>
          <a:ln/>
          <a:effectLst>
            <a:outerShdw blurRad="101600" dist="25400" dir="2700000" algn="bl" rotWithShape="0">
              <a:srgbClr val="000000">
                <a:alpha val="10000"/>
              </a:srgbClr>
            </a:outerShdw>
          </a:effectLst>
        </p:spPr>
        <p:txBody>
          <a:bodyPr/>
          <a:lstStyle/>
          <a:p>
            <a:endParaRPr lang="sr-Latn-RS"/>
          </a:p>
        </p:txBody>
      </p:sp>
      <p:sp>
        <p:nvSpPr>
          <p:cNvPr id="8" name="Text 6"/>
          <p:cNvSpPr/>
          <p:nvPr/>
        </p:nvSpPr>
        <p:spPr>
          <a:xfrm>
            <a:off x="3291840" y="1143000"/>
            <a:ext cx="265176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3291840" y="1691640"/>
            <a:ext cx="2651760" cy="365760"/>
          </a:xfrm>
          <a:prstGeom prst="rect">
            <a:avLst/>
          </a:prstGeom>
          <a:noFill/>
          <a:ln/>
        </p:spPr>
        <p:txBody>
          <a:bodyPr wrap="square" rtlCol="0" anchor="ctr"/>
          <a:lstStyle/>
          <a:p>
            <a:pPr marL="0" indent="0" algn="ctr">
              <a:buNone/>
            </a:pPr>
            <a:r>
              <a:rPr lang="en-US" sz="1400" b="1" dirty="0">
                <a:solidFill>
                  <a:srgbClr val="1D6A8B"/>
                </a:solidFill>
                <a:latin typeface="Calibri" pitchFamily="34" charset="0"/>
                <a:ea typeface="Calibri" pitchFamily="34" charset="-122"/>
                <a:cs typeface="Calibri" pitchFamily="34" charset="-120"/>
              </a:rPr>
              <a:t>Immune Cell Contact</a:t>
            </a:r>
            <a:endParaRPr lang="en-US" sz="1400" dirty="0"/>
          </a:p>
        </p:txBody>
      </p:sp>
      <p:sp>
        <p:nvSpPr>
          <p:cNvPr id="10" name="Text 8"/>
          <p:cNvSpPr/>
          <p:nvPr/>
        </p:nvSpPr>
        <p:spPr>
          <a:xfrm>
            <a:off x="3429000" y="2103120"/>
            <a:ext cx="2377440" cy="1737360"/>
          </a:xfrm>
          <a:prstGeom prst="rect">
            <a:avLst/>
          </a:prstGeom>
          <a:noFill/>
          <a:ln/>
        </p:spPr>
        <p:txBody>
          <a:bodyPr wrap="square" rtlCol="0" anchor="t"/>
          <a:lstStyle/>
          <a:p>
            <a:pPr marL="0" indent="0" algn="l">
              <a:buNone/>
            </a:pPr>
            <a:r>
              <a:rPr lang="en-US" sz="1200" dirty="0">
                <a:solidFill>
                  <a:srgbClr val="0A2342"/>
                </a:solidFill>
                <a:latin typeface="Calibri" pitchFamily="34" charset="0"/>
                <a:ea typeface="Calibri" pitchFamily="34" charset="-122"/>
                <a:cs typeface="Calibri" pitchFamily="34" charset="-120"/>
              </a:rPr>
              <a:t>Circulating PBMC — T cells, B cells, NK cells, monocytes — are directly exposed to nanoplastics entering the bloodstream.</a:t>
            </a:r>
            <a:endParaRPr lang="en-US" sz="1200" dirty="0"/>
          </a:p>
        </p:txBody>
      </p:sp>
      <p:sp>
        <p:nvSpPr>
          <p:cNvPr id="11" name="Shape 9"/>
          <p:cNvSpPr/>
          <p:nvPr/>
        </p:nvSpPr>
        <p:spPr>
          <a:xfrm>
            <a:off x="6126480" y="1051560"/>
            <a:ext cx="2651760" cy="3017520"/>
          </a:xfrm>
          <a:prstGeom prst="roundRect">
            <a:avLst>
              <a:gd name="adj" fmla="val 2759"/>
            </a:avLst>
          </a:prstGeom>
          <a:solidFill>
            <a:srgbClr val="FFFFFF"/>
          </a:solidFill>
          <a:ln/>
          <a:effectLst>
            <a:outerShdw blurRad="101600" dist="25400" dir="2700000" algn="bl" rotWithShape="0">
              <a:srgbClr val="000000">
                <a:alpha val="10000"/>
              </a:srgbClr>
            </a:outerShdw>
          </a:effectLst>
        </p:spPr>
        <p:txBody>
          <a:bodyPr/>
          <a:lstStyle/>
          <a:p>
            <a:endParaRPr lang="sr-Latn-RS"/>
          </a:p>
        </p:txBody>
      </p:sp>
      <p:sp>
        <p:nvSpPr>
          <p:cNvPr id="12" name="Text 10"/>
          <p:cNvSpPr/>
          <p:nvPr/>
        </p:nvSpPr>
        <p:spPr>
          <a:xfrm>
            <a:off x="6126480" y="1143000"/>
            <a:ext cx="265176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3" name="Text 11"/>
          <p:cNvSpPr/>
          <p:nvPr/>
        </p:nvSpPr>
        <p:spPr>
          <a:xfrm>
            <a:off x="6126480" y="1691640"/>
            <a:ext cx="2651760" cy="365760"/>
          </a:xfrm>
          <a:prstGeom prst="rect">
            <a:avLst/>
          </a:prstGeom>
          <a:noFill/>
          <a:ln/>
        </p:spPr>
        <p:txBody>
          <a:bodyPr wrap="square" rtlCol="0" anchor="ctr"/>
          <a:lstStyle/>
          <a:p>
            <a:pPr marL="0" indent="0" algn="ctr">
              <a:buNone/>
            </a:pPr>
            <a:r>
              <a:rPr lang="en-US" sz="1400" b="1" dirty="0">
                <a:solidFill>
                  <a:srgbClr val="1D6A8B"/>
                </a:solidFill>
                <a:latin typeface="Calibri" pitchFamily="34" charset="0"/>
                <a:ea typeface="Calibri" pitchFamily="34" charset="-122"/>
                <a:cs typeface="Calibri" pitchFamily="34" charset="-120"/>
              </a:rPr>
              <a:t>Size Matters</a:t>
            </a:r>
            <a:endParaRPr lang="en-US" sz="1400" dirty="0"/>
          </a:p>
        </p:txBody>
      </p:sp>
      <p:sp>
        <p:nvSpPr>
          <p:cNvPr id="14" name="Text 12"/>
          <p:cNvSpPr/>
          <p:nvPr/>
        </p:nvSpPr>
        <p:spPr>
          <a:xfrm>
            <a:off x="6263640" y="2103120"/>
            <a:ext cx="2377440" cy="1737360"/>
          </a:xfrm>
          <a:prstGeom prst="rect">
            <a:avLst/>
          </a:prstGeom>
          <a:noFill/>
          <a:ln/>
        </p:spPr>
        <p:txBody>
          <a:bodyPr wrap="square" rtlCol="0" anchor="t"/>
          <a:lstStyle/>
          <a:p>
            <a:pPr marL="0" indent="0" algn="l">
              <a:buNone/>
            </a:pPr>
            <a:r>
              <a:rPr lang="en-US" sz="1200" dirty="0">
                <a:solidFill>
                  <a:srgbClr val="0A2342"/>
                </a:solidFill>
                <a:latin typeface="Calibri" pitchFamily="34" charset="0"/>
                <a:ea typeface="Calibri" pitchFamily="34" charset="-122"/>
                <a:cs typeface="Calibri" pitchFamily="34" charset="-120"/>
              </a:rPr>
              <a:t>Smaller particles cross biological barriers more easily; particle size shapes cellular uptake, endocytosis route, and immune activation.</a:t>
            </a:r>
            <a:endParaRPr lang="en-US" sz="1200" dirty="0"/>
          </a:p>
        </p:txBody>
      </p:sp>
      <p:sp>
        <p:nvSpPr>
          <p:cNvPr id="15" name="Shape 13"/>
          <p:cNvSpPr/>
          <p:nvPr/>
        </p:nvSpPr>
        <p:spPr>
          <a:xfrm>
            <a:off x="457200" y="4160520"/>
            <a:ext cx="8229600" cy="658368"/>
          </a:xfrm>
          <a:prstGeom prst="roundRect">
            <a:avLst>
              <a:gd name="adj" fmla="val 9722"/>
            </a:avLst>
          </a:prstGeom>
          <a:solidFill>
            <a:srgbClr val="0A2342"/>
          </a:solidFill>
          <a:ln/>
        </p:spPr>
        <p:txBody>
          <a:bodyPr/>
          <a:lstStyle/>
          <a:p>
            <a:endParaRPr lang="sr-Latn-RS"/>
          </a:p>
        </p:txBody>
      </p:sp>
      <p:sp>
        <p:nvSpPr>
          <p:cNvPr id="16" name="Text 14"/>
          <p:cNvSpPr/>
          <p:nvPr/>
        </p:nvSpPr>
        <p:spPr>
          <a:xfrm>
            <a:off x="594360" y="4160520"/>
            <a:ext cx="7955280" cy="658368"/>
          </a:xfrm>
          <a:prstGeom prst="rect">
            <a:avLst/>
          </a:prstGeom>
          <a:noFill/>
          <a:ln/>
        </p:spPr>
        <p:txBody>
          <a:bodyPr wrap="square"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Hypothesis:  Nanoparticle size alters immune cell composition and gene expression in human PBMC</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lgn="l">
              <a:buNone/>
            </a:pPr>
            <a:r>
              <a:rPr lang="en-US" sz="3600" b="1" dirty="0">
                <a:solidFill>
                  <a:srgbClr val="0A2342"/>
                </a:solidFill>
                <a:latin typeface="Cambria" pitchFamily="34" charset="0"/>
                <a:ea typeface="Cambria" pitchFamily="34" charset="-122"/>
                <a:cs typeface="Cambria" pitchFamily="34" charset="-120"/>
              </a:rPr>
              <a:t>Experimental Design</a:t>
            </a:r>
            <a:endParaRPr lang="en-US" sz="3600" dirty="0"/>
          </a:p>
        </p:txBody>
      </p:sp>
      <p:sp>
        <p:nvSpPr>
          <p:cNvPr id="3" name="Shape 1"/>
          <p:cNvSpPr/>
          <p:nvPr/>
        </p:nvSpPr>
        <p:spPr>
          <a:xfrm>
            <a:off x="347472" y="914400"/>
            <a:ext cx="1965960" cy="2423160"/>
          </a:xfrm>
          <a:prstGeom prst="roundRect">
            <a:avLst>
              <a:gd name="adj" fmla="val 4186"/>
            </a:avLst>
          </a:prstGeom>
          <a:solidFill>
            <a:srgbClr val="FFFFFF"/>
          </a:solidFill>
          <a:ln/>
          <a:effectLst>
            <a:outerShdw blurRad="88900" dist="25400" dir="2700000" algn="bl" rotWithShape="0">
              <a:srgbClr val="000000">
                <a:alpha val="10000"/>
              </a:srgbClr>
            </a:outerShdw>
          </a:effectLst>
        </p:spPr>
        <p:txBody>
          <a:bodyPr/>
          <a:lstStyle/>
          <a:p>
            <a:endParaRPr lang="sr-Latn-RS"/>
          </a:p>
        </p:txBody>
      </p:sp>
      <p:sp>
        <p:nvSpPr>
          <p:cNvPr id="4" name="Shape 2"/>
          <p:cNvSpPr/>
          <p:nvPr/>
        </p:nvSpPr>
        <p:spPr>
          <a:xfrm>
            <a:off x="347472" y="914400"/>
            <a:ext cx="1965960" cy="457200"/>
          </a:xfrm>
          <a:prstGeom prst="roundRect">
            <a:avLst>
              <a:gd name="adj" fmla="val 18000"/>
            </a:avLst>
          </a:prstGeom>
          <a:solidFill>
            <a:srgbClr val="2AABCC"/>
          </a:solidFill>
          <a:ln/>
        </p:spPr>
        <p:txBody>
          <a:bodyPr/>
          <a:lstStyle/>
          <a:p>
            <a:endParaRPr lang="sr-Latn-RS"/>
          </a:p>
        </p:txBody>
      </p:sp>
      <p:sp>
        <p:nvSpPr>
          <p:cNvPr id="5" name="Shape 3"/>
          <p:cNvSpPr/>
          <p:nvPr/>
        </p:nvSpPr>
        <p:spPr>
          <a:xfrm>
            <a:off x="347472" y="1170432"/>
            <a:ext cx="1965960" cy="201168"/>
          </a:xfrm>
          <a:prstGeom prst="rect">
            <a:avLst/>
          </a:prstGeom>
          <a:solidFill>
            <a:srgbClr val="2AABCC"/>
          </a:solidFill>
          <a:ln/>
        </p:spPr>
        <p:txBody>
          <a:bodyPr/>
          <a:lstStyle/>
          <a:p>
            <a:endParaRPr lang="sr-Latn-RS"/>
          </a:p>
        </p:txBody>
      </p:sp>
      <p:sp>
        <p:nvSpPr>
          <p:cNvPr id="6" name="Text 4"/>
          <p:cNvSpPr/>
          <p:nvPr/>
        </p:nvSpPr>
        <p:spPr>
          <a:xfrm>
            <a:off x="347472" y="950976"/>
            <a:ext cx="19659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Sample 1</a:t>
            </a:r>
            <a:endParaRPr lang="en-US" sz="1300" dirty="0"/>
          </a:p>
        </p:txBody>
      </p:sp>
      <p:sp>
        <p:nvSpPr>
          <p:cNvPr id="7" name="Text 5"/>
          <p:cNvSpPr/>
          <p:nvPr/>
        </p:nvSpPr>
        <p:spPr>
          <a:xfrm>
            <a:off x="438912" y="1426464"/>
            <a:ext cx="1783080" cy="292608"/>
          </a:xfrm>
          <a:prstGeom prst="rect">
            <a:avLst/>
          </a:prstGeom>
          <a:noFill/>
          <a:ln/>
        </p:spPr>
        <p:txBody>
          <a:bodyPr wrap="square" rtlCol="0" anchor="ctr"/>
          <a:lstStyle/>
          <a:p>
            <a:pPr marL="0" indent="0" algn="ctr">
              <a:buNone/>
            </a:pPr>
            <a:r>
              <a:rPr lang="en-US" sz="1300" b="1" dirty="0">
                <a:solidFill>
                  <a:srgbClr val="0A2342"/>
                </a:solidFill>
                <a:latin typeface="Calibri" pitchFamily="34" charset="0"/>
                <a:ea typeface="Calibri" pitchFamily="34" charset="-122"/>
                <a:cs typeface="Calibri" pitchFamily="34" charset="-120"/>
              </a:rPr>
              <a:t>40 nm PSNPs</a:t>
            </a:r>
            <a:endParaRPr lang="en-US" sz="1300" dirty="0"/>
          </a:p>
        </p:txBody>
      </p:sp>
      <p:sp>
        <p:nvSpPr>
          <p:cNvPr id="8" name="Shape 6"/>
          <p:cNvSpPr/>
          <p:nvPr/>
        </p:nvSpPr>
        <p:spPr>
          <a:xfrm>
            <a:off x="576072" y="1755648"/>
            <a:ext cx="1508760" cy="274320"/>
          </a:xfrm>
          <a:prstGeom prst="roundRect">
            <a:avLst>
              <a:gd name="adj" fmla="val 16667"/>
            </a:avLst>
          </a:prstGeom>
          <a:solidFill>
            <a:srgbClr val="2AABCC">
              <a:alpha val="75000"/>
            </a:srgbClr>
          </a:solidFill>
          <a:ln/>
        </p:spPr>
        <p:txBody>
          <a:bodyPr/>
          <a:lstStyle/>
          <a:p>
            <a:endParaRPr lang="sr-Latn-RS"/>
          </a:p>
        </p:txBody>
      </p:sp>
      <p:sp>
        <p:nvSpPr>
          <p:cNvPr id="9" name="Text 7"/>
          <p:cNvSpPr/>
          <p:nvPr/>
        </p:nvSpPr>
        <p:spPr>
          <a:xfrm>
            <a:off x="576072" y="1755648"/>
            <a:ext cx="1508760" cy="274320"/>
          </a:xfrm>
          <a:prstGeom prst="rect">
            <a:avLst/>
          </a:prstGeom>
          <a:noFill/>
          <a:ln/>
        </p:spPr>
        <p:txBody>
          <a:bodyPr wrap="square"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8,458 cells</a:t>
            </a:r>
            <a:endParaRPr lang="en-US" sz="1100" dirty="0"/>
          </a:p>
        </p:txBody>
      </p:sp>
      <p:sp>
        <p:nvSpPr>
          <p:cNvPr id="10" name="Text 8"/>
          <p:cNvSpPr/>
          <p:nvPr/>
        </p:nvSpPr>
        <p:spPr>
          <a:xfrm>
            <a:off x="438912" y="2084832"/>
            <a:ext cx="1783080" cy="658368"/>
          </a:xfrm>
          <a:prstGeom prst="rect">
            <a:avLst/>
          </a:prstGeom>
          <a:noFill/>
          <a:ln/>
        </p:spPr>
        <p:txBody>
          <a:bodyPr wrap="square" rtlCol="0" anchor="t"/>
          <a:lstStyle/>
          <a:p>
            <a:pPr marL="0" indent="0" algn="ctr">
              <a:buNone/>
            </a:pPr>
            <a:r>
              <a:rPr lang="en-US" sz="1050" dirty="0">
                <a:solidFill>
                  <a:srgbClr val="1D6A8B"/>
                </a:solidFill>
                <a:latin typeface="Calibri" pitchFamily="34" charset="0"/>
                <a:ea typeface="Calibri" pitchFamily="34" charset="-122"/>
                <a:cs typeface="Calibri" pitchFamily="34" charset="-120"/>
              </a:rPr>
              <a:t>Small particles</a:t>
            </a:r>
            <a:endParaRPr lang="en-US" sz="1050" dirty="0"/>
          </a:p>
          <a:p>
            <a:pPr marL="0" indent="0" algn="ctr">
              <a:buNone/>
            </a:pPr>
            <a:r>
              <a:rPr lang="en-US" sz="1050" dirty="0">
                <a:solidFill>
                  <a:srgbClr val="1D6A8B"/>
                </a:solidFill>
                <a:latin typeface="Calibri" pitchFamily="34" charset="0"/>
                <a:ea typeface="Calibri" pitchFamily="34" charset="-122"/>
                <a:cs typeface="Calibri" pitchFamily="34" charset="-120"/>
              </a:rPr>
              <a:t>High surface area</a:t>
            </a:r>
            <a:endParaRPr lang="en-US" sz="1050" dirty="0"/>
          </a:p>
          <a:p>
            <a:pPr marL="0" indent="0" algn="ctr">
              <a:buNone/>
            </a:pPr>
            <a:r>
              <a:rPr lang="en-US" sz="1050" dirty="0">
                <a:solidFill>
                  <a:srgbClr val="1D6A8B"/>
                </a:solidFill>
                <a:latin typeface="Calibri" pitchFamily="34" charset="0"/>
                <a:ea typeface="Calibri" pitchFamily="34" charset="-122"/>
                <a:cs typeface="Calibri" pitchFamily="34" charset="-120"/>
              </a:rPr>
              <a:t>Endosomal uptake</a:t>
            </a:r>
            <a:endParaRPr lang="en-US" sz="1050" dirty="0"/>
          </a:p>
        </p:txBody>
      </p:sp>
      <p:sp>
        <p:nvSpPr>
          <p:cNvPr id="11" name="Shape 9"/>
          <p:cNvSpPr/>
          <p:nvPr/>
        </p:nvSpPr>
        <p:spPr>
          <a:xfrm>
            <a:off x="2496312" y="914400"/>
            <a:ext cx="1965960" cy="2423160"/>
          </a:xfrm>
          <a:prstGeom prst="roundRect">
            <a:avLst>
              <a:gd name="adj" fmla="val 4186"/>
            </a:avLst>
          </a:prstGeom>
          <a:solidFill>
            <a:srgbClr val="FFFFFF"/>
          </a:solidFill>
          <a:ln/>
          <a:effectLst>
            <a:outerShdw blurRad="88900" dist="25400" dir="2700000" algn="bl" rotWithShape="0">
              <a:srgbClr val="000000">
                <a:alpha val="10000"/>
              </a:srgbClr>
            </a:outerShdw>
          </a:effectLst>
        </p:spPr>
        <p:txBody>
          <a:bodyPr/>
          <a:lstStyle/>
          <a:p>
            <a:endParaRPr lang="sr-Latn-RS"/>
          </a:p>
        </p:txBody>
      </p:sp>
      <p:sp>
        <p:nvSpPr>
          <p:cNvPr id="12" name="Shape 10"/>
          <p:cNvSpPr/>
          <p:nvPr/>
        </p:nvSpPr>
        <p:spPr>
          <a:xfrm>
            <a:off x="2496312" y="914400"/>
            <a:ext cx="1965960" cy="457200"/>
          </a:xfrm>
          <a:prstGeom prst="roundRect">
            <a:avLst>
              <a:gd name="adj" fmla="val 18000"/>
            </a:avLst>
          </a:prstGeom>
          <a:solidFill>
            <a:srgbClr val="E8A838"/>
          </a:solidFill>
          <a:ln/>
        </p:spPr>
        <p:txBody>
          <a:bodyPr/>
          <a:lstStyle/>
          <a:p>
            <a:endParaRPr lang="sr-Latn-RS"/>
          </a:p>
        </p:txBody>
      </p:sp>
      <p:sp>
        <p:nvSpPr>
          <p:cNvPr id="13" name="Shape 11"/>
          <p:cNvSpPr/>
          <p:nvPr/>
        </p:nvSpPr>
        <p:spPr>
          <a:xfrm>
            <a:off x="2496312" y="1170432"/>
            <a:ext cx="1965960" cy="201168"/>
          </a:xfrm>
          <a:prstGeom prst="rect">
            <a:avLst/>
          </a:prstGeom>
          <a:solidFill>
            <a:srgbClr val="E8A838"/>
          </a:solidFill>
          <a:ln/>
        </p:spPr>
        <p:txBody>
          <a:bodyPr/>
          <a:lstStyle/>
          <a:p>
            <a:endParaRPr lang="sr-Latn-RS"/>
          </a:p>
        </p:txBody>
      </p:sp>
      <p:sp>
        <p:nvSpPr>
          <p:cNvPr id="14" name="Text 12"/>
          <p:cNvSpPr/>
          <p:nvPr/>
        </p:nvSpPr>
        <p:spPr>
          <a:xfrm>
            <a:off x="2496312" y="950976"/>
            <a:ext cx="19659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Sample 2</a:t>
            </a:r>
            <a:endParaRPr lang="en-US" sz="1300" dirty="0"/>
          </a:p>
        </p:txBody>
      </p:sp>
      <p:sp>
        <p:nvSpPr>
          <p:cNvPr id="15" name="Text 13"/>
          <p:cNvSpPr/>
          <p:nvPr/>
        </p:nvSpPr>
        <p:spPr>
          <a:xfrm>
            <a:off x="2587752" y="1426464"/>
            <a:ext cx="1783080" cy="292608"/>
          </a:xfrm>
          <a:prstGeom prst="rect">
            <a:avLst/>
          </a:prstGeom>
          <a:noFill/>
          <a:ln/>
        </p:spPr>
        <p:txBody>
          <a:bodyPr wrap="square" rtlCol="0" anchor="ctr"/>
          <a:lstStyle/>
          <a:p>
            <a:pPr marL="0" indent="0" algn="ctr">
              <a:buNone/>
            </a:pPr>
            <a:r>
              <a:rPr lang="en-US" sz="1300" b="1" dirty="0">
                <a:solidFill>
                  <a:srgbClr val="0A2342"/>
                </a:solidFill>
                <a:latin typeface="Calibri" pitchFamily="34" charset="0"/>
                <a:ea typeface="Calibri" pitchFamily="34" charset="-122"/>
                <a:cs typeface="Calibri" pitchFamily="34" charset="-120"/>
              </a:rPr>
              <a:t>200 nm PSNPs</a:t>
            </a:r>
            <a:endParaRPr lang="en-US" sz="1300" dirty="0"/>
          </a:p>
        </p:txBody>
      </p:sp>
      <p:sp>
        <p:nvSpPr>
          <p:cNvPr id="16" name="Shape 14"/>
          <p:cNvSpPr/>
          <p:nvPr/>
        </p:nvSpPr>
        <p:spPr>
          <a:xfrm>
            <a:off x="2724912" y="1755648"/>
            <a:ext cx="1508760" cy="274320"/>
          </a:xfrm>
          <a:prstGeom prst="roundRect">
            <a:avLst>
              <a:gd name="adj" fmla="val 16667"/>
            </a:avLst>
          </a:prstGeom>
          <a:solidFill>
            <a:srgbClr val="E8A838">
              <a:alpha val="75000"/>
            </a:srgbClr>
          </a:solidFill>
          <a:ln/>
        </p:spPr>
        <p:txBody>
          <a:bodyPr/>
          <a:lstStyle/>
          <a:p>
            <a:endParaRPr lang="sr-Latn-RS"/>
          </a:p>
        </p:txBody>
      </p:sp>
      <p:sp>
        <p:nvSpPr>
          <p:cNvPr id="17" name="Text 15"/>
          <p:cNvSpPr/>
          <p:nvPr/>
        </p:nvSpPr>
        <p:spPr>
          <a:xfrm>
            <a:off x="2724912" y="1755648"/>
            <a:ext cx="1508760" cy="274320"/>
          </a:xfrm>
          <a:prstGeom prst="rect">
            <a:avLst/>
          </a:prstGeom>
          <a:noFill/>
          <a:ln/>
        </p:spPr>
        <p:txBody>
          <a:bodyPr wrap="square"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12,421 cells</a:t>
            </a:r>
            <a:endParaRPr lang="en-US" sz="1100" dirty="0"/>
          </a:p>
        </p:txBody>
      </p:sp>
      <p:sp>
        <p:nvSpPr>
          <p:cNvPr id="18" name="Text 16"/>
          <p:cNvSpPr/>
          <p:nvPr/>
        </p:nvSpPr>
        <p:spPr>
          <a:xfrm>
            <a:off x="2587752" y="2084832"/>
            <a:ext cx="1783080" cy="658368"/>
          </a:xfrm>
          <a:prstGeom prst="rect">
            <a:avLst/>
          </a:prstGeom>
          <a:noFill/>
          <a:ln/>
        </p:spPr>
        <p:txBody>
          <a:bodyPr wrap="square" rtlCol="0" anchor="t"/>
          <a:lstStyle/>
          <a:p>
            <a:pPr marL="0" indent="0" algn="ctr">
              <a:buNone/>
            </a:pPr>
            <a:r>
              <a:rPr lang="en-US" sz="1050" dirty="0">
                <a:solidFill>
                  <a:srgbClr val="1D6A8B"/>
                </a:solidFill>
                <a:latin typeface="Calibri" pitchFamily="34" charset="0"/>
                <a:ea typeface="Calibri" pitchFamily="34" charset="-122"/>
                <a:cs typeface="Calibri" pitchFamily="34" charset="-120"/>
              </a:rPr>
              <a:t>Larger particles</a:t>
            </a:r>
            <a:endParaRPr lang="en-US" sz="1050" dirty="0"/>
          </a:p>
          <a:p>
            <a:pPr marL="0" indent="0" algn="ctr">
              <a:buNone/>
            </a:pPr>
            <a:r>
              <a:rPr lang="en-US" sz="1050" dirty="0">
                <a:solidFill>
                  <a:srgbClr val="1D6A8B"/>
                </a:solidFill>
                <a:latin typeface="Calibri" pitchFamily="34" charset="0"/>
                <a:ea typeface="Calibri" pitchFamily="34" charset="-122"/>
                <a:cs typeface="Calibri" pitchFamily="34" charset="-120"/>
              </a:rPr>
              <a:t>Different uptake</a:t>
            </a:r>
            <a:endParaRPr lang="en-US" sz="1050" dirty="0"/>
          </a:p>
          <a:p>
            <a:pPr marL="0" indent="0" algn="ctr">
              <a:buNone/>
            </a:pPr>
            <a:r>
              <a:rPr lang="en-US" sz="1050" dirty="0">
                <a:solidFill>
                  <a:srgbClr val="1D6A8B"/>
                </a:solidFill>
                <a:latin typeface="Calibri" pitchFamily="34" charset="0"/>
                <a:ea typeface="Calibri" pitchFamily="34" charset="-122"/>
                <a:cs typeface="Calibri" pitchFamily="34" charset="-120"/>
              </a:rPr>
              <a:t>Classic phagocytosis</a:t>
            </a:r>
            <a:endParaRPr lang="en-US" sz="1050" dirty="0"/>
          </a:p>
        </p:txBody>
      </p:sp>
      <p:sp>
        <p:nvSpPr>
          <p:cNvPr id="19" name="Shape 17"/>
          <p:cNvSpPr/>
          <p:nvPr/>
        </p:nvSpPr>
        <p:spPr>
          <a:xfrm>
            <a:off x="4645152" y="914400"/>
            <a:ext cx="1965960" cy="2423160"/>
          </a:xfrm>
          <a:prstGeom prst="roundRect">
            <a:avLst>
              <a:gd name="adj" fmla="val 4186"/>
            </a:avLst>
          </a:prstGeom>
          <a:solidFill>
            <a:srgbClr val="FFFFFF"/>
          </a:solidFill>
          <a:ln/>
          <a:effectLst>
            <a:outerShdw blurRad="88900" dist="25400" dir="2700000" algn="bl" rotWithShape="0">
              <a:srgbClr val="000000">
                <a:alpha val="10000"/>
              </a:srgbClr>
            </a:outerShdw>
          </a:effectLst>
        </p:spPr>
        <p:txBody>
          <a:bodyPr/>
          <a:lstStyle/>
          <a:p>
            <a:endParaRPr lang="sr-Latn-RS"/>
          </a:p>
        </p:txBody>
      </p:sp>
      <p:sp>
        <p:nvSpPr>
          <p:cNvPr id="20" name="Shape 18"/>
          <p:cNvSpPr/>
          <p:nvPr/>
        </p:nvSpPr>
        <p:spPr>
          <a:xfrm>
            <a:off x="4645152" y="914400"/>
            <a:ext cx="1965960" cy="457200"/>
          </a:xfrm>
          <a:prstGeom prst="roundRect">
            <a:avLst>
              <a:gd name="adj" fmla="val 18000"/>
            </a:avLst>
          </a:prstGeom>
          <a:solidFill>
            <a:srgbClr val="E05C4B"/>
          </a:solidFill>
          <a:ln/>
        </p:spPr>
        <p:txBody>
          <a:bodyPr/>
          <a:lstStyle/>
          <a:p>
            <a:endParaRPr lang="sr-Latn-RS"/>
          </a:p>
        </p:txBody>
      </p:sp>
      <p:sp>
        <p:nvSpPr>
          <p:cNvPr id="21" name="Shape 19"/>
          <p:cNvSpPr/>
          <p:nvPr/>
        </p:nvSpPr>
        <p:spPr>
          <a:xfrm>
            <a:off x="4645152" y="1170432"/>
            <a:ext cx="1965960" cy="201168"/>
          </a:xfrm>
          <a:prstGeom prst="rect">
            <a:avLst/>
          </a:prstGeom>
          <a:solidFill>
            <a:srgbClr val="E05C4B"/>
          </a:solidFill>
          <a:ln/>
        </p:spPr>
        <p:txBody>
          <a:bodyPr/>
          <a:lstStyle/>
          <a:p>
            <a:endParaRPr lang="sr-Latn-RS"/>
          </a:p>
        </p:txBody>
      </p:sp>
      <p:sp>
        <p:nvSpPr>
          <p:cNvPr id="22" name="Text 20"/>
          <p:cNvSpPr/>
          <p:nvPr/>
        </p:nvSpPr>
        <p:spPr>
          <a:xfrm>
            <a:off x="4645152" y="950976"/>
            <a:ext cx="19659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Sample 3</a:t>
            </a:r>
            <a:endParaRPr lang="en-US" sz="1300" dirty="0"/>
          </a:p>
        </p:txBody>
      </p:sp>
      <p:sp>
        <p:nvSpPr>
          <p:cNvPr id="23" name="Text 21"/>
          <p:cNvSpPr/>
          <p:nvPr/>
        </p:nvSpPr>
        <p:spPr>
          <a:xfrm>
            <a:off x="4736592" y="1426464"/>
            <a:ext cx="1783080" cy="292608"/>
          </a:xfrm>
          <a:prstGeom prst="rect">
            <a:avLst/>
          </a:prstGeom>
          <a:noFill/>
          <a:ln/>
        </p:spPr>
        <p:txBody>
          <a:bodyPr wrap="square" rtlCol="0" anchor="ctr"/>
          <a:lstStyle/>
          <a:p>
            <a:pPr marL="0" indent="0" algn="ctr">
              <a:buNone/>
            </a:pPr>
            <a:r>
              <a:rPr lang="en-US" sz="1300" b="1" dirty="0">
                <a:solidFill>
                  <a:srgbClr val="0A2342"/>
                </a:solidFill>
                <a:latin typeface="Calibri" pitchFamily="34" charset="0"/>
                <a:ea typeface="Calibri" pitchFamily="34" charset="-122"/>
                <a:cs typeface="Calibri" pitchFamily="34" charset="-120"/>
              </a:rPr>
              <a:t>40 + 200 nm Mix</a:t>
            </a:r>
            <a:endParaRPr lang="en-US" sz="1300" dirty="0"/>
          </a:p>
        </p:txBody>
      </p:sp>
      <p:sp>
        <p:nvSpPr>
          <p:cNvPr id="24" name="Shape 22"/>
          <p:cNvSpPr/>
          <p:nvPr/>
        </p:nvSpPr>
        <p:spPr>
          <a:xfrm>
            <a:off x="4873752" y="1755648"/>
            <a:ext cx="1508760" cy="274320"/>
          </a:xfrm>
          <a:prstGeom prst="roundRect">
            <a:avLst>
              <a:gd name="adj" fmla="val 16667"/>
            </a:avLst>
          </a:prstGeom>
          <a:solidFill>
            <a:srgbClr val="E05C4B">
              <a:alpha val="75000"/>
            </a:srgbClr>
          </a:solidFill>
          <a:ln/>
        </p:spPr>
        <p:txBody>
          <a:bodyPr/>
          <a:lstStyle/>
          <a:p>
            <a:endParaRPr lang="sr-Latn-RS"/>
          </a:p>
        </p:txBody>
      </p:sp>
      <p:sp>
        <p:nvSpPr>
          <p:cNvPr id="25" name="Text 23"/>
          <p:cNvSpPr/>
          <p:nvPr/>
        </p:nvSpPr>
        <p:spPr>
          <a:xfrm>
            <a:off x="4873752" y="1755648"/>
            <a:ext cx="1508760" cy="274320"/>
          </a:xfrm>
          <a:prstGeom prst="rect">
            <a:avLst/>
          </a:prstGeom>
          <a:noFill/>
          <a:ln/>
        </p:spPr>
        <p:txBody>
          <a:bodyPr wrap="square"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6,005 cells</a:t>
            </a:r>
            <a:endParaRPr lang="en-US" sz="1100" dirty="0"/>
          </a:p>
        </p:txBody>
      </p:sp>
      <p:sp>
        <p:nvSpPr>
          <p:cNvPr id="26" name="Text 24"/>
          <p:cNvSpPr/>
          <p:nvPr/>
        </p:nvSpPr>
        <p:spPr>
          <a:xfrm>
            <a:off x="4736592" y="2084832"/>
            <a:ext cx="1783080" cy="658368"/>
          </a:xfrm>
          <a:prstGeom prst="rect">
            <a:avLst/>
          </a:prstGeom>
          <a:noFill/>
          <a:ln/>
        </p:spPr>
        <p:txBody>
          <a:bodyPr wrap="square" rtlCol="0" anchor="t"/>
          <a:lstStyle/>
          <a:p>
            <a:pPr marL="0" indent="0" algn="ctr">
              <a:buNone/>
            </a:pPr>
            <a:r>
              <a:rPr lang="en-US" sz="1050" dirty="0">
                <a:solidFill>
                  <a:srgbClr val="1D6A8B"/>
                </a:solidFill>
                <a:latin typeface="Calibri" pitchFamily="34" charset="0"/>
                <a:ea typeface="Calibri" pitchFamily="34" charset="-122"/>
                <a:cs typeface="Calibri" pitchFamily="34" charset="-120"/>
              </a:rPr>
              <a:t>Combined exposure</a:t>
            </a:r>
            <a:endParaRPr lang="en-US" sz="1050" dirty="0"/>
          </a:p>
          <a:p>
            <a:pPr marL="0" indent="0" algn="ctr">
              <a:buNone/>
            </a:pPr>
            <a:r>
              <a:rPr lang="en-US" sz="1050" dirty="0">
                <a:solidFill>
                  <a:srgbClr val="1D6A8B"/>
                </a:solidFill>
                <a:latin typeface="Calibri" pitchFamily="34" charset="0"/>
                <a:ea typeface="Calibri" pitchFamily="34" charset="-122"/>
                <a:cs typeface="Calibri" pitchFamily="34" charset="-120"/>
              </a:rPr>
              <a:t>Tests synergistic</a:t>
            </a:r>
            <a:endParaRPr lang="en-US" sz="1050" dirty="0"/>
          </a:p>
          <a:p>
            <a:pPr marL="0" indent="0" algn="ctr">
              <a:buNone/>
            </a:pPr>
            <a:r>
              <a:rPr lang="en-US" sz="1050" dirty="0">
                <a:solidFill>
                  <a:srgbClr val="1D6A8B"/>
                </a:solidFill>
                <a:latin typeface="Calibri" pitchFamily="34" charset="0"/>
                <a:ea typeface="Calibri" pitchFamily="34" charset="-122"/>
                <a:cs typeface="Calibri" pitchFamily="34" charset="-120"/>
              </a:rPr>
              <a:t>or emergent effects</a:t>
            </a:r>
            <a:endParaRPr lang="en-US" sz="1050" dirty="0"/>
          </a:p>
        </p:txBody>
      </p:sp>
      <p:sp>
        <p:nvSpPr>
          <p:cNvPr id="27" name="Shape 25"/>
          <p:cNvSpPr/>
          <p:nvPr/>
        </p:nvSpPr>
        <p:spPr>
          <a:xfrm>
            <a:off x="6793992" y="914400"/>
            <a:ext cx="1965960" cy="2423160"/>
          </a:xfrm>
          <a:prstGeom prst="roundRect">
            <a:avLst>
              <a:gd name="adj" fmla="val 4186"/>
            </a:avLst>
          </a:prstGeom>
          <a:solidFill>
            <a:srgbClr val="FFFFFF"/>
          </a:solidFill>
          <a:ln/>
          <a:effectLst>
            <a:outerShdw blurRad="88900" dist="25400" dir="2700000" algn="bl" rotWithShape="0">
              <a:srgbClr val="000000">
                <a:alpha val="10000"/>
              </a:srgbClr>
            </a:outerShdw>
          </a:effectLst>
        </p:spPr>
        <p:txBody>
          <a:bodyPr/>
          <a:lstStyle/>
          <a:p>
            <a:endParaRPr lang="sr-Latn-RS"/>
          </a:p>
        </p:txBody>
      </p:sp>
      <p:sp>
        <p:nvSpPr>
          <p:cNvPr id="28" name="Shape 26"/>
          <p:cNvSpPr/>
          <p:nvPr/>
        </p:nvSpPr>
        <p:spPr>
          <a:xfrm>
            <a:off x="6793992" y="914400"/>
            <a:ext cx="1965960" cy="457200"/>
          </a:xfrm>
          <a:prstGeom prst="roundRect">
            <a:avLst>
              <a:gd name="adj" fmla="val 18000"/>
            </a:avLst>
          </a:prstGeom>
          <a:solidFill>
            <a:srgbClr val="2E8B57"/>
          </a:solidFill>
          <a:ln/>
        </p:spPr>
        <p:txBody>
          <a:bodyPr/>
          <a:lstStyle/>
          <a:p>
            <a:endParaRPr lang="sr-Latn-RS"/>
          </a:p>
        </p:txBody>
      </p:sp>
      <p:sp>
        <p:nvSpPr>
          <p:cNvPr id="29" name="Shape 27"/>
          <p:cNvSpPr/>
          <p:nvPr/>
        </p:nvSpPr>
        <p:spPr>
          <a:xfrm>
            <a:off x="6793992" y="1170432"/>
            <a:ext cx="1965960" cy="201168"/>
          </a:xfrm>
          <a:prstGeom prst="rect">
            <a:avLst/>
          </a:prstGeom>
          <a:solidFill>
            <a:srgbClr val="2E8B57"/>
          </a:solidFill>
          <a:ln/>
        </p:spPr>
        <p:txBody>
          <a:bodyPr/>
          <a:lstStyle/>
          <a:p>
            <a:endParaRPr lang="sr-Latn-RS"/>
          </a:p>
        </p:txBody>
      </p:sp>
      <p:sp>
        <p:nvSpPr>
          <p:cNvPr id="30" name="Text 28"/>
          <p:cNvSpPr/>
          <p:nvPr/>
        </p:nvSpPr>
        <p:spPr>
          <a:xfrm>
            <a:off x="6793992" y="950976"/>
            <a:ext cx="19659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Sample 4</a:t>
            </a:r>
            <a:endParaRPr lang="en-US" sz="1300" dirty="0"/>
          </a:p>
        </p:txBody>
      </p:sp>
      <p:sp>
        <p:nvSpPr>
          <p:cNvPr id="31" name="Text 29"/>
          <p:cNvSpPr/>
          <p:nvPr/>
        </p:nvSpPr>
        <p:spPr>
          <a:xfrm>
            <a:off x="6885432" y="1426464"/>
            <a:ext cx="1783080" cy="292608"/>
          </a:xfrm>
          <a:prstGeom prst="rect">
            <a:avLst/>
          </a:prstGeom>
          <a:noFill/>
          <a:ln/>
        </p:spPr>
        <p:txBody>
          <a:bodyPr wrap="square" rtlCol="0" anchor="ctr"/>
          <a:lstStyle/>
          <a:p>
            <a:pPr marL="0" indent="0" algn="ctr">
              <a:buNone/>
            </a:pPr>
            <a:r>
              <a:rPr lang="en-US" sz="1300" b="1" dirty="0">
                <a:solidFill>
                  <a:srgbClr val="0A2342"/>
                </a:solidFill>
                <a:latin typeface="Calibri" pitchFamily="34" charset="0"/>
                <a:ea typeface="Calibri" pitchFamily="34" charset="-122"/>
                <a:cs typeface="Calibri" pitchFamily="34" charset="-120"/>
              </a:rPr>
              <a:t>Control</a:t>
            </a:r>
            <a:endParaRPr lang="en-US" sz="1300" dirty="0"/>
          </a:p>
        </p:txBody>
      </p:sp>
      <p:sp>
        <p:nvSpPr>
          <p:cNvPr id="32" name="Shape 30"/>
          <p:cNvSpPr/>
          <p:nvPr/>
        </p:nvSpPr>
        <p:spPr>
          <a:xfrm>
            <a:off x="7022592" y="1755648"/>
            <a:ext cx="1508760" cy="274320"/>
          </a:xfrm>
          <a:prstGeom prst="roundRect">
            <a:avLst>
              <a:gd name="adj" fmla="val 16667"/>
            </a:avLst>
          </a:prstGeom>
          <a:solidFill>
            <a:srgbClr val="2E8B57">
              <a:alpha val="75000"/>
            </a:srgbClr>
          </a:solidFill>
          <a:ln/>
        </p:spPr>
        <p:txBody>
          <a:bodyPr/>
          <a:lstStyle/>
          <a:p>
            <a:endParaRPr lang="sr-Latn-RS"/>
          </a:p>
        </p:txBody>
      </p:sp>
      <p:sp>
        <p:nvSpPr>
          <p:cNvPr id="33" name="Text 31"/>
          <p:cNvSpPr/>
          <p:nvPr/>
        </p:nvSpPr>
        <p:spPr>
          <a:xfrm>
            <a:off x="7022592" y="1755648"/>
            <a:ext cx="1508760" cy="274320"/>
          </a:xfrm>
          <a:prstGeom prst="rect">
            <a:avLst/>
          </a:prstGeom>
          <a:noFill/>
          <a:ln/>
        </p:spPr>
        <p:txBody>
          <a:bodyPr wrap="square"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6,356 cells</a:t>
            </a:r>
            <a:endParaRPr lang="en-US" sz="1100" dirty="0"/>
          </a:p>
        </p:txBody>
      </p:sp>
      <p:sp>
        <p:nvSpPr>
          <p:cNvPr id="34" name="Text 32"/>
          <p:cNvSpPr/>
          <p:nvPr/>
        </p:nvSpPr>
        <p:spPr>
          <a:xfrm>
            <a:off x="6885432" y="2084832"/>
            <a:ext cx="1783080" cy="658368"/>
          </a:xfrm>
          <a:prstGeom prst="rect">
            <a:avLst/>
          </a:prstGeom>
          <a:noFill/>
          <a:ln/>
        </p:spPr>
        <p:txBody>
          <a:bodyPr wrap="square" rtlCol="0" anchor="t"/>
          <a:lstStyle/>
          <a:p>
            <a:pPr marL="0" indent="0" algn="ctr">
              <a:buNone/>
            </a:pPr>
            <a:r>
              <a:rPr lang="en-US" sz="1050" dirty="0">
                <a:solidFill>
                  <a:srgbClr val="1D6A8B"/>
                </a:solidFill>
                <a:latin typeface="Calibri" pitchFamily="34" charset="0"/>
                <a:ea typeface="Calibri" pitchFamily="34" charset="-122"/>
                <a:cs typeface="Calibri" pitchFamily="34" charset="-120"/>
              </a:rPr>
              <a:t>No nanoparticles</a:t>
            </a:r>
            <a:endParaRPr lang="en-US" sz="1050" dirty="0"/>
          </a:p>
          <a:p>
            <a:pPr marL="0" indent="0" algn="ctr">
              <a:buNone/>
            </a:pPr>
            <a:r>
              <a:rPr lang="en-US" sz="1050" dirty="0">
                <a:solidFill>
                  <a:srgbClr val="1D6A8B"/>
                </a:solidFill>
                <a:latin typeface="Calibri" pitchFamily="34" charset="0"/>
                <a:ea typeface="Calibri" pitchFamily="34" charset="-122"/>
                <a:cs typeface="Calibri" pitchFamily="34" charset="-120"/>
              </a:rPr>
              <a:t>Baseline reference</a:t>
            </a:r>
            <a:endParaRPr lang="en-US" sz="1050" dirty="0"/>
          </a:p>
          <a:p>
            <a:pPr marL="0" indent="0" algn="ctr">
              <a:buNone/>
            </a:pPr>
            <a:r>
              <a:rPr lang="en-US" sz="1050" dirty="0">
                <a:solidFill>
                  <a:srgbClr val="1D6A8B"/>
                </a:solidFill>
                <a:latin typeface="Calibri" pitchFamily="34" charset="0"/>
                <a:ea typeface="Calibri" pitchFamily="34" charset="-122"/>
                <a:cs typeface="Calibri" pitchFamily="34" charset="-120"/>
              </a:rPr>
              <a:t>Same donor</a:t>
            </a:r>
            <a:endParaRPr lang="en-US" sz="1050" dirty="0"/>
          </a:p>
        </p:txBody>
      </p:sp>
      <p:sp>
        <p:nvSpPr>
          <p:cNvPr id="35" name="Shape 33"/>
          <p:cNvSpPr/>
          <p:nvPr/>
        </p:nvSpPr>
        <p:spPr>
          <a:xfrm>
            <a:off x="347472" y="3456432"/>
            <a:ext cx="8449056" cy="658368"/>
          </a:xfrm>
          <a:prstGeom prst="roundRect">
            <a:avLst>
              <a:gd name="adj" fmla="val 11111"/>
            </a:avLst>
          </a:prstGeom>
          <a:solidFill>
            <a:srgbClr val="FFFFFF"/>
          </a:solidFill>
          <a:ln/>
          <a:effectLst>
            <a:outerShdw blurRad="63500" dist="12700" dir="2700000" algn="bl" rotWithShape="0">
              <a:srgbClr val="000000">
                <a:alpha val="8000"/>
              </a:srgbClr>
            </a:outerShdw>
          </a:effectLst>
        </p:spPr>
        <p:txBody>
          <a:bodyPr/>
          <a:lstStyle/>
          <a:p>
            <a:endParaRPr lang="sr-Latn-RS"/>
          </a:p>
        </p:txBody>
      </p:sp>
      <p:sp>
        <p:nvSpPr>
          <p:cNvPr id="36" name="Text 34"/>
          <p:cNvSpPr/>
          <p:nvPr/>
        </p:nvSpPr>
        <p:spPr>
          <a:xfrm>
            <a:off x="548640" y="3520440"/>
            <a:ext cx="1920240" cy="228600"/>
          </a:xfrm>
          <a:prstGeom prst="rect">
            <a:avLst/>
          </a:prstGeom>
          <a:noFill/>
          <a:ln/>
        </p:spPr>
        <p:txBody>
          <a:bodyPr wrap="square" rtlCol="0" anchor="ctr"/>
          <a:lstStyle/>
          <a:p>
            <a:pPr marL="0" indent="0">
              <a:buNone/>
            </a:pPr>
            <a:r>
              <a:rPr lang="en-US" sz="1100" b="1" dirty="0">
                <a:solidFill>
                  <a:srgbClr val="1D6A8B"/>
                </a:solidFill>
                <a:latin typeface="Calibri" pitchFamily="34" charset="0"/>
                <a:ea typeface="Calibri" pitchFamily="34" charset="-122"/>
                <a:cs typeface="Calibri" pitchFamily="34" charset="-120"/>
              </a:rPr>
              <a:t>🧪  Material</a:t>
            </a:r>
            <a:endParaRPr lang="en-US" sz="1100" dirty="0"/>
          </a:p>
        </p:txBody>
      </p:sp>
      <p:sp>
        <p:nvSpPr>
          <p:cNvPr id="37" name="Text 35"/>
          <p:cNvSpPr/>
          <p:nvPr/>
        </p:nvSpPr>
        <p:spPr>
          <a:xfrm>
            <a:off x="548640" y="3749040"/>
            <a:ext cx="1920240" cy="256032"/>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Carboxylated PSNPs</a:t>
            </a:r>
            <a:endParaRPr lang="en-US" sz="1150" dirty="0"/>
          </a:p>
        </p:txBody>
      </p:sp>
      <p:sp>
        <p:nvSpPr>
          <p:cNvPr id="38" name="Text 36"/>
          <p:cNvSpPr/>
          <p:nvPr/>
        </p:nvSpPr>
        <p:spPr>
          <a:xfrm>
            <a:off x="2697480" y="3520440"/>
            <a:ext cx="1920240" cy="228600"/>
          </a:xfrm>
          <a:prstGeom prst="rect">
            <a:avLst/>
          </a:prstGeom>
          <a:noFill/>
          <a:ln/>
        </p:spPr>
        <p:txBody>
          <a:bodyPr wrap="square" rtlCol="0" anchor="ctr"/>
          <a:lstStyle/>
          <a:p>
            <a:pPr marL="0" indent="0">
              <a:buNone/>
            </a:pPr>
            <a:r>
              <a:rPr lang="en-US" sz="1100" b="1" dirty="0">
                <a:solidFill>
                  <a:srgbClr val="1D6A8B"/>
                </a:solidFill>
                <a:latin typeface="Calibri" pitchFamily="34" charset="0"/>
                <a:ea typeface="Calibri" pitchFamily="34" charset="-122"/>
                <a:cs typeface="Calibri" pitchFamily="34" charset="-120"/>
              </a:rPr>
              <a:t>🩸  Cell type</a:t>
            </a:r>
            <a:endParaRPr lang="en-US" sz="1100" dirty="0"/>
          </a:p>
        </p:txBody>
      </p:sp>
      <p:sp>
        <p:nvSpPr>
          <p:cNvPr id="39" name="Text 37"/>
          <p:cNvSpPr/>
          <p:nvPr/>
        </p:nvSpPr>
        <p:spPr>
          <a:xfrm>
            <a:off x="2697480" y="3749040"/>
            <a:ext cx="1920240" cy="256032"/>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Human PBMC · 1 donor</a:t>
            </a:r>
            <a:endParaRPr lang="en-US" sz="1150" dirty="0"/>
          </a:p>
        </p:txBody>
      </p:sp>
      <p:sp>
        <p:nvSpPr>
          <p:cNvPr id="40" name="Text 38"/>
          <p:cNvSpPr/>
          <p:nvPr/>
        </p:nvSpPr>
        <p:spPr>
          <a:xfrm>
            <a:off x="4846320" y="3520440"/>
            <a:ext cx="1920240" cy="228600"/>
          </a:xfrm>
          <a:prstGeom prst="rect">
            <a:avLst/>
          </a:prstGeom>
          <a:noFill/>
          <a:ln/>
        </p:spPr>
        <p:txBody>
          <a:bodyPr wrap="square" rtlCol="0" anchor="ctr"/>
          <a:lstStyle/>
          <a:p>
            <a:pPr marL="0" indent="0">
              <a:buNone/>
            </a:pPr>
            <a:r>
              <a:rPr lang="en-US" sz="1100" b="1" dirty="0">
                <a:solidFill>
                  <a:srgbClr val="1D6A8B"/>
                </a:solidFill>
                <a:latin typeface="Calibri" pitchFamily="34" charset="0"/>
                <a:ea typeface="Calibri" pitchFamily="34" charset="-122"/>
                <a:cs typeface="Calibri" pitchFamily="34" charset="-120"/>
              </a:rPr>
              <a:t>🔬  Technology</a:t>
            </a:r>
            <a:endParaRPr lang="en-US" sz="1100" dirty="0"/>
          </a:p>
        </p:txBody>
      </p:sp>
      <p:sp>
        <p:nvSpPr>
          <p:cNvPr id="41" name="Text 39"/>
          <p:cNvSpPr/>
          <p:nvPr/>
        </p:nvSpPr>
        <p:spPr>
          <a:xfrm>
            <a:off x="4846320" y="3749040"/>
            <a:ext cx="1920240" cy="256032"/>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10x Genomics scRNA-seq</a:t>
            </a:r>
            <a:endParaRPr lang="en-US" sz="1150" dirty="0"/>
          </a:p>
        </p:txBody>
      </p:sp>
      <p:sp>
        <p:nvSpPr>
          <p:cNvPr id="42" name="Text 40"/>
          <p:cNvSpPr/>
          <p:nvPr/>
        </p:nvSpPr>
        <p:spPr>
          <a:xfrm>
            <a:off x="6995160" y="3520440"/>
            <a:ext cx="1920240" cy="228600"/>
          </a:xfrm>
          <a:prstGeom prst="rect">
            <a:avLst/>
          </a:prstGeom>
          <a:noFill/>
          <a:ln/>
        </p:spPr>
        <p:txBody>
          <a:bodyPr wrap="square" rtlCol="0" anchor="ctr"/>
          <a:lstStyle/>
          <a:p>
            <a:pPr marL="0" indent="0">
              <a:buNone/>
            </a:pPr>
            <a:r>
              <a:rPr lang="en-US" sz="1100" b="1" dirty="0">
                <a:solidFill>
                  <a:srgbClr val="1D6A8B"/>
                </a:solidFill>
                <a:latin typeface="Calibri" pitchFamily="34" charset="0"/>
                <a:ea typeface="Calibri" pitchFamily="34" charset="-122"/>
                <a:cs typeface="Calibri" pitchFamily="34" charset="-120"/>
              </a:rPr>
              <a:t>🗄️  Total cells</a:t>
            </a:r>
            <a:endParaRPr lang="en-US" sz="1100" dirty="0"/>
          </a:p>
        </p:txBody>
      </p:sp>
      <p:sp>
        <p:nvSpPr>
          <p:cNvPr id="43" name="Text 41"/>
          <p:cNvSpPr/>
          <p:nvPr/>
        </p:nvSpPr>
        <p:spPr>
          <a:xfrm>
            <a:off x="6995160" y="3749040"/>
            <a:ext cx="1920240" cy="256032"/>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33,240 × 20,388 genes</a:t>
            </a:r>
            <a:endParaRPr lang="en-US" sz="1150" dirty="0"/>
          </a:p>
        </p:txBody>
      </p:sp>
      <p:sp>
        <p:nvSpPr>
          <p:cNvPr id="44" name="Shape 42"/>
          <p:cNvSpPr/>
          <p:nvPr/>
        </p:nvSpPr>
        <p:spPr>
          <a:xfrm>
            <a:off x="347472" y="4206240"/>
            <a:ext cx="8449056" cy="566928"/>
          </a:xfrm>
          <a:prstGeom prst="roundRect">
            <a:avLst>
              <a:gd name="adj" fmla="val 11290"/>
            </a:avLst>
          </a:prstGeom>
          <a:solidFill>
            <a:srgbClr val="0A2342"/>
          </a:solidFill>
          <a:ln/>
        </p:spPr>
        <p:txBody>
          <a:bodyPr/>
          <a:lstStyle/>
          <a:p>
            <a:endParaRPr lang="sr-Latn-RS"/>
          </a:p>
        </p:txBody>
      </p:sp>
      <p:sp>
        <p:nvSpPr>
          <p:cNvPr id="45" name="Text 43"/>
          <p:cNvSpPr/>
          <p:nvPr/>
        </p:nvSpPr>
        <p:spPr>
          <a:xfrm>
            <a:off x="502920" y="4206240"/>
            <a:ext cx="8229600" cy="566928"/>
          </a:xfrm>
          <a:prstGeom prst="rect">
            <a:avLst/>
          </a:prstGeom>
          <a:noFill/>
          <a:ln/>
        </p:spPr>
        <p:txBody>
          <a:bodyPr wrap="square" rtlCol="0" anchor="ctr"/>
          <a:lstStyle/>
          <a:p>
            <a:pPr marL="0" indent="0">
              <a:buNone/>
            </a:pPr>
            <a:r>
              <a:rPr lang="en-US" sz="1200" i="1" dirty="0">
                <a:solidFill>
                  <a:srgbClr val="D6EEF5"/>
                </a:solidFill>
                <a:latin typeface="Calibri" pitchFamily="34" charset="0"/>
                <a:ea typeface="Calibri" pitchFamily="34" charset="-122"/>
                <a:cs typeface="Calibri" pitchFamily="34" charset="-120"/>
              </a:rPr>
              <a:t>⚠  Limitations: single donor · in vitro exposure · RNA only (no protein) · no spatial context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34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Analysis Pipeline</a:t>
            </a:r>
            <a:endParaRPr lang="en-US" sz="3600" dirty="0"/>
          </a:p>
        </p:txBody>
      </p:sp>
      <p:sp>
        <p:nvSpPr>
          <p:cNvPr id="3" name="Shape 1"/>
          <p:cNvSpPr/>
          <p:nvPr/>
        </p:nvSpPr>
        <p:spPr>
          <a:xfrm>
            <a:off x="365760" y="914400"/>
            <a:ext cx="4160520" cy="804672"/>
          </a:xfrm>
          <a:prstGeom prst="roundRect">
            <a:avLst>
              <a:gd name="adj" fmla="val 7955"/>
            </a:avLst>
          </a:prstGeom>
          <a:solidFill>
            <a:srgbClr val="1D6A8B">
              <a:alpha val="85000"/>
            </a:srgbClr>
          </a:solidFill>
          <a:ln/>
          <a:effectLst>
            <a:outerShdw blurRad="76200" dist="25400" dir="2700000" algn="bl" rotWithShape="0">
              <a:srgbClr val="000000">
                <a:alpha val="20000"/>
              </a:srgbClr>
            </a:outerShdw>
          </a:effectLst>
        </p:spPr>
        <p:txBody>
          <a:bodyPr/>
          <a:lstStyle/>
          <a:p>
            <a:endParaRPr lang="sr-Latn-RS"/>
          </a:p>
        </p:txBody>
      </p:sp>
      <p:sp>
        <p:nvSpPr>
          <p:cNvPr id="4" name="Shape 2"/>
          <p:cNvSpPr/>
          <p:nvPr/>
        </p:nvSpPr>
        <p:spPr>
          <a:xfrm>
            <a:off x="438912" y="1097280"/>
            <a:ext cx="411480" cy="411480"/>
          </a:xfrm>
          <a:prstGeom prst="ellipse">
            <a:avLst/>
          </a:prstGeom>
          <a:solidFill>
            <a:srgbClr val="2AABCC"/>
          </a:solidFill>
          <a:ln/>
        </p:spPr>
        <p:txBody>
          <a:bodyPr/>
          <a:lstStyle/>
          <a:p>
            <a:endParaRPr lang="sr-Latn-RS"/>
          </a:p>
        </p:txBody>
      </p:sp>
      <p:sp>
        <p:nvSpPr>
          <p:cNvPr id="5" name="Text 3"/>
          <p:cNvSpPr/>
          <p:nvPr/>
        </p:nvSpPr>
        <p:spPr>
          <a:xfrm>
            <a:off x="438912" y="1097280"/>
            <a:ext cx="411480" cy="411480"/>
          </a:xfrm>
          <a:prstGeom prst="rect">
            <a:avLst/>
          </a:prstGeom>
          <a:noFill/>
          <a:ln/>
        </p:spPr>
        <p:txBody>
          <a:bodyPr wrap="square" rtlCol="0" anchor="ctr"/>
          <a:lstStyle/>
          <a:p>
            <a:pPr marL="0" indent="0" algn="ctr">
              <a:buNone/>
            </a:pPr>
            <a:r>
              <a:rPr lang="en-US" sz="1300" b="1" dirty="0">
                <a:solidFill>
                  <a:srgbClr val="0A2342"/>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14400" y="969264"/>
            <a:ext cx="34747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QC &amp; Preprocessing</a:t>
            </a:r>
            <a:endParaRPr lang="en-US" sz="1300" dirty="0"/>
          </a:p>
        </p:txBody>
      </p:sp>
      <p:sp>
        <p:nvSpPr>
          <p:cNvPr id="7" name="Text 5"/>
          <p:cNvSpPr/>
          <p:nvPr/>
        </p:nvSpPr>
        <p:spPr>
          <a:xfrm>
            <a:off x="914400" y="1261872"/>
            <a:ext cx="3474720" cy="365760"/>
          </a:xfrm>
          <a:prstGeom prst="rect">
            <a:avLst/>
          </a:prstGeom>
          <a:noFill/>
          <a:ln/>
        </p:spPr>
        <p:txBody>
          <a:bodyPr wrap="square" rtlCol="0" anchor="ctr"/>
          <a:lstStyle/>
          <a:p>
            <a:pPr marL="0" indent="0">
              <a:buNone/>
            </a:pPr>
            <a:r>
              <a:rPr lang="en-US" sz="1050" dirty="0">
                <a:solidFill>
                  <a:srgbClr val="D6EEF5"/>
                </a:solidFill>
                <a:latin typeface="Calibri" pitchFamily="34" charset="0"/>
                <a:ea typeface="Calibri" pitchFamily="34" charset="-122"/>
                <a:cs typeface="Calibri" pitchFamily="34" charset="-120"/>
              </a:rPr>
              <a:t>Filter cells · normalise · log-transform · select 3,000 HVGs</a:t>
            </a:r>
            <a:endParaRPr lang="en-US" sz="1050" dirty="0"/>
          </a:p>
        </p:txBody>
      </p:sp>
      <p:sp>
        <p:nvSpPr>
          <p:cNvPr id="8" name="Shape 6"/>
          <p:cNvSpPr/>
          <p:nvPr/>
        </p:nvSpPr>
        <p:spPr>
          <a:xfrm>
            <a:off x="365760" y="1874520"/>
            <a:ext cx="4160520" cy="804672"/>
          </a:xfrm>
          <a:prstGeom prst="roundRect">
            <a:avLst>
              <a:gd name="adj" fmla="val 7955"/>
            </a:avLst>
          </a:prstGeom>
          <a:solidFill>
            <a:srgbClr val="1D6A8B">
              <a:alpha val="85000"/>
            </a:srgbClr>
          </a:solidFill>
          <a:ln/>
          <a:effectLst>
            <a:outerShdw blurRad="76200" dist="25400" dir="2700000" algn="bl" rotWithShape="0">
              <a:srgbClr val="000000">
                <a:alpha val="20000"/>
              </a:srgbClr>
            </a:outerShdw>
          </a:effectLst>
        </p:spPr>
        <p:txBody>
          <a:bodyPr/>
          <a:lstStyle/>
          <a:p>
            <a:endParaRPr lang="sr-Latn-RS"/>
          </a:p>
        </p:txBody>
      </p:sp>
      <p:sp>
        <p:nvSpPr>
          <p:cNvPr id="9" name="Shape 7"/>
          <p:cNvSpPr/>
          <p:nvPr/>
        </p:nvSpPr>
        <p:spPr>
          <a:xfrm>
            <a:off x="438912" y="2057400"/>
            <a:ext cx="411480" cy="411480"/>
          </a:xfrm>
          <a:prstGeom prst="ellipse">
            <a:avLst/>
          </a:prstGeom>
          <a:solidFill>
            <a:srgbClr val="2AABCC"/>
          </a:solidFill>
          <a:ln/>
        </p:spPr>
        <p:txBody>
          <a:bodyPr/>
          <a:lstStyle/>
          <a:p>
            <a:endParaRPr lang="sr-Latn-RS"/>
          </a:p>
        </p:txBody>
      </p:sp>
      <p:sp>
        <p:nvSpPr>
          <p:cNvPr id="10" name="Text 8"/>
          <p:cNvSpPr/>
          <p:nvPr/>
        </p:nvSpPr>
        <p:spPr>
          <a:xfrm>
            <a:off x="438912" y="2057400"/>
            <a:ext cx="411480" cy="411480"/>
          </a:xfrm>
          <a:prstGeom prst="rect">
            <a:avLst/>
          </a:prstGeom>
          <a:noFill/>
          <a:ln/>
        </p:spPr>
        <p:txBody>
          <a:bodyPr wrap="square" rtlCol="0" anchor="ctr"/>
          <a:lstStyle/>
          <a:p>
            <a:pPr marL="0" indent="0" algn="ctr">
              <a:buNone/>
            </a:pPr>
            <a:r>
              <a:rPr lang="en-US" sz="1300" b="1" dirty="0">
                <a:solidFill>
                  <a:srgbClr val="0A2342"/>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914400" y="1929384"/>
            <a:ext cx="34747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Integration &amp; Clustering</a:t>
            </a:r>
            <a:endParaRPr lang="en-US" sz="1300" dirty="0"/>
          </a:p>
        </p:txBody>
      </p:sp>
      <p:sp>
        <p:nvSpPr>
          <p:cNvPr id="12" name="Text 10"/>
          <p:cNvSpPr/>
          <p:nvPr/>
        </p:nvSpPr>
        <p:spPr>
          <a:xfrm>
            <a:off x="914400" y="2221992"/>
            <a:ext cx="3474720" cy="365760"/>
          </a:xfrm>
          <a:prstGeom prst="rect">
            <a:avLst/>
          </a:prstGeom>
          <a:noFill/>
          <a:ln/>
        </p:spPr>
        <p:txBody>
          <a:bodyPr wrap="square" rtlCol="0" anchor="ctr"/>
          <a:lstStyle/>
          <a:p>
            <a:pPr marL="0" indent="0">
              <a:buNone/>
            </a:pPr>
            <a:r>
              <a:rPr lang="en-US" sz="1050" dirty="0">
                <a:solidFill>
                  <a:srgbClr val="D6EEF5"/>
                </a:solidFill>
                <a:latin typeface="Calibri" pitchFamily="34" charset="0"/>
                <a:ea typeface="Calibri" pitchFamily="34" charset="-122"/>
                <a:cs typeface="Calibri" pitchFamily="34" charset="-120"/>
              </a:rPr>
              <a:t>ComBat batch correction · PCA · kNN graph · UMAP · Leiden (14 clusters)</a:t>
            </a:r>
            <a:endParaRPr lang="en-US" sz="1050" dirty="0"/>
          </a:p>
        </p:txBody>
      </p:sp>
      <p:sp>
        <p:nvSpPr>
          <p:cNvPr id="13" name="Shape 11"/>
          <p:cNvSpPr/>
          <p:nvPr/>
        </p:nvSpPr>
        <p:spPr>
          <a:xfrm>
            <a:off x="365760" y="2834640"/>
            <a:ext cx="4160520" cy="804672"/>
          </a:xfrm>
          <a:prstGeom prst="roundRect">
            <a:avLst>
              <a:gd name="adj" fmla="val 7955"/>
            </a:avLst>
          </a:prstGeom>
          <a:solidFill>
            <a:srgbClr val="1D6A8B">
              <a:alpha val="85000"/>
            </a:srgbClr>
          </a:solidFill>
          <a:ln/>
          <a:effectLst>
            <a:outerShdw blurRad="76200" dist="25400" dir="2700000" algn="bl" rotWithShape="0">
              <a:srgbClr val="000000">
                <a:alpha val="20000"/>
              </a:srgbClr>
            </a:outerShdw>
          </a:effectLst>
        </p:spPr>
        <p:txBody>
          <a:bodyPr/>
          <a:lstStyle/>
          <a:p>
            <a:endParaRPr lang="sr-Latn-RS"/>
          </a:p>
        </p:txBody>
      </p:sp>
      <p:sp>
        <p:nvSpPr>
          <p:cNvPr id="14" name="Shape 12"/>
          <p:cNvSpPr/>
          <p:nvPr/>
        </p:nvSpPr>
        <p:spPr>
          <a:xfrm>
            <a:off x="438912" y="3017520"/>
            <a:ext cx="411480" cy="411480"/>
          </a:xfrm>
          <a:prstGeom prst="ellipse">
            <a:avLst/>
          </a:prstGeom>
          <a:solidFill>
            <a:srgbClr val="2AABCC"/>
          </a:solidFill>
          <a:ln/>
        </p:spPr>
        <p:txBody>
          <a:bodyPr/>
          <a:lstStyle/>
          <a:p>
            <a:endParaRPr lang="sr-Latn-RS"/>
          </a:p>
        </p:txBody>
      </p:sp>
      <p:sp>
        <p:nvSpPr>
          <p:cNvPr id="15" name="Text 13"/>
          <p:cNvSpPr/>
          <p:nvPr/>
        </p:nvSpPr>
        <p:spPr>
          <a:xfrm>
            <a:off x="438912" y="3017520"/>
            <a:ext cx="411480" cy="411480"/>
          </a:xfrm>
          <a:prstGeom prst="rect">
            <a:avLst/>
          </a:prstGeom>
          <a:noFill/>
          <a:ln/>
        </p:spPr>
        <p:txBody>
          <a:bodyPr wrap="square" rtlCol="0" anchor="ctr"/>
          <a:lstStyle/>
          <a:p>
            <a:pPr marL="0" indent="0" algn="ctr">
              <a:buNone/>
            </a:pPr>
            <a:r>
              <a:rPr lang="en-US" sz="1300" b="1" dirty="0">
                <a:solidFill>
                  <a:srgbClr val="0A2342"/>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914400" y="2889504"/>
            <a:ext cx="34747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Cell Type Annotation</a:t>
            </a:r>
            <a:endParaRPr lang="en-US" sz="1300" dirty="0"/>
          </a:p>
        </p:txBody>
      </p:sp>
      <p:sp>
        <p:nvSpPr>
          <p:cNvPr id="17" name="Text 15"/>
          <p:cNvSpPr/>
          <p:nvPr/>
        </p:nvSpPr>
        <p:spPr>
          <a:xfrm>
            <a:off x="914400" y="3182112"/>
            <a:ext cx="3474720" cy="365760"/>
          </a:xfrm>
          <a:prstGeom prst="rect">
            <a:avLst/>
          </a:prstGeom>
          <a:noFill/>
          <a:ln/>
        </p:spPr>
        <p:txBody>
          <a:bodyPr wrap="square" rtlCol="0" anchor="ctr"/>
          <a:lstStyle/>
          <a:p>
            <a:pPr marL="0" indent="0">
              <a:buNone/>
            </a:pPr>
            <a:r>
              <a:rPr lang="en-US" sz="1050" dirty="0">
                <a:solidFill>
                  <a:srgbClr val="D6EEF5"/>
                </a:solidFill>
                <a:latin typeface="Calibri" pitchFamily="34" charset="0"/>
                <a:ea typeface="Calibri" pitchFamily="34" charset="-122"/>
                <a:cs typeface="Calibri" pitchFamily="34" charset="-120"/>
              </a:rPr>
              <a:t>Marker genes (T, B, NK, mono…) · CoDi reference labels · Azimuth PBMC atlas</a:t>
            </a:r>
            <a:endParaRPr lang="en-US" sz="1050" dirty="0"/>
          </a:p>
        </p:txBody>
      </p:sp>
      <p:sp>
        <p:nvSpPr>
          <p:cNvPr id="18" name="Shape 16"/>
          <p:cNvSpPr/>
          <p:nvPr/>
        </p:nvSpPr>
        <p:spPr>
          <a:xfrm>
            <a:off x="365760" y="3794760"/>
            <a:ext cx="4160520" cy="804672"/>
          </a:xfrm>
          <a:prstGeom prst="roundRect">
            <a:avLst>
              <a:gd name="adj" fmla="val 7955"/>
            </a:avLst>
          </a:prstGeom>
          <a:solidFill>
            <a:srgbClr val="1D6A8B">
              <a:alpha val="85000"/>
            </a:srgbClr>
          </a:solidFill>
          <a:ln/>
          <a:effectLst>
            <a:outerShdw blurRad="76200" dist="25400" dir="2700000" algn="bl" rotWithShape="0">
              <a:srgbClr val="000000">
                <a:alpha val="20000"/>
              </a:srgbClr>
            </a:outerShdw>
          </a:effectLst>
        </p:spPr>
        <p:txBody>
          <a:bodyPr/>
          <a:lstStyle/>
          <a:p>
            <a:endParaRPr lang="sr-Latn-RS"/>
          </a:p>
        </p:txBody>
      </p:sp>
      <p:sp>
        <p:nvSpPr>
          <p:cNvPr id="19" name="Shape 17"/>
          <p:cNvSpPr/>
          <p:nvPr/>
        </p:nvSpPr>
        <p:spPr>
          <a:xfrm>
            <a:off x="438912" y="3977640"/>
            <a:ext cx="411480" cy="411480"/>
          </a:xfrm>
          <a:prstGeom prst="ellipse">
            <a:avLst/>
          </a:prstGeom>
          <a:solidFill>
            <a:srgbClr val="2AABCC"/>
          </a:solidFill>
          <a:ln/>
        </p:spPr>
        <p:txBody>
          <a:bodyPr/>
          <a:lstStyle/>
          <a:p>
            <a:endParaRPr lang="sr-Latn-RS"/>
          </a:p>
        </p:txBody>
      </p:sp>
      <p:sp>
        <p:nvSpPr>
          <p:cNvPr id="20" name="Text 18"/>
          <p:cNvSpPr/>
          <p:nvPr/>
        </p:nvSpPr>
        <p:spPr>
          <a:xfrm>
            <a:off x="438912" y="3977640"/>
            <a:ext cx="411480" cy="411480"/>
          </a:xfrm>
          <a:prstGeom prst="rect">
            <a:avLst/>
          </a:prstGeom>
          <a:noFill/>
          <a:ln/>
        </p:spPr>
        <p:txBody>
          <a:bodyPr wrap="square" rtlCol="0" anchor="ctr"/>
          <a:lstStyle/>
          <a:p>
            <a:pPr marL="0" indent="0" algn="ctr">
              <a:buNone/>
            </a:pPr>
            <a:r>
              <a:rPr lang="en-US" sz="1300" b="1" dirty="0">
                <a:solidFill>
                  <a:srgbClr val="0A2342"/>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914400" y="3849624"/>
            <a:ext cx="34747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Composition Analysis</a:t>
            </a:r>
            <a:endParaRPr lang="en-US" sz="1300" dirty="0"/>
          </a:p>
        </p:txBody>
      </p:sp>
      <p:sp>
        <p:nvSpPr>
          <p:cNvPr id="22" name="Text 20"/>
          <p:cNvSpPr/>
          <p:nvPr/>
        </p:nvSpPr>
        <p:spPr>
          <a:xfrm>
            <a:off x="914400" y="4142232"/>
            <a:ext cx="3474720" cy="365760"/>
          </a:xfrm>
          <a:prstGeom prst="rect">
            <a:avLst/>
          </a:prstGeom>
          <a:noFill/>
          <a:ln/>
        </p:spPr>
        <p:txBody>
          <a:bodyPr wrap="square" rtlCol="0" anchor="ctr"/>
          <a:lstStyle/>
          <a:p>
            <a:pPr marL="0" indent="0">
              <a:buNone/>
            </a:pPr>
            <a:r>
              <a:rPr lang="en-US" sz="1050" dirty="0">
                <a:solidFill>
                  <a:srgbClr val="D6EEF5"/>
                </a:solidFill>
                <a:latin typeface="Calibri" pitchFamily="34" charset="0"/>
                <a:ea typeface="Calibri" pitchFamily="34" charset="-122"/>
                <a:cs typeface="Calibri" pitchFamily="34" charset="-120"/>
              </a:rPr>
              <a:t>Cell type fractions per condition · barplot + CSV</a:t>
            </a:r>
            <a:endParaRPr lang="en-US" sz="1050" dirty="0"/>
          </a:p>
        </p:txBody>
      </p:sp>
      <p:sp>
        <p:nvSpPr>
          <p:cNvPr id="23" name="Shape 21"/>
          <p:cNvSpPr/>
          <p:nvPr/>
        </p:nvSpPr>
        <p:spPr>
          <a:xfrm>
            <a:off x="4709160" y="914400"/>
            <a:ext cx="4160520" cy="804672"/>
          </a:xfrm>
          <a:prstGeom prst="roundRect">
            <a:avLst>
              <a:gd name="adj" fmla="val 7955"/>
            </a:avLst>
          </a:prstGeom>
          <a:solidFill>
            <a:srgbClr val="1D6A8B">
              <a:alpha val="85000"/>
            </a:srgbClr>
          </a:solidFill>
          <a:ln/>
          <a:effectLst>
            <a:outerShdw blurRad="76200" dist="25400" dir="2700000" algn="bl" rotWithShape="0">
              <a:srgbClr val="000000">
                <a:alpha val="20000"/>
              </a:srgbClr>
            </a:outerShdw>
          </a:effectLst>
        </p:spPr>
        <p:txBody>
          <a:bodyPr/>
          <a:lstStyle/>
          <a:p>
            <a:endParaRPr lang="sr-Latn-RS"/>
          </a:p>
        </p:txBody>
      </p:sp>
      <p:sp>
        <p:nvSpPr>
          <p:cNvPr id="24" name="Shape 22"/>
          <p:cNvSpPr/>
          <p:nvPr/>
        </p:nvSpPr>
        <p:spPr>
          <a:xfrm>
            <a:off x="4782312" y="1097280"/>
            <a:ext cx="411480" cy="411480"/>
          </a:xfrm>
          <a:prstGeom prst="ellipse">
            <a:avLst/>
          </a:prstGeom>
          <a:solidFill>
            <a:srgbClr val="2AABCC"/>
          </a:solidFill>
          <a:ln/>
        </p:spPr>
        <p:txBody>
          <a:bodyPr/>
          <a:lstStyle/>
          <a:p>
            <a:endParaRPr lang="sr-Latn-RS"/>
          </a:p>
        </p:txBody>
      </p:sp>
      <p:sp>
        <p:nvSpPr>
          <p:cNvPr id="25" name="Text 23"/>
          <p:cNvSpPr/>
          <p:nvPr/>
        </p:nvSpPr>
        <p:spPr>
          <a:xfrm>
            <a:off x="4782312" y="1097280"/>
            <a:ext cx="411480" cy="411480"/>
          </a:xfrm>
          <a:prstGeom prst="rect">
            <a:avLst/>
          </a:prstGeom>
          <a:noFill/>
          <a:ln/>
        </p:spPr>
        <p:txBody>
          <a:bodyPr wrap="square" rtlCol="0" anchor="ctr"/>
          <a:lstStyle/>
          <a:p>
            <a:pPr marL="0" indent="0" algn="ctr">
              <a:buNone/>
            </a:pPr>
            <a:r>
              <a:rPr lang="en-US" sz="1300" b="1" dirty="0">
                <a:solidFill>
                  <a:srgbClr val="0A2342"/>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5257800" y="969264"/>
            <a:ext cx="34747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Differential Expression</a:t>
            </a:r>
            <a:endParaRPr lang="en-US" sz="1300" dirty="0"/>
          </a:p>
        </p:txBody>
      </p:sp>
      <p:sp>
        <p:nvSpPr>
          <p:cNvPr id="27" name="Text 25"/>
          <p:cNvSpPr/>
          <p:nvPr/>
        </p:nvSpPr>
        <p:spPr>
          <a:xfrm>
            <a:off x="5257800" y="1261872"/>
            <a:ext cx="3474720" cy="365760"/>
          </a:xfrm>
          <a:prstGeom prst="rect">
            <a:avLst/>
          </a:prstGeom>
          <a:noFill/>
          <a:ln/>
        </p:spPr>
        <p:txBody>
          <a:bodyPr wrap="square" rtlCol="0" anchor="ctr"/>
          <a:lstStyle/>
          <a:p>
            <a:pPr marL="0" indent="0">
              <a:buNone/>
            </a:pPr>
            <a:r>
              <a:rPr lang="en-US" sz="1050" dirty="0">
                <a:solidFill>
                  <a:srgbClr val="D6EEF5"/>
                </a:solidFill>
                <a:latin typeface="Calibri" pitchFamily="34" charset="0"/>
                <a:ea typeface="Calibri" pitchFamily="34" charset="-122"/>
                <a:cs typeface="Calibri" pitchFamily="34" charset="-120"/>
              </a:rPr>
              <a:t>Wilcoxon rank-sum per cell type · each exposure vs control</a:t>
            </a:r>
            <a:endParaRPr lang="en-US" sz="1050" dirty="0"/>
          </a:p>
        </p:txBody>
      </p:sp>
      <p:sp>
        <p:nvSpPr>
          <p:cNvPr id="28" name="Shape 26"/>
          <p:cNvSpPr/>
          <p:nvPr/>
        </p:nvSpPr>
        <p:spPr>
          <a:xfrm>
            <a:off x="4709160" y="1874520"/>
            <a:ext cx="4160520" cy="804672"/>
          </a:xfrm>
          <a:prstGeom prst="roundRect">
            <a:avLst>
              <a:gd name="adj" fmla="val 7955"/>
            </a:avLst>
          </a:prstGeom>
          <a:solidFill>
            <a:srgbClr val="1D6A8B">
              <a:alpha val="85000"/>
            </a:srgbClr>
          </a:solidFill>
          <a:ln/>
          <a:effectLst>
            <a:outerShdw blurRad="76200" dist="25400" dir="2700000" algn="bl" rotWithShape="0">
              <a:srgbClr val="000000">
                <a:alpha val="20000"/>
              </a:srgbClr>
            </a:outerShdw>
          </a:effectLst>
        </p:spPr>
        <p:txBody>
          <a:bodyPr/>
          <a:lstStyle/>
          <a:p>
            <a:endParaRPr lang="sr-Latn-RS"/>
          </a:p>
        </p:txBody>
      </p:sp>
      <p:sp>
        <p:nvSpPr>
          <p:cNvPr id="29" name="Shape 27"/>
          <p:cNvSpPr/>
          <p:nvPr/>
        </p:nvSpPr>
        <p:spPr>
          <a:xfrm>
            <a:off x="4782312" y="2057400"/>
            <a:ext cx="411480" cy="411480"/>
          </a:xfrm>
          <a:prstGeom prst="ellipse">
            <a:avLst/>
          </a:prstGeom>
          <a:solidFill>
            <a:srgbClr val="2AABCC"/>
          </a:solidFill>
          <a:ln/>
        </p:spPr>
        <p:txBody>
          <a:bodyPr/>
          <a:lstStyle/>
          <a:p>
            <a:endParaRPr lang="sr-Latn-RS"/>
          </a:p>
        </p:txBody>
      </p:sp>
      <p:sp>
        <p:nvSpPr>
          <p:cNvPr id="30" name="Text 28"/>
          <p:cNvSpPr/>
          <p:nvPr/>
        </p:nvSpPr>
        <p:spPr>
          <a:xfrm>
            <a:off x="4782312" y="2057400"/>
            <a:ext cx="411480" cy="411480"/>
          </a:xfrm>
          <a:prstGeom prst="rect">
            <a:avLst/>
          </a:prstGeom>
          <a:noFill/>
          <a:ln/>
        </p:spPr>
        <p:txBody>
          <a:bodyPr wrap="square" rtlCol="0" anchor="ctr"/>
          <a:lstStyle/>
          <a:p>
            <a:pPr marL="0" indent="0" algn="ctr">
              <a:buNone/>
            </a:pPr>
            <a:r>
              <a:rPr lang="en-US" sz="1300" b="1" dirty="0">
                <a:solidFill>
                  <a:srgbClr val="0A2342"/>
                </a:solidFill>
                <a:latin typeface="Calibri" pitchFamily="34" charset="0"/>
                <a:ea typeface="Calibri" pitchFamily="34" charset="-122"/>
                <a:cs typeface="Calibri" pitchFamily="34" charset="-120"/>
              </a:rPr>
              <a:t>6</a:t>
            </a:r>
            <a:endParaRPr lang="en-US" sz="1300" dirty="0"/>
          </a:p>
        </p:txBody>
      </p:sp>
      <p:sp>
        <p:nvSpPr>
          <p:cNvPr id="31" name="Text 29"/>
          <p:cNvSpPr/>
          <p:nvPr/>
        </p:nvSpPr>
        <p:spPr>
          <a:xfrm>
            <a:off x="5257800" y="1929384"/>
            <a:ext cx="34747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Pathway Enrichment</a:t>
            </a:r>
            <a:endParaRPr lang="en-US" sz="1300" dirty="0"/>
          </a:p>
        </p:txBody>
      </p:sp>
      <p:sp>
        <p:nvSpPr>
          <p:cNvPr id="32" name="Text 30"/>
          <p:cNvSpPr/>
          <p:nvPr/>
        </p:nvSpPr>
        <p:spPr>
          <a:xfrm>
            <a:off x="5257800" y="2221992"/>
            <a:ext cx="3474720" cy="365760"/>
          </a:xfrm>
          <a:prstGeom prst="rect">
            <a:avLst/>
          </a:prstGeom>
          <a:noFill/>
          <a:ln/>
        </p:spPr>
        <p:txBody>
          <a:bodyPr wrap="square" rtlCol="0" anchor="ctr"/>
          <a:lstStyle/>
          <a:p>
            <a:pPr marL="0" indent="0">
              <a:buNone/>
            </a:pPr>
            <a:r>
              <a:rPr lang="en-US" sz="1050" dirty="0">
                <a:solidFill>
                  <a:srgbClr val="D6EEF5"/>
                </a:solidFill>
                <a:latin typeface="Calibri" pitchFamily="34" charset="0"/>
                <a:ea typeface="Calibri" pitchFamily="34" charset="-122"/>
                <a:cs typeface="Calibri" pitchFamily="34" charset="-120"/>
              </a:rPr>
              <a:t>GO · KEGG · Reactome via Enrichr/gseapy on upregulated genes</a:t>
            </a:r>
            <a:endParaRPr lang="en-US" sz="1050" dirty="0"/>
          </a:p>
        </p:txBody>
      </p:sp>
      <p:sp>
        <p:nvSpPr>
          <p:cNvPr id="33" name="Shape 31"/>
          <p:cNvSpPr/>
          <p:nvPr/>
        </p:nvSpPr>
        <p:spPr>
          <a:xfrm>
            <a:off x="4709160" y="2834640"/>
            <a:ext cx="4160520" cy="804672"/>
          </a:xfrm>
          <a:prstGeom prst="roundRect">
            <a:avLst>
              <a:gd name="adj" fmla="val 7955"/>
            </a:avLst>
          </a:prstGeom>
          <a:solidFill>
            <a:srgbClr val="1D6A8B">
              <a:alpha val="85000"/>
            </a:srgbClr>
          </a:solidFill>
          <a:ln/>
          <a:effectLst>
            <a:outerShdw blurRad="76200" dist="25400" dir="2700000" algn="bl" rotWithShape="0">
              <a:srgbClr val="000000">
                <a:alpha val="20000"/>
              </a:srgbClr>
            </a:outerShdw>
          </a:effectLst>
        </p:spPr>
        <p:txBody>
          <a:bodyPr/>
          <a:lstStyle/>
          <a:p>
            <a:endParaRPr lang="sr-Latn-RS"/>
          </a:p>
        </p:txBody>
      </p:sp>
      <p:sp>
        <p:nvSpPr>
          <p:cNvPr id="34" name="Shape 32"/>
          <p:cNvSpPr/>
          <p:nvPr/>
        </p:nvSpPr>
        <p:spPr>
          <a:xfrm>
            <a:off x="4782312" y="3017520"/>
            <a:ext cx="411480" cy="411480"/>
          </a:xfrm>
          <a:prstGeom prst="ellipse">
            <a:avLst/>
          </a:prstGeom>
          <a:solidFill>
            <a:srgbClr val="2AABCC"/>
          </a:solidFill>
          <a:ln/>
        </p:spPr>
        <p:txBody>
          <a:bodyPr/>
          <a:lstStyle/>
          <a:p>
            <a:endParaRPr lang="sr-Latn-RS"/>
          </a:p>
        </p:txBody>
      </p:sp>
      <p:sp>
        <p:nvSpPr>
          <p:cNvPr id="35" name="Text 33"/>
          <p:cNvSpPr/>
          <p:nvPr/>
        </p:nvSpPr>
        <p:spPr>
          <a:xfrm>
            <a:off x="4782312" y="3017520"/>
            <a:ext cx="411480" cy="411480"/>
          </a:xfrm>
          <a:prstGeom prst="rect">
            <a:avLst/>
          </a:prstGeom>
          <a:noFill/>
          <a:ln/>
        </p:spPr>
        <p:txBody>
          <a:bodyPr wrap="square" rtlCol="0" anchor="ctr"/>
          <a:lstStyle/>
          <a:p>
            <a:pPr marL="0" indent="0" algn="ctr">
              <a:buNone/>
            </a:pPr>
            <a:r>
              <a:rPr lang="en-US" sz="1300" b="1" dirty="0">
                <a:solidFill>
                  <a:srgbClr val="0A2342"/>
                </a:solidFill>
                <a:latin typeface="Calibri" pitchFamily="34" charset="0"/>
                <a:ea typeface="Calibri" pitchFamily="34" charset="-122"/>
                <a:cs typeface="Calibri" pitchFamily="34" charset="-120"/>
              </a:rPr>
              <a:t>7</a:t>
            </a:r>
            <a:endParaRPr lang="en-US" sz="1300" dirty="0"/>
          </a:p>
        </p:txBody>
      </p:sp>
      <p:sp>
        <p:nvSpPr>
          <p:cNvPr id="36" name="Text 34"/>
          <p:cNvSpPr/>
          <p:nvPr/>
        </p:nvSpPr>
        <p:spPr>
          <a:xfrm>
            <a:off x="5257800" y="2889504"/>
            <a:ext cx="34747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Size-Specific Effects</a:t>
            </a:r>
            <a:endParaRPr lang="en-US" sz="1300" dirty="0"/>
          </a:p>
        </p:txBody>
      </p:sp>
      <p:sp>
        <p:nvSpPr>
          <p:cNvPr id="37" name="Text 35"/>
          <p:cNvSpPr/>
          <p:nvPr/>
        </p:nvSpPr>
        <p:spPr>
          <a:xfrm>
            <a:off x="5257800" y="3182112"/>
            <a:ext cx="3474720" cy="365760"/>
          </a:xfrm>
          <a:prstGeom prst="rect">
            <a:avLst/>
          </a:prstGeom>
          <a:noFill/>
          <a:ln/>
        </p:spPr>
        <p:txBody>
          <a:bodyPr wrap="square" rtlCol="0" anchor="ctr"/>
          <a:lstStyle/>
          <a:p>
            <a:pPr marL="0" indent="0">
              <a:buNone/>
            </a:pPr>
            <a:r>
              <a:rPr lang="en-US" sz="1050" dirty="0">
                <a:solidFill>
                  <a:srgbClr val="D6EEF5"/>
                </a:solidFill>
                <a:latin typeface="Calibri" pitchFamily="34" charset="0"/>
                <a:ea typeface="Calibri" pitchFamily="34" charset="-122"/>
                <a:cs typeface="Calibri" pitchFamily="34" charset="-120"/>
              </a:rPr>
              <a:t>Classify DE genes: unique 40 nm / 200 nm / shared / mix-only</a:t>
            </a:r>
            <a:endParaRPr lang="en-US" sz="1050" dirty="0"/>
          </a:p>
        </p:txBody>
      </p:sp>
      <p:sp>
        <p:nvSpPr>
          <p:cNvPr id="38" name="Text 36"/>
          <p:cNvSpPr/>
          <p:nvPr/>
        </p:nvSpPr>
        <p:spPr>
          <a:xfrm>
            <a:off x="4206240" y="2103120"/>
            <a:ext cx="640080" cy="457200"/>
          </a:xfrm>
          <a:prstGeom prst="rect">
            <a:avLst/>
          </a:prstGeom>
          <a:noFill/>
          <a:ln/>
        </p:spPr>
        <p:txBody>
          <a:bodyPr wrap="square" rtlCol="0" anchor="ctr"/>
          <a:lstStyle/>
          <a:p>
            <a:pPr marL="0" indent="0" algn="ctr">
              <a:buNone/>
            </a:pPr>
            <a:r>
              <a:rPr lang="en-US" sz="2800" dirty="0">
                <a:solidFill>
                  <a:srgbClr val="E8A838"/>
                </a:solidFill>
              </a:rPr>
              <a:t>→</a:t>
            </a:r>
            <a:endParaRPr lang="en-US" sz="2800" dirty="0"/>
          </a:p>
        </p:txBody>
      </p:sp>
      <p:sp>
        <p:nvSpPr>
          <p:cNvPr id="39" name="Shape 37"/>
          <p:cNvSpPr/>
          <p:nvPr/>
        </p:nvSpPr>
        <p:spPr>
          <a:xfrm>
            <a:off x="6858000" y="4480560"/>
            <a:ext cx="2011680" cy="411480"/>
          </a:xfrm>
          <a:prstGeom prst="roundRect">
            <a:avLst>
              <a:gd name="adj" fmla="val 13333"/>
            </a:avLst>
          </a:prstGeom>
          <a:solidFill>
            <a:srgbClr val="E8A838">
              <a:alpha val="80000"/>
            </a:srgbClr>
          </a:solidFill>
          <a:ln/>
        </p:spPr>
        <p:txBody>
          <a:bodyPr/>
          <a:lstStyle/>
          <a:p>
            <a:endParaRPr lang="sr-Latn-RS"/>
          </a:p>
        </p:txBody>
      </p:sp>
      <p:sp>
        <p:nvSpPr>
          <p:cNvPr id="40" name="Text 38"/>
          <p:cNvSpPr/>
          <p:nvPr/>
        </p:nvSpPr>
        <p:spPr>
          <a:xfrm>
            <a:off x="6858000" y="4480560"/>
            <a:ext cx="2011680" cy="411480"/>
          </a:xfrm>
          <a:prstGeom prst="rect">
            <a:avLst/>
          </a:prstGeom>
          <a:noFill/>
          <a:ln/>
        </p:spPr>
        <p:txBody>
          <a:bodyPr wrap="square"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  ~9 min total runtime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600" b="1" dirty="0">
                <a:solidFill>
                  <a:srgbClr val="0A2342"/>
                </a:solidFill>
                <a:latin typeface="Cambria" pitchFamily="34" charset="0"/>
                <a:ea typeface="Cambria" pitchFamily="34" charset="-122"/>
                <a:cs typeface="Cambria" pitchFamily="34" charset="-120"/>
              </a:rPr>
              <a:t>Quality Control &amp; Preprocessing</a:t>
            </a:r>
            <a:endParaRPr lang="en-US" sz="3600" dirty="0"/>
          </a:p>
        </p:txBody>
      </p:sp>
      <p:sp>
        <p:nvSpPr>
          <p:cNvPr id="3" name="Shape 1"/>
          <p:cNvSpPr/>
          <p:nvPr/>
        </p:nvSpPr>
        <p:spPr>
          <a:xfrm>
            <a:off x="457200" y="960120"/>
            <a:ext cx="4114800" cy="2377440"/>
          </a:xfrm>
          <a:prstGeom prst="roundRect">
            <a:avLst>
              <a:gd name="adj" fmla="val 3077"/>
            </a:avLst>
          </a:prstGeom>
          <a:solidFill>
            <a:srgbClr val="FFFFFF"/>
          </a:solidFill>
          <a:ln/>
          <a:effectLst>
            <a:outerShdw blurRad="76200" dist="25400" dir="2700000" algn="bl" rotWithShape="0">
              <a:srgbClr val="000000">
                <a:alpha val="9000"/>
              </a:srgbClr>
            </a:outerShdw>
          </a:effectLst>
        </p:spPr>
        <p:txBody>
          <a:bodyPr/>
          <a:lstStyle/>
          <a:p>
            <a:endParaRPr lang="sr-Latn-RS"/>
          </a:p>
        </p:txBody>
      </p:sp>
      <p:sp>
        <p:nvSpPr>
          <p:cNvPr id="4" name="Text 2"/>
          <p:cNvSpPr/>
          <p:nvPr/>
        </p:nvSpPr>
        <p:spPr>
          <a:xfrm>
            <a:off x="640080" y="1051560"/>
            <a:ext cx="3749040" cy="320040"/>
          </a:xfrm>
          <a:prstGeom prst="rect">
            <a:avLst/>
          </a:prstGeom>
          <a:noFill/>
          <a:ln/>
        </p:spPr>
        <p:txBody>
          <a:bodyPr wrap="square" rtlCol="0" anchor="ctr"/>
          <a:lstStyle/>
          <a:p>
            <a:pPr marL="0" indent="0">
              <a:buNone/>
            </a:pPr>
            <a:r>
              <a:rPr lang="en-US" sz="1500" b="1" dirty="0">
                <a:solidFill>
                  <a:srgbClr val="1D6A8B"/>
                </a:solidFill>
                <a:latin typeface="Calibri" pitchFamily="34" charset="0"/>
                <a:ea typeface="Calibri" pitchFamily="34" charset="-122"/>
                <a:cs typeface="Calibri" pitchFamily="34" charset="-120"/>
              </a:rPr>
              <a:t>QC Thresholds</a:t>
            </a:r>
            <a:endParaRPr lang="en-US" sz="1500" dirty="0"/>
          </a:p>
        </p:txBody>
      </p:sp>
      <p:sp>
        <p:nvSpPr>
          <p:cNvPr id="5" name="Text 3"/>
          <p:cNvSpPr/>
          <p:nvPr/>
        </p:nvSpPr>
        <p:spPr>
          <a:xfrm>
            <a:off x="640080" y="1463040"/>
            <a:ext cx="2103120" cy="347472"/>
          </a:xfrm>
          <a:prstGeom prst="rect">
            <a:avLst/>
          </a:prstGeom>
          <a:noFill/>
          <a:ln/>
        </p:spPr>
        <p:txBody>
          <a:bodyPr wrap="square" rtlCol="0" anchor="ctr"/>
          <a:lstStyle/>
          <a:p>
            <a:pPr marL="0" indent="0">
              <a:buNone/>
            </a:pPr>
            <a:r>
              <a:rPr lang="en-US" sz="1200" dirty="0">
                <a:solidFill>
                  <a:srgbClr val="0A2342"/>
                </a:solidFill>
                <a:latin typeface="Calibri" pitchFamily="34" charset="0"/>
                <a:ea typeface="Calibri" pitchFamily="34" charset="-122"/>
                <a:cs typeface="Calibri" pitchFamily="34" charset="-120"/>
              </a:rPr>
              <a:t>Min genes / cell</a:t>
            </a:r>
            <a:endParaRPr lang="en-US" sz="1200" dirty="0"/>
          </a:p>
        </p:txBody>
      </p:sp>
      <p:sp>
        <p:nvSpPr>
          <p:cNvPr id="6" name="Shape 4"/>
          <p:cNvSpPr/>
          <p:nvPr/>
        </p:nvSpPr>
        <p:spPr>
          <a:xfrm>
            <a:off x="2834640" y="1499616"/>
            <a:ext cx="1554480" cy="274320"/>
          </a:xfrm>
          <a:prstGeom prst="roundRect">
            <a:avLst>
              <a:gd name="adj" fmla="val 13333"/>
            </a:avLst>
          </a:prstGeom>
          <a:solidFill>
            <a:srgbClr val="2AABCC">
              <a:alpha val="75000"/>
            </a:srgbClr>
          </a:solidFill>
          <a:ln/>
        </p:spPr>
        <p:txBody>
          <a:bodyPr/>
          <a:lstStyle/>
          <a:p>
            <a:endParaRPr lang="sr-Latn-RS"/>
          </a:p>
        </p:txBody>
      </p:sp>
      <p:sp>
        <p:nvSpPr>
          <p:cNvPr id="7" name="Text 5"/>
          <p:cNvSpPr/>
          <p:nvPr/>
        </p:nvSpPr>
        <p:spPr>
          <a:xfrm>
            <a:off x="2834640" y="1499616"/>
            <a:ext cx="1554480" cy="274320"/>
          </a:xfrm>
          <a:prstGeom prst="rect">
            <a:avLst/>
          </a:prstGeom>
          <a:noFill/>
          <a:ln/>
        </p:spPr>
        <p:txBody>
          <a:bodyPr wrap="square"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 200</a:t>
            </a:r>
            <a:endParaRPr lang="en-US" sz="1100" dirty="0"/>
          </a:p>
        </p:txBody>
      </p:sp>
      <p:sp>
        <p:nvSpPr>
          <p:cNvPr id="8" name="Text 6"/>
          <p:cNvSpPr/>
          <p:nvPr/>
        </p:nvSpPr>
        <p:spPr>
          <a:xfrm>
            <a:off x="640080" y="1883664"/>
            <a:ext cx="2103120" cy="347472"/>
          </a:xfrm>
          <a:prstGeom prst="rect">
            <a:avLst/>
          </a:prstGeom>
          <a:noFill/>
          <a:ln/>
        </p:spPr>
        <p:txBody>
          <a:bodyPr wrap="square" rtlCol="0" anchor="ctr"/>
          <a:lstStyle/>
          <a:p>
            <a:pPr marL="0" indent="0">
              <a:buNone/>
            </a:pPr>
            <a:r>
              <a:rPr lang="en-US" sz="1200" dirty="0">
                <a:solidFill>
                  <a:srgbClr val="0A2342"/>
                </a:solidFill>
                <a:latin typeface="Calibri" pitchFamily="34" charset="0"/>
                <a:ea typeface="Calibri" pitchFamily="34" charset="-122"/>
                <a:cs typeface="Calibri" pitchFamily="34" charset="-120"/>
              </a:rPr>
              <a:t>Max genes / cell</a:t>
            </a:r>
            <a:endParaRPr lang="en-US" sz="1200" dirty="0"/>
          </a:p>
        </p:txBody>
      </p:sp>
      <p:sp>
        <p:nvSpPr>
          <p:cNvPr id="9" name="Shape 7"/>
          <p:cNvSpPr/>
          <p:nvPr/>
        </p:nvSpPr>
        <p:spPr>
          <a:xfrm>
            <a:off x="2834640" y="1920240"/>
            <a:ext cx="1554480" cy="274320"/>
          </a:xfrm>
          <a:prstGeom prst="roundRect">
            <a:avLst>
              <a:gd name="adj" fmla="val 13333"/>
            </a:avLst>
          </a:prstGeom>
          <a:solidFill>
            <a:srgbClr val="2AABCC">
              <a:alpha val="75000"/>
            </a:srgbClr>
          </a:solidFill>
          <a:ln/>
        </p:spPr>
        <p:txBody>
          <a:bodyPr/>
          <a:lstStyle/>
          <a:p>
            <a:endParaRPr lang="sr-Latn-RS"/>
          </a:p>
        </p:txBody>
      </p:sp>
      <p:sp>
        <p:nvSpPr>
          <p:cNvPr id="10" name="Text 8"/>
          <p:cNvSpPr/>
          <p:nvPr/>
        </p:nvSpPr>
        <p:spPr>
          <a:xfrm>
            <a:off x="2834640" y="1920240"/>
            <a:ext cx="1554480" cy="274320"/>
          </a:xfrm>
          <a:prstGeom prst="rect">
            <a:avLst/>
          </a:prstGeom>
          <a:noFill/>
          <a:ln/>
        </p:spPr>
        <p:txBody>
          <a:bodyPr wrap="square"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 7,000  (doublet filter)</a:t>
            </a:r>
            <a:endParaRPr lang="en-US" sz="1100" dirty="0"/>
          </a:p>
        </p:txBody>
      </p:sp>
      <p:sp>
        <p:nvSpPr>
          <p:cNvPr id="11" name="Text 9"/>
          <p:cNvSpPr/>
          <p:nvPr/>
        </p:nvSpPr>
        <p:spPr>
          <a:xfrm>
            <a:off x="640080" y="2304288"/>
            <a:ext cx="2103120" cy="347472"/>
          </a:xfrm>
          <a:prstGeom prst="rect">
            <a:avLst/>
          </a:prstGeom>
          <a:noFill/>
          <a:ln/>
        </p:spPr>
        <p:txBody>
          <a:bodyPr wrap="square" rtlCol="0" anchor="ctr"/>
          <a:lstStyle/>
          <a:p>
            <a:pPr marL="0" indent="0">
              <a:buNone/>
            </a:pPr>
            <a:r>
              <a:rPr lang="en-US" sz="1200" dirty="0">
                <a:solidFill>
                  <a:srgbClr val="0A2342"/>
                </a:solidFill>
                <a:latin typeface="Calibri" pitchFamily="34" charset="0"/>
                <a:ea typeface="Calibri" pitchFamily="34" charset="-122"/>
                <a:cs typeface="Calibri" pitchFamily="34" charset="-120"/>
              </a:rPr>
              <a:t>Min UMI counts</a:t>
            </a:r>
            <a:endParaRPr lang="en-US" sz="1200" dirty="0"/>
          </a:p>
        </p:txBody>
      </p:sp>
      <p:sp>
        <p:nvSpPr>
          <p:cNvPr id="12" name="Shape 10"/>
          <p:cNvSpPr/>
          <p:nvPr/>
        </p:nvSpPr>
        <p:spPr>
          <a:xfrm>
            <a:off x="2834640" y="2340864"/>
            <a:ext cx="1554480" cy="274320"/>
          </a:xfrm>
          <a:prstGeom prst="roundRect">
            <a:avLst>
              <a:gd name="adj" fmla="val 13333"/>
            </a:avLst>
          </a:prstGeom>
          <a:solidFill>
            <a:srgbClr val="2AABCC">
              <a:alpha val="75000"/>
            </a:srgbClr>
          </a:solidFill>
          <a:ln/>
        </p:spPr>
        <p:txBody>
          <a:bodyPr/>
          <a:lstStyle/>
          <a:p>
            <a:endParaRPr lang="sr-Latn-RS"/>
          </a:p>
        </p:txBody>
      </p:sp>
      <p:sp>
        <p:nvSpPr>
          <p:cNvPr id="13" name="Text 11"/>
          <p:cNvSpPr/>
          <p:nvPr/>
        </p:nvSpPr>
        <p:spPr>
          <a:xfrm>
            <a:off x="2834640" y="2340864"/>
            <a:ext cx="1554480" cy="274320"/>
          </a:xfrm>
          <a:prstGeom prst="rect">
            <a:avLst/>
          </a:prstGeom>
          <a:noFill/>
          <a:ln/>
        </p:spPr>
        <p:txBody>
          <a:bodyPr wrap="square"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 500</a:t>
            </a:r>
            <a:endParaRPr lang="en-US" sz="1100" dirty="0"/>
          </a:p>
        </p:txBody>
      </p:sp>
      <p:sp>
        <p:nvSpPr>
          <p:cNvPr id="14" name="Text 12"/>
          <p:cNvSpPr/>
          <p:nvPr/>
        </p:nvSpPr>
        <p:spPr>
          <a:xfrm>
            <a:off x="640080" y="2724912"/>
            <a:ext cx="2103120" cy="347472"/>
          </a:xfrm>
          <a:prstGeom prst="rect">
            <a:avLst/>
          </a:prstGeom>
          <a:noFill/>
          <a:ln/>
        </p:spPr>
        <p:txBody>
          <a:bodyPr wrap="square" rtlCol="0" anchor="ctr"/>
          <a:lstStyle/>
          <a:p>
            <a:pPr marL="0" indent="0">
              <a:buNone/>
            </a:pPr>
            <a:r>
              <a:rPr lang="en-US" sz="1200" dirty="0">
                <a:solidFill>
                  <a:srgbClr val="0A2342"/>
                </a:solidFill>
                <a:latin typeface="Calibri" pitchFamily="34" charset="0"/>
                <a:ea typeface="Calibri" pitchFamily="34" charset="-122"/>
                <a:cs typeface="Calibri" pitchFamily="34" charset="-120"/>
              </a:rPr>
              <a:t>Max mitochondrial %</a:t>
            </a:r>
            <a:endParaRPr lang="en-US" sz="1200" dirty="0"/>
          </a:p>
        </p:txBody>
      </p:sp>
      <p:sp>
        <p:nvSpPr>
          <p:cNvPr id="15" name="Shape 13"/>
          <p:cNvSpPr/>
          <p:nvPr/>
        </p:nvSpPr>
        <p:spPr>
          <a:xfrm>
            <a:off x="2834640" y="2761488"/>
            <a:ext cx="1554480" cy="274320"/>
          </a:xfrm>
          <a:prstGeom prst="roundRect">
            <a:avLst>
              <a:gd name="adj" fmla="val 13333"/>
            </a:avLst>
          </a:prstGeom>
          <a:solidFill>
            <a:srgbClr val="2AABCC">
              <a:alpha val="75000"/>
            </a:srgbClr>
          </a:solidFill>
          <a:ln/>
        </p:spPr>
        <p:txBody>
          <a:bodyPr/>
          <a:lstStyle/>
          <a:p>
            <a:endParaRPr lang="sr-Latn-RS"/>
          </a:p>
        </p:txBody>
      </p:sp>
      <p:sp>
        <p:nvSpPr>
          <p:cNvPr id="16" name="Text 14"/>
          <p:cNvSpPr/>
          <p:nvPr/>
        </p:nvSpPr>
        <p:spPr>
          <a:xfrm>
            <a:off x="2834640" y="2761488"/>
            <a:ext cx="1554480" cy="274320"/>
          </a:xfrm>
          <a:prstGeom prst="rect">
            <a:avLst/>
          </a:prstGeom>
          <a:noFill/>
          <a:ln/>
        </p:spPr>
        <p:txBody>
          <a:bodyPr wrap="square"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 15%</a:t>
            </a:r>
            <a:endParaRPr lang="en-US" sz="1100" dirty="0"/>
          </a:p>
        </p:txBody>
      </p:sp>
      <p:sp>
        <p:nvSpPr>
          <p:cNvPr id="17" name="Shape 15"/>
          <p:cNvSpPr/>
          <p:nvPr/>
        </p:nvSpPr>
        <p:spPr>
          <a:xfrm>
            <a:off x="4754880" y="960120"/>
            <a:ext cx="3931920" cy="2377440"/>
          </a:xfrm>
          <a:prstGeom prst="roundRect">
            <a:avLst>
              <a:gd name="adj" fmla="val 3077"/>
            </a:avLst>
          </a:prstGeom>
          <a:solidFill>
            <a:srgbClr val="FFFFFF"/>
          </a:solidFill>
          <a:ln/>
          <a:effectLst>
            <a:outerShdw blurRad="76200" dist="25400" dir="2700000" algn="bl" rotWithShape="0">
              <a:srgbClr val="000000">
                <a:alpha val="9000"/>
              </a:srgbClr>
            </a:outerShdw>
          </a:effectLst>
        </p:spPr>
        <p:txBody>
          <a:bodyPr/>
          <a:lstStyle/>
          <a:p>
            <a:endParaRPr lang="sr-Latn-RS"/>
          </a:p>
        </p:txBody>
      </p:sp>
      <p:sp>
        <p:nvSpPr>
          <p:cNvPr id="18" name="Text 16"/>
          <p:cNvSpPr/>
          <p:nvPr/>
        </p:nvSpPr>
        <p:spPr>
          <a:xfrm>
            <a:off x="4937760" y="1051560"/>
            <a:ext cx="3566160" cy="320040"/>
          </a:xfrm>
          <a:prstGeom prst="rect">
            <a:avLst/>
          </a:prstGeom>
          <a:noFill/>
          <a:ln/>
        </p:spPr>
        <p:txBody>
          <a:bodyPr wrap="square" rtlCol="0" anchor="ctr"/>
          <a:lstStyle/>
          <a:p>
            <a:pPr marL="0" indent="0">
              <a:buNone/>
            </a:pPr>
            <a:r>
              <a:rPr lang="en-US" sz="1500" b="1" dirty="0">
                <a:solidFill>
                  <a:srgbClr val="1D6A8B"/>
                </a:solidFill>
                <a:latin typeface="Calibri" pitchFamily="34" charset="0"/>
                <a:ea typeface="Calibri" pitchFamily="34" charset="-122"/>
                <a:cs typeface="Calibri" pitchFamily="34" charset="-120"/>
              </a:rPr>
              <a:t>Cell Retention per Sample</a:t>
            </a:r>
            <a:endParaRPr lang="en-US" sz="1500" dirty="0"/>
          </a:p>
        </p:txBody>
      </p:sp>
      <p:sp>
        <p:nvSpPr>
          <p:cNvPr id="19" name="Text 17"/>
          <p:cNvSpPr/>
          <p:nvPr/>
        </p:nvSpPr>
        <p:spPr>
          <a:xfrm>
            <a:off x="4937760" y="1463040"/>
            <a:ext cx="1463040" cy="347472"/>
          </a:xfrm>
          <a:prstGeom prst="rect">
            <a:avLst/>
          </a:prstGeom>
          <a:noFill/>
          <a:ln/>
        </p:spPr>
        <p:txBody>
          <a:bodyPr wrap="square" rtlCol="0" anchor="ctr"/>
          <a:lstStyle/>
          <a:p>
            <a:pPr marL="0" indent="0">
              <a:buNone/>
            </a:pPr>
            <a:r>
              <a:rPr lang="en-US" sz="1200" dirty="0">
                <a:solidFill>
                  <a:srgbClr val="0A2342"/>
                </a:solidFill>
                <a:latin typeface="Calibri" pitchFamily="34" charset="0"/>
                <a:ea typeface="Calibri" pitchFamily="34" charset="-122"/>
                <a:cs typeface="Calibri" pitchFamily="34" charset="-120"/>
              </a:rPr>
              <a:t>40 nm (S1)</a:t>
            </a:r>
            <a:endParaRPr lang="en-US" sz="1200" dirty="0"/>
          </a:p>
        </p:txBody>
      </p:sp>
      <p:sp>
        <p:nvSpPr>
          <p:cNvPr id="20" name="Text 18"/>
          <p:cNvSpPr/>
          <p:nvPr/>
        </p:nvSpPr>
        <p:spPr>
          <a:xfrm>
            <a:off x="6400800" y="1463040"/>
            <a:ext cx="1097280" cy="347472"/>
          </a:xfrm>
          <a:prstGeom prst="rect">
            <a:avLst/>
          </a:prstGeom>
          <a:noFill/>
          <a:ln/>
        </p:spPr>
        <p:txBody>
          <a:bodyPr wrap="square" rtlCol="0" anchor="ctr"/>
          <a:lstStyle/>
          <a:p>
            <a:pPr marL="0" indent="0" algn="r">
              <a:buNone/>
            </a:pPr>
            <a:r>
              <a:rPr lang="en-US" sz="1200" dirty="0">
                <a:solidFill>
                  <a:srgbClr val="0A2342"/>
                </a:solidFill>
                <a:latin typeface="Calibri" pitchFamily="34" charset="0"/>
                <a:ea typeface="Calibri" pitchFamily="34" charset="-122"/>
                <a:cs typeface="Calibri" pitchFamily="34" charset="-120"/>
              </a:rPr>
              <a:t>8,458 cells</a:t>
            </a:r>
            <a:endParaRPr lang="en-US" sz="1200" dirty="0"/>
          </a:p>
        </p:txBody>
      </p:sp>
      <p:sp>
        <p:nvSpPr>
          <p:cNvPr id="21" name="Shape 19"/>
          <p:cNvSpPr/>
          <p:nvPr/>
        </p:nvSpPr>
        <p:spPr>
          <a:xfrm>
            <a:off x="7589520" y="1508760"/>
            <a:ext cx="822960" cy="256032"/>
          </a:xfrm>
          <a:prstGeom prst="roundRect">
            <a:avLst>
              <a:gd name="adj" fmla="val 14286"/>
            </a:avLst>
          </a:prstGeom>
          <a:solidFill>
            <a:srgbClr val="2E8B57">
              <a:alpha val="80000"/>
            </a:srgbClr>
          </a:solidFill>
          <a:ln/>
        </p:spPr>
        <p:txBody>
          <a:bodyPr/>
          <a:lstStyle/>
          <a:p>
            <a:endParaRPr lang="sr-Latn-RS"/>
          </a:p>
        </p:txBody>
      </p:sp>
      <p:sp>
        <p:nvSpPr>
          <p:cNvPr id="22" name="Text 20"/>
          <p:cNvSpPr/>
          <p:nvPr/>
        </p:nvSpPr>
        <p:spPr>
          <a:xfrm>
            <a:off x="7589520" y="1508760"/>
            <a:ext cx="822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97.1%</a:t>
            </a:r>
            <a:endParaRPr lang="en-US" sz="1100" dirty="0"/>
          </a:p>
        </p:txBody>
      </p:sp>
      <p:sp>
        <p:nvSpPr>
          <p:cNvPr id="23" name="Text 21"/>
          <p:cNvSpPr/>
          <p:nvPr/>
        </p:nvSpPr>
        <p:spPr>
          <a:xfrm>
            <a:off x="4937760" y="1883664"/>
            <a:ext cx="1463040" cy="347472"/>
          </a:xfrm>
          <a:prstGeom prst="rect">
            <a:avLst/>
          </a:prstGeom>
          <a:noFill/>
          <a:ln/>
        </p:spPr>
        <p:txBody>
          <a:bodyPr wrap="square" rtlCol="0" anchor="ctr"/>
          <a:lstStyle/>
          <a:p>
            <a:pPr marL="0" indent="0">
              <a:buNone/>
            </a:pPr>
            <a:r>
              <a:rPr lang="en-US" sz="1200" dirty="0">
                <a:solidFill>
                  <a:srgbClr val="0A2342"/>
                </a:solidFill>
                <a:latin typeface="Calibri" pitchFamily="34" charset="0"/>
                <a:ea typeface="Calibri" pitchFamily="34" charset="-122"/>
                <a:cs typeface="Calibri" pitchFamily="34" charset="-120"/>
              </a:rPr>
              <a:t>200 nm (S2)</a:t>
            </a:r>
            <a:endParaRPr lang="en-US" sz="1200" dirty="0"/>
          </a:p>
        </p:txBody>
      </p:sp>
      <p:sp>
        <p:nvSpPr>
          <p:cNvPr id="24" name="Text 22"/>
          <p:cNvSpPr/>
          <p:nvPr/>
        </p:nvSpPr>
        <p:spPr>
          <a:xfrm>
            <a:off x="6400800" y="1883664"/>
            <a:ext cx="1097280" cy="347472"/>
          </a:xfrm>
          <a:prstGeom prst="rect">
            <a:avLst/>
          </a:prstGeom>
          <a:noFill/>
          <a:ln/>
        </p:spPr>
        <p:txBody>
          <a:bodyPr wrap="square" rtlCol="0" anchor="ctr"/>
          <a:lstStyle/>
          <a:p>
            <a:pPr marL="0" indent="0" algn="r">
              <a:buNone/>
            </a:pPr>
            <a:r>
              <a:rPr lang="en-US" sz="1200" dirty="0">
                <a:solidFill>
                  <a:srgbClr val="0A2342"/>
                </a:solidFill>
                <a:latin typeface="Calibri" pitchFamily="34" charset="0"/>
                <a:ea typeface="Calibri" pitchFamily="34" charset="-122"/>
                <a:cs typeface="Calibri" pitchFamily="34" charset="-120"/>
              </a:rPr>
              <a:t>12,421 cells</a:t>
            </a:r>
            <a:endParaRPr lang="en-US" sz="1200" dirty="0"/>
          </a:p>
        </p:txBody>
      </p:sp>
      <p:sp>
        <p:nvSpPr>
          <p:cNvPr id="25" name="Shape 23"/>
          <p:cNvSpPr/>
          <p:nvPr/>
        </p:nvSpPr>
        <p:spPr>
          <a:xfrm>
            <a:off x="7589520" y="1929384"/>
            <a:ext cx="822960" cy="256032"/>
          </a:xfrm>
          <a:prstGeom prst="roundRect">
            <a:avLst>
              <a:gd name="adj" fmla="val 14286"/>
            </a:avLst>
          </a:prstGeom>
          <a:solidFill>
            <a:srgbClr val="2E8B57">
              <a:alpha val="80000"/>
            </a:srgbClr>
          </a:solidFill>
          <a:ln/>
        </p:spPr>
        <p:txBody>
          <a:bodyPr/>
          <a:lstStyle/>
          <a:p>
            <a:endParaRPr lang="sr-Latn-RS"/>
          </a:p>
        </p:txBody>
      </p:sp>
      <p:sp>
        <p:nvSpPr>
          <p:cNvPr id="26" name="Text 24"/>
          <p:cNvSpPr/>
          <p:nvPr/>
        </p:nvSpPr>
        <p:spPr>
          <a:xfrm>
            <a:off x="7589520" y="1929384"/>
            <a:ext cx="822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98.0%</a:t>
            </a:r>
            <a:endParaRPr lang="en-US" sz="1100" dirty="0"/>
          </a:p>
        </p:txBody>
      </p:sp>
      <p:sp>
        <p:nvSpPr>
          <p:cNvPr id="27" name="Text 25"/>
          <p:cNvSpPr/>
          <p:nvPr/>
        </p:nvSpPr>
        <p:spPr>
          <a:xfrm>
            <a:off x="4937760" y="2304288"/>
            <a:ext cx="1463040" cy="347472"/>
          </a:xfrm>
          <a:prstGeom prst="rect">
            <a:avLst/>
          </a:prstGeom>
          <a:noFill/>
          <a:ln/>
        </p:spPr>
        <p:txBody>
          <a:bodyPr wrap="square" rtlCol="0" anchor="ctr"/>
          <a:lstStyle/>
          <a:p>
            <a:pPr marL="0" indent="0">
              <a:buNone/>
            </a:pPr>
            <a:r>
              <a:rPr lang="en-US" sz="1200" dirty="0">
                <a:solidFill>
                  <a:srgbClr val="0A2342"/>
                </a:solidFill>
                <a:latin typeface="Calibri" pitchFamily="34" charset="0"/>
                <a:ea typeface="Calibri" pitchFamily="34" charset="-122"/>
                <a:cs typeface="Calibri" pitchFamily="34" charset="-120"/>
              </a:rPr>
              <a:t>Mix (S3)</a:t>
            </a:r>
            <a:endParaRPr lang="en-US" sz="1200" dirty="0"/>
          </a:p>
        </p:txBody>
      </p:sp>
      <p:sp>
        <p:nvSpPr>
          <p:cNvPr id="28" name="Text 26"/>
          <p:cNvSpPr/>
          <p:nvPr/>
        </p:nvSpPr>
        <p:spPr>
          <a:xfrm>
            <a:off x="6400800" y="2304288"/>
            <a:ext cx="1097280" cy="347472"/>
          </a:xfrm>
          <a:prstGeom prst="rect">
            <a:avLst/>
          </a:prstGeom>
          <a:noFill/>
          <a:ln/>
        </p:spPr>
        <p:txBody>
          <a:bodyPr wrap="square" rtlCol="0" anchor="ctr"/>
          <a:lstStyle/>
          <a:p>
            <a:pPr marL="0" indent="0" algn="r">
              <a:buNone/>
            </a:pPr>
            <a:r>
              <a:rPr lang="en-US" sz="1200" dirty="0">
                <a:solidFill>
                  <a:srgbClr val="0A2342"/>
                </a:solidFill>
                <a:latin typeface="Calibri" pitchFamily="34" charset="0"/>
                <a:ea typeface="Calibri" pitchFamily="34" charset="-122"/>
                <a:cs typeface="Calibri" pitchFamily="34" charset="-120"/>
              </a:rPr>
              <a:t>6,005 cells</a:t>
            </a:r>
            <a:endParaRPr lang="en-US" sz="1200" dirty="0"/>
          </a:p>
        </p:txBody>
      </p:sp>
      <p:sp>
        <p:nvSpPr>
          <p:cNvPr id="29" name="Shape 27"/>
          <p:cNvSpPr/>
          <p:nvPr/>
        </p:nvSpPr>
        <p:spPr>
          <a:xfrm>
            <a:off x="7589520" y="2350008"/>
            <a:ext cx="822960" cy="256032"/>
          </a:xfrm>
          <a:prstGeom prst="roundRect">
            <a:avLst>
              <a:gd name="adj" fmla="val 14286"/>
            </a:avLst>
          </a:prstGeom>
          <a:solidFill>
            <a:srgbClr val="2E8B57">
              <a:alpha val="80000"/>
            </a:srgbClr>
          </a:solidFill>
          <a:ln/>
        </p:spPr>
        <p:txBody>
          <a:bodyPr/>
          <a:lstStyle/>
          <a:p>
            <a:endParaRPr lang="sr-Latn-RS"/>
          </a:p>
        </p:txBody>
      </p:sp>
      <p:sp>
        <p:nvSpPr>
          <p:cNvPr id="30" name="Text 28"/>
          <p:cNvSpPr/>
          <p:nvPr/>
        </p:nvSpPr>
        <p:spPr>
          <a:xfrm>
            <a:off x="7589520" y="2350008"/>
            <a:ext cx="822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96.9%</a:t>
            </a:r>
            <a:endParaRPr lang="en-US" sz="1100" dirty="0"/>
          </a:p>
        </p:txBody>
      </p:sp>
      <p:sp>
        <p:nvSpPr>
          <p:cNvPr id="31" name="Text 29"/>
          <p:cNvSpPr/>
          <p:nvPr/>
        </p:nvSpPr>
        <p:spPr>
          <a:xfrm>
            <a:off x="4937760" y="2724912"/>
            <a:ext cx="1463040" cy="347472"/>
          </a:xfrm>
          <a:prstGeom prst="rect">
            <a:avLst/>
          </a:prstGeom>
          <a:noFill/>
          <a:ln/>
        </p:spPr>
        <p:txBody>
          <a:bodyPr wrap="square" rtlCol="0" anchor="ctr"/>
          <a:lstStyle/>
          <a:p>
            <a:pPr marL="0" indent="0">
              <a:buNone/>
            </a:pPr>
            <a:r>
              <a:rPr lang="en-US" sz="1200" dirty="0">
                <a:solidFill>
                  <a:srgbClr val="0A2342"/>
                </a:solidFill>
                <a:latin typeface="Calibri" pitchFamily="34" charset="0"/>
                <a:ea typeface="Calibri" pitchFamily="34" charset="-122"/>
                <a:cs typeface="Calibri" pitchFamily="34" charset="-120"/>
              </a:rPr>
              <a:t>Control (S4)</a:t>
            </a:r>
            <a:endParaRPr lang="en-US" sz="1200" dirty="0"/>
          </a:p>
        </p:txBody>
      </p:sp>
      <p:sp>
        <p:nvSpPr>
          <p:cNvPr id="32" name="Text 30"/>
          <p:cNvSpPr/>
          <p:nvPr/>
        </p:nvSpPr>
        <p:spPr>
          <a:xfrm>
            <a:off x="6400800" y="2724912"/>
            <a:ext cx="1097280" cy="347472"/>
          </a:xfrm>
          <a:prstGeom prst="rect">
            <a:avLst/>
          </a:prstGeom>
          <a:noFill/>
          <a:ln/>
        </p:spPr>
        <p:txBody>
          <a:bodyPr wrap="square" rtlCol="0" anchor="ctr"/>
          <a:lstStyle/>
          <a:p>
            <a:pPr marL="0" indent="0" algn="r">
              <a:buNone/>
            </a:pPr>
            <a:r>
              <a:rPr lang="en-US" sz="1200" dirty="0">
                <a:solidFill>
                  <a:srgbClr val="0A2342"/>
                </a:solidFill>
                <a:latin typeface="Calibri" pitchFamily="34" charset="0"/>
                <a:ea typeface="Calibri" pitchFamily="34" charset="-122"/>
                <a:cs typeface="Calibri" pitchFamily="34" charset="-120"/>
              </a:rPr>
              <a:t>6,356 cells</a:t>
            </a:r>
            <a:endParaRPr lang="en-US" sz="1200" dirty="0"/>
          </a:p>
        </p:txBody>
      </p:sp>
      <p:sp>
        <p:nvSpPr>
          <p:cNvPr id="33" name="Shape 31"/>
          <p:cNvSpPr/>
          <p:nvPr/>
        </p:nvSpPr>
        <p:spPr>
          <a:xfrm>
            <a:off x="7589520" y="2770632"/>
            <a:ext cx="822960" cy="256032"/>
          </a:xfrm>
          <a:prstGeom prst="roundRect">
            <a:avLst>
              <a:gd name="adj" fmla="val 14286"/>
            </a:avLst>
          </a:prstGeom>
          <a:solidFill>
            <a:srgbClr val="2E8B57">
              <a:alpha val="80000"/>
            </a:srgbClr>
          </a:solidFill>
          <a:ln/>
        </p:spPr>
        <p:txBody>
          <a:bodyPr/>
          <a:lstStyle/>
          <a:p>
            <a:endParaRPr lang="sr-Latn-RS"/>
          </a:p>
        </p:txBody>
      </p:sp>
      <p:sp>
        <p:nvSpPr>
          <p:cNvPr id="34" name="Text 32"/>
          <p:cNvSpPr/>
          <p:nvPr/>
        </p:nvSpPr>
        <p:spPr>
          <a:xfrm>
            <a:off x="7589520" y="2770632"/>
            <a:ext cx="822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97.5%</a:t>
            </a:r>
            <a:endParaRPr lang="en-US" sz="1100" dirty="0"/>
          </a:p>
        </p:txBody>
      </p:sp>
      <p:sp>
        <p:nvSpPr>
          <p:cNvPr id="35" name="Shape 33"/>
          <p:cNvSpPr/>
          <p:nvPr/>
        </p:nvSpPr>
        <p:spPr>
          <a:xfrm>
            <a:off x="457200" y="3474720"/>
            <a:ext cx="8229600" cy="1280160"/>
          </a:xfrm>
          <a:prstGeom prst="roundRect">
            <a:avLst>
              <a:gd name="adj" fmla="val 5714"/>
            </a:avLst>
          </a:prstGeom>
          <a:solidFill>
            <a:srgbClr val="0A2342"/>
          </a:solidFill>
          <a:ln/>
        </p:spPr>
        <p:txBody>
          <a:bodyPr/>
          <a:lstStyle/>
          <a:p>
            <a:endParaRPr lang="sr-Latn-RS"/>
          </a:p>
        </p:txBody>
      </p:sp>
      <p:sp>
        <p:nvSpPr>
          <p:cNvPr id="36" name="Text 34"/>
          <p:cNvSpPr/>
          <p:nvPr/>
        </p:nvSpPr>
        <p:spPr>
          <a:xfrm>
            <a:off x="685800" y="3566160"/>
            <a:ext cx="7772400" cy="292608"/>
          </a:xfrm>
          <a:prstGeom prst="rect">
            <a:avLst/>
          </a:prstGeom>
          <a:noFill/>
          <a:ln/>
        </p:spPr>
        <p:txBody>
          <a:bodyPr wrap="square" rtlCol="0" anchor="ctr"/>
          <a:lstStyle/>
          <a:p>
            <a:pPr marL="0" indent="0">
              <a:buNone/>
            </a:pPr>
            <a:r>
              <a:rPr lang="en-US" sz="1300" b="1" dirty="0">
                <a:solidFill>
                  <a:srgbClr val="2AABCC"/>
                </a:solidFill>
                <a:latin typeface="Calibri" pitchFamily="34" charset="0"/>
                <a:ea typeface="Calibri" pitchFamily="34" charset="-122"/>
                <a:cs typeface="Calibri" pitchFamily="34" charset="-120"/>
              </a:rPr>
              <a:t>Normalisation steps applied:</a:t>
            </a:r>
            <a:endParaRPr lang="en-US" sz="1300" dirty="0"/>
          </a:p>
        </p:txBody>
      </p:sp>
      <p:sp>
        <p:nvSpPr>
          <p:cNvPr id="37" name="Text 35"/>
          <p:cNvSpPr/>
          <p:nvPr/>
        </p:nvSpPr>
        <p:spPr>
          <a:xfrm>
            <a:off x="685800" y="3886200"/>
            <a:ext cx="7772400" cy="777240"/>
          </a:xfrm>
          <a:prstGeom prst="rect">
            <a:avLst/>
          </a:prstGeom>
          <a:noFill/>
          <a:ln/>
        </p:spPr>
        <p:txBody>
          <a:bodyPr wrap="square" rtlCol="0" anchor="ctr"/>
          <a:lstStyle/>
          <a:p>
            <a:pPr marL="0" indent="0">
              <a:buNone/>
            </a:pPr>
            <a:r>
              <a:rPr lang="en-US" sz="1100" dirty="0">
                <a:solidFill>
                  <a:srgbClr val="D6EEF5"/>
                </a:solidFill>
                <a:latin typeface="Calibri" pitchFamily="34" charset="0"/>
                <a:ea typeface="Calibri" pitchFamily="34" charset="-122"/>
                <a:cs typeface="Calibri" pitchFamily="34" charset="-120"/>
              </a:rPr>
              <a:t>Library-size normalisation (10,000 counts/cell)</a:t>
            </a:r>
            <a:endParaRPr lang="en-US" sz="1100" dirty="0"/>
          </a:p>
          <a:p>
            <a:pPr marL="0" indent="0">
              <a:buNone/>
            </a:pPr>
            <a:r>
              <a:rPr lang="en-US" sz="1100" dirty="0">
                <a:solidFill>
                  <a:srgbClr val="D6EEF5"/>
                </a:solidFill>
                <a:latin typeface="Calibri" pitchFamily="34" charset="0"/>
                <a:ea typeface="Calibri" pitchFamily="34" charset="-122"/>
                <a:cs typeface="Calibri" pitchFamily="34" charset="-120"/>
              </a:rPr>
              <a:t>Log1p transform</a:t>
            </a:r>
            <a:endParaRPr lang="en-US" sz="1100" dirty="0"/>
          </a:p>
          <a:p>
            <a:pPr marL="0" indent="0">
              <a:buNone/>
            </a:pPr>
            <a:r>
              <a:rPr lang="en-US" sz="1100" dirty="0">
                <a:solidFill>
                  <a:srgbClr val="D6EEF5"/>
                </a:solidFill>
                <a:latin typeface="Calibri" pitchFamily="34" charset="0"/>
                <a:ea typeface="Calibri" pitchFamily="34" charset="-122"/>
                <a:cs typeface="Calibri" pitchFamily="34" charset="-120"/>
              </a:rPr>
              <a:t>3,000 HVG selection (batch-aware, Seurat flavour)</a:t>
            </a:r>
            <a:endParaRPr lang="en-US" sz="1100" dirty="0"/>
          </a:p>
          <a:p>
            <a:pPr marL="0" indent="0">
              <a:buNone/>
            </a:pPr>
            <a:r>
              <a:rPr lang="en-US" sz="1100" dirty="0">
                <a:solidFill>
                  <a:srgbClr val="D6EEF5"/>
                </a:solidFill>
                <a:latin typeface="Calibri" pitchFamily="34" charset="0"/>
                <a:ea typeface="Calibri" pitchFamily="34" charset="-122"/>
                <a:cs typeface="Calibri" pitchFamily="34" charset="-120"/>
              </a:rPr>
              <a:t>Z-score scaling per gene (max ±10)</a:t>
            </a:r>
            <a:endParaRPr lang="en-US" sz="1100" dirty="0"/>
          </a:p>
          <a:p>
            <a:pPr marL="0" indent="0">
              <a:buNone/>
            </a:pPr>
            <a:r>
              <a:rPr lang="en-US" sz="1100" dirty="0">
                <a:solidFill>
                  <a:srgbClr val="D6EEF5"/>
                </a:solidFill>
                <a:latin typeface="Calibri" pitchFamily="34" charset="0"/>
                <a:ea typeface="Calibri" pitchFamily="34" charset="-122"/>
                <a:cs typeface="Calibri" pitchFamily="34" charset="-120"/>
              </a:rPr>
              <a:t>PCA (30 components)  →  ComBat batch correction  →  kNN (k=15)  →  UMAP  →  Leiden (res 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600" b="1" dirty="0">
                <a:solidFill>
                  <a:srgbClr val="0A2342"/>
                </a:solidFill>
                <a:latin typeface="Cambria" pitchFamily="34" charset="0"/>
                <a:ea typeface="Cambria" pitchFamily="34" charset="-122"/>
                <a:cs typeface="Cambria" pitchFamily="34" charset="-120"/>
              </a:rPr>
              <a:t>Integration, UMAP &amp; Clustering</a:t>
            </a:r>
            <a:endParaRPr lang="en-US" sz="3600" dirty="0"/>
          </a:p>
        </p:txBody>
      </p:sp>
      <p:pic>
        <p:nvPicPr>
          <p:cNvPr id="30" name="UMAP Condition"/>
          <p:cNvPicPr>
            <a:picLocks noChangeAspect="1"/>
          </p:cNvPicPr>
          <p:nvPr/>
        </p:nvPicPr>
        <p:blipFill>
          <a:blip r:embed="rId3"/>
          <a:stretch>
            <a:fillRect/>
          </a:stretch>
        </p:blipFill>
        <p:spPr>
          <a:xfrm>
            <a:off x="457200" y="896112"/>
            <a:ext cx="2641600" cy="1748433"/>
          </a:xfrm>
          <a:prstGeom prst="rect">
            <a:avLst/>
          </a:prstGeom>
        </p:spPr>
      </p:pic>
      <p:pic>
        <p:nvPicPr>
          <p:cNvPr id="31" name="UMAP Clusters"/>
          <p:cNvPicPr>
            <a:picLocks noChangeAspect="1"/>
          </p:cNvPicPr>
          <p:nvPr/>
        </p:nvPicPr>
        <p:blipFill>
          <a:blip r:embed="rId4"/>
          <a:stretch>
            <a:fillRect/>
          </a:stretch>
        </p:blipFill>
        <p:spPr>
          <a:xfrm>
            <a:off x="3598085" y="896112"/>
            <a:ext cx="1947830" cy="1748433"/>
          </a:xfrm>
          <a:prstGeom prst="rect">
            <a:avLst/>
          </a:prstGeom>
        </p:spPr>
      </p:pic>
      <p:pic>
        <p:nvPicPr>
          <p:cNvPr id="32" name="UMAP Cell Types"/>
          <p:cNvPicPr>
            <a:picLocks noChangeAspect="1"/>
          </p:cNvPicPr>
          <p:nvPr/>
        </p:nvPicPr>
        <p:blipFill>
          <a:blip r:embed="rId5"/>
          <a:stretch>
            <a:fillRect/>
          </a:stretch>
        </p:blipFill>
        <p:spPr>
          <a:xfrm>
            <a:off x="6045200" y="995328"/>
            <a:ext cx="1661990" cy="1550000"/>
          </a:xfrm>
          <a:prstGeom prst="rect">
            <a:avLst/>
          </a:prstGeom>
        </p:spPr>
      </p:pic>
      <p:sp>
        <p:nvSpPr>
          <p:cNvPr id="40" name="Legend Swatch 1"/>
          <p:cNvSpPr/>
          <p:nvPr/>
        </p:nvSpPr>
        <p:spPr>
          <a:xfrm>
            <a:off x="7757190" y="1010000"/>
            <a:ext cx="100000" cy="100000"/>
          </a:xfrm>
          <a:prstGeom prst="rect">
            <a:avLst/>
          </a:prstGeom>
          <a:solidFill>
            <a:srgbClr val="3274A1"/>
          </a:solidFill>
          <a:ln>
            <a:noFill/>
          </a:ln>
        </p:spPr>
        <p:txBody>
          <a:bodyPr/>
          <a:lstStyle/>
          <a:p>
            <a:endParaRPr lang="sr-Latn-RS"/>
          </a:p>
        </p:txBody>
      </p:sp>
      <p:sp>
        <p:nvSpPr>
          <p:cNvPr id="41" name="Legend Text 1"/>
          <p:cNvSpPr/>
          <p:nvPr/>
        </p:nvSpPr>
        <p:spPr>
          <a:xfrm>
            <a:off x="7877190" y="970000"/>
            <a:ext cx="809610" cy="180000"/>
          </a:xfrm>
          <a:prstGeom prst="rect">
            <a:avLst/>
          </a:prstGeom>
          <a:noFill/>
          <a:ln/>
        </p:spPr>
        <p:txBody>
          <a:bodyPr wrap="square" rtlCol="0" anchor="ctr">
            <a:noAutofit/>
          </a:bodyPr>
          <a:lstStyle/>
          <a:p>
            <a:pPr marL="0" indent="0" algn="l">
              <a:buNone/>
            </a:pPr>
            <a:r>
              <a:rPr lang="en-US" sz="700" dirty="0">
                <a:solidFill>
                  <a:srgbClr val="0A2342"/>
                </a:solidFill>
                <a:latin typeface="Calibri" pitchFamily="34" charset="0"/>
              </a:rPr>
              <a:t>B cell</a:t>
            </a:r>
          </a:p>
        </p:txBody>
      </p:sp>
      <p:sp>
        <p:nvSpPr>
          <p:cNvPr id="42" name="Legend Swatch 2"/>
          <p:cNvSpPr/>
          <p:nvPr/>
        </p:nvSpPr>
        <p:spPr>
          <a:xfrm>
            <a:off x="7757190" y="1203750"/>
            <a:ext cx="100000" cy="100000"/>
          </a:xfrm>
          <a:prstGeom prst="rect">
            <a:avLst/>
          </a:prstGeom>
          <a:solidFill>
            <a:srgbClr val="E1812C"/>
          </a:solidFill>
          <a:ln>
            <a:noFill/>
          </a:ln>
        </p:spPr>
        <p:txBody>
          <a:bodyPr/>
          <a:lstStyle/>
          <a:p>
            <a:endParaRPr lang="sr-Latn-RS"/>
          </a:p>
        </p:txBody>
      </p:sp>
      <p:sp>
        <p:nvSpPr>
          <p:cNvPr id="43" name="Legend Text 2"/>
          <p:cNvSpPr/>
          <p:nvPr/>
        </p:nvSpPr>
        <p:spPr>
          <a:xfrm>
            <a:off x="7877190" y="1163750"/>
            <a:ext cx="809610" cy="180000"/>
          </a:xfrm>
          <a:prstGeom prst="rect">
            <a:avLst/>
          </a:prstGeom>
          <a:noFill/>
          <a:ln/>
        </p:spPr>
        <p:txBody>
          <a:bodyPr wrap="square" rtlCol="0" anchor="ctr">
            <a:noAutofit/>
          </a:bodyPr>
          <a:lstStyle/>
          <a:p>
            <a:pPr marL="0" indent="0" algn="l">
              <a:buNone/>
            </a:pPr>
            <a:r>
              <a:rPr lang="en-US" sz="700" dirty="0">
                <a:solidFill>
                  <a:srgbClr val="0A2342"/>
                </a:solidFill>
                <a:latin typeface="Calibri" pitchFamily="34" charset="0"/>
              </a:rPr>
              <a:t>CD4+ T</a:t>
            </a:r>
          </a:p>
        </p:txBody>
      </p:sp>
      <p:sp>
        <p:nvSpPr>
          <p:cNvPr id="44" name="Legend Swatch 3"/>
          <p:cNvSpPr/>
          <p:nvPr/>
        </p:nvSpPr>
        <p:spPr>
          <a:xfrm>
            <a:off x="7757190" y="1397500"/>
            <a:ext cx="100000" cy="100000"/>
          </a:xfrm>
          <a:prstGeom prst="rect">
            <a:avLst/>
          </a:prstGeom>
          <a:solidFill>
            <a:srgbClr val="368F67"/>
          </a:solidFill>
          <a:ln>
            <a:noFill/>
          </a:ln>
        </p:spPr>
        <p:txBody>
          <a:bodyPr/>
          <a:lstStyle/>
          <a:p>
            <a:endParaRPr lang="sr-Latn-RS"/>
          </a:p>
        </p:txBody>
      </p:sp>
      <p:sp>
        <p:nvSpPr>
          <p:cNvPr id="45" name="Legend Text 3"/>
          <p:cNvSpPr/>
          <p:nvPr/>
        </p:nvSpPr>
        <p:spPr>
          <a:xfrm>
            <a:off x="7877190" y="1357500"/>
            <a:ext cx="809610" cy="180000"/>
          </a:xfrm>
          <a:prstGeom prst="rect">
            <a:avLst/>
          </a:prstGeom>
          <a:noFill/>
          <a:ln/>
        </p:spPr>
        <p:txBody>
          <a:bodyPr wrap="square" rtlCol="0" anchor="ctr">
            <a:noAutofit/>
          </a:bodyPr>
          <a:lstStyle/>
          <a:p>
            <a:pPr marL="0" indent="0" algn="l">
              <a:buNone/>
            </a:pPr>
            <a:r>
              <a:rPr lang="en-US" sz="700" dirty="0">
                <a:solidFill>
                  <a:srgbClr val="0A2342"/>
                </a:solidFill>
                <a:latin typeface="Calibri" pitchFamily="34" charset="0"/>
              </a:rPr>
              <a:t>CD8+ T</a:t>
            </a:r>
          </a:p>
        </p:txBody>
      </p:sp>
      <p:sp>
        <p:nvSpPr>
          <p:cNvPr id="46" name="Legend Swatch 4"/>
          <p:cNvSpPr/>
          <p:nvPr/>
        </p:nvSpPr>
        <p:spPr>
          <a:xfrm>
            <a:off x="7757190" y="1591250"/>
            <a:ext cx="100000" cy="100000"/>
          </a:xfrm>
          <a:prstGeom prst="rect">
            <a:avLst/>
          </a:prstGeom>
          <a:solidFill>
            <a:srgbClr val="C03D3E"/>
          </a:solidFill>
          <a:ln>
            <a:noFill/>
          </a:ln>
        </p:spPr>
        <p:txBody>
          <a:bodyPr/>
          <a:lstStyle/>
          <a:p>
            <a:endParaRPr lang="sr-Latn-RS"/>
          </a:p>
        </p:txBody>
      </p:sp>
      <p:sp>
        <p:nvSpPr>
          <p:cNvPr id="47" name="Legend Text 4"/>
          <p:cNvSpPr/>
          <p:nvPr/>
        </p:nvSpPr>
        <p:spPr>
          <a:xfrm>
            <a:off x="7877190" y="1551250"/>
            <a:ext cx="809610" cy="180000"/>
          </a:xfrm>
          <a:prstGeom prst="rect">
            <a:avLst/>
          </a:prstGeom>
          <a:noFill/>
          <a:ln/>
        </p:spPr>
        <p:txBody>
          <a:bodyPr wrap="square" rtlCol="0" anchor="ctr">
            <a:noAutofit/>
          </a:bodyPr>
          <a:lstStyle/>
          <a:p>
            <a:pPr marL="0" indent="0" algn="l">
              <a:buNone/>
            </a:pPr>
            <a:r>
              <a:rPr lang="en-US" sz="700" dirty="0">
                <a:solidFill>
                  <a:srgbClr val="0A2342"/>
                </a:solidFill>
                <a:latin typeface="Calibri" pitchFamily="34" charset="0"/>
              </a:rPr>
              <a:t>DC</a:t>
            </a:r>
          </a:p>
        </p:txBody>
      </p:sp>
      <p:sp>
        <p:nvSpPr>
          <p:cNvPr id="48" name="Legend Swatch 5"/>
          <p:cNvSpPr/>
          <p:nvPr/>
        </p:nvSpPr>
        <p:spPr>
          <a:xfrm>
            <a:off x="7757190" y="1785000"/>
            <a:ext cx="100000" cy="100000"/>
          </a:xfrm>
          <a:prstGeom prst="rect">
            <a:avLst/>
          </a:prstGeom>
          <a:solidFill>
            <a:srgbClr val="A758E5"/>
          </a:solidFill>
          <a:ln>
            <a:noFill/>
          </a:ln>
        </p:spPr>
        <p:txBody>
          <a:bodyPr/>
          <a:lstStyle/>
          <a:p>
            <a:endParaRPr lang="sr-Latn-RS"/>
          </a:p>
        </p:txBody>
      </p:sp>
      <p:sp>
        <p:nvSpPr>
          <p:cNvPr id="49" name="Legend Text 5"/>
          <p:cNvSpPr/>
          <p:nvPr/>
        </p:nvSpPr>
        <p:spPr>
          <a:xfrm>
            <a:off x="7877190" y="1745000"/>
            <a:ext cx="809610" cy="180000"/>
          </a:xfrm>
          <a:prstGeom prst="rect">
            <a:avLst/>
          </a:prstGeom>
          <a:noFill/>
          <a:ln/>
        </p:spPr>
        <p:txBody>
          <a:bodyPr wrap="square" rtlCol="0" anchor="ctr">
            <a:noAutofit/>
          </a:bodyPr>
          <a:lstStyle/>
          <a:p>
            <a:pPr marL="0" indent="0" algn="l">
              <a:buNone/>
            </a:pPr>
            <a:r>
              <a:rPr lang="en-US" sz="700" dirty="0">
                <a:solidFill>
                  <a:srgbClr val="0A2342"/>
                </a:solidFill>
                <a:latin typeface="Calibri" pitchFamily="34" charset="0"/>
              </a:rPr>
              <a:t>Mono CD14</a:t>
            </a:r>
          </a:p>
        </p:txBody>
      </p:sp>
      <p:sp>
        <p:nvSpPr>
          <p:cNvPr id="50" name="Legend Swatch 6"/>
          <p:cNvSpPr/>
          <p:nvPr/>
        </p:nvSpPr>
        <p:spPr>
          <a:xfrm>
            <a:off x="7757190" y="1978750"/>
            <a:ext cx="100000" cy="100000"/>
          </a:xfrm>
          <a:prstGeom prst="rect">
            <a:avLst/>
          </a:prstGeom>
          <a:solidFill>
            <a:srgbClr val="845B53"/>
          </a:solidFill>
          <a:ln>
            <a:noFill/>
          </a:ln>
        </p:spPr>
        <p:txBody>
          <a:bodyPr/>
          <a:lstStyle/>
          <a:p>
            <a:endParaRPr lang="sr-Latn-RS"/>
          </a:p>
        </p:txBody>
      </p:sp>
      <p:sp>
        <p:nvSpPr>
          <p:cNvPr id="51" name="Legend Text 6"/>
          <p:cNvSpPr/>
          <p:nvPr/>
        </p:nvSpPr>
        <p:spPr>
          <a:xfrm>
            <a:off x="7877190" y="1938750"/>
            <a:ext cx="809610" cy="180000"/>
          </a:xfrm>
          <a:prstGeom prst="rect">
            <a:avLst/>
          </a:prstGeom>
          <a:noFill/>
          <a:ln/>
        </p:spPr>
        <p:txBody>
          <a:bodyPr wrap="square" rtlCol="0" anchor="ctr">
            <a:noAutofit/>
          </a:bodyPr>
          <a:lstStyle/>
          <a:p>
            <a:pPr marL="0" indent="0" algn="l">
              <a:buNone/>
            </a:pPr>
            <a:r>
              <a:rPr lang="en-US" sz="700" dirty="0">
                <a:solidFill>
                  <a:srgbClr val="0A2342"/>
                </a:solidFill>
                <a:latin typeface="Calibri" pitchFamily="34" charset="0"/>
              </a:rPr>
              <a:t>Mono CD16</a:t>
            </a:r>
          </a:p>
        </p:txBody>
      </p:sp>
      <p:sp>
        <p:nvSpPr>
          <p:cNvPr id="52" name="Legend Swatch 7"/>
          <p:cNvSpPr/>
          <p:nvPr/>
        </p:nvSpPr>
        <p:spPr>
          <a:xfrm>
            <a:off x="7757190" y="2172500"/>
            <a:ext cx="100000" cy="100000"/>
          </a:xfrm>
          <a:prstGeom prst="rect">
            <a:avLst/>
          </a:prstGeom>
          <a:solidFill>
            <a:srgbClr val="D684BD"/>
          </a:solidFill>
          <a:ln>
            <a:noFill/>
          </a:ln>
        </p:spPr>
        <p:txBody>
          <a:bodyPr/>
          <a:lstStyle/>
          <a:p>
            <a:endParaRPr lang="sr-Latn-RS"/>
          </a:p>
        </p:txBody>
      </p:sp>
      <p:sp>
        <p:nvSpPr>
          <p:cNvPr id="53" name="Legend Text 7"/>
          <p:cNvSpPr/>
          <p:nvPr/>
        </p:nvSpPr>
        <p:spPr>
          <a:xfrm>
            <a:off x="7877190" y="2132500"/>
            <a:ext cx="809610" cy="180000"/>
          </a:xfrm>
          <a:prstGeom prst="rect">
            <a:avLst/>
          </a:prstGeom>
          <a:noFill/>
          <a:ln/>
        </p:spPr>
        <p:txBody>
          <a:bodyPr wrap="square" rtlCol="0" anchor="ctr">
            <a:noAutofit/>
          </a:bodyPr>
          <a:lstStyle/>
          <a:p>
            <a:pPr marL="0" indent="0" algn="l">
              <a:buNone/>
            </a:pPr>
            <a:r>
              <a:rPr lang="en-US" sz="700" dirty="0">
                <a:solidFill>
                  <a:srgbClr val="0A2342"/>
                </a:solidFill>
                <a:latin typeface="Calibri" pitchFamily="34" charset="0"/>
              </a:rPr>
              <a:t>NK cell</a:t>
            </a:r>
          </a:p>
        </p:txBody>
      </p:sp>
      <p:sp>
        <p:nvSpPr>
          <p:cNvPr id="54" name="Legend Swatch 8"/>
          <p:cNvSpPr/>
          <p:nvPr/>
        </p:nvSpPr>
        <p:spPr>
          <a:xfrm>
            <a:off x="7757190" y="2366250"/>
            <a:ext cx="100000" cy="100000"/>
          </a:xfrm>
          <a:prstGeom prst="rect">
            <a:avLst/>
          </a:prstGeom>
          <a:solidFill>
            <a:srgbClr val="ACB26D"/>
          </a:solidFill>
          <a:ln>
            <a:noFill/>
          </a:ln>
        </p:spPr>
        <p:txBody>
          <a:bodyPr/>
          <a:lstStyle/>
          <a:p>
            <a:endParaRPr lang="sr-Latn-RS"/>
          </a:p>
        </p:txBody>
      </p:sp>
      <p:sp>
        <p:nvSpPr>
          <p:cNvPr id="55" name="Legend Text 8"/>
          <p:cNvSpPr/>
          <p:nvPr/>
        </p:nvSpPr>
        <p:spPr>
          <a:xfrm>
            <a:off x="7877190" y="2326250"/>
            <a:ext cx="809610" cy="180000"/>
          </a:xfrm>
          <a:prstGeom prst="rect">
            <a:avLst/>
          </a:prstGeom>
          <a:noFill/>
          <a:ln/>
        </p:spPr>
        <p:txBody>
          <a:bodyPr wrap="square" rtlCol="0" anchor="ctr">
            <a:noAutofit/>
          </a:bodyPr>
          <a:lstStyle/>
          <a:p>
            <a:pPr marL="0" indent="0" algn="l">
              <a:buNone/>
            </a:pPr>
            <a:r>
              <a:rPr lang="en-US" sz="700" dirty="0">
                <a:solidFill>
                  <a:srgbClr val="0A2342"/>
                </a:solidFill>
                <a:latin typeface="Calibri" pitchFamily="34" charset="0"/>
              </a:rPr>
              <a:t>Platelet</a:t>
            </a:r>
          </a:p>
        </p:txBody>
      </p:sp>
      <p:sp>
        <p:nvSpPr>
          <p:cNvPr id="4" name="Caption Title 1"/>
          <p:cNvSpPr/>
          <p:nvPr/>
        </p:nvSpPr>
        <p:spPr>
          <a:xfrm>
            <a:off x="457200" y="2704545"/>
            <a:ext cx="2641600" cy="246960"/>
          </a:xfrm>
          <a:prstGeom prst="rect">
            <a:avLst/>
          </a:prstGeom>
          <a:noFill/>
          <a:ln/>
        </p:spPr>
        <p:txBody>
          <a:bodyPr wrap="square" rtlCol="0" anchor="t"/>
          <a:lstStyle/>
          <a:p>
            <a:pPr marL="0" indent="0" algn="ctr">
              <a:buNone/>
            </a:pPr>
            <a:r>
              <a:rPr lang="en-US" sz="1300" b="1" dirty="0">
                <a:solidFill>
                  <a:srgbClr val="1D6A8B"/>
                </a:solidFill>
                <a:latin typeface="Calibri" pitchFamily="34" charset="0"/>
                <a:ea typeface="Calibri" pitchFamily="34" charset="-122"/>
                <a:cs typeface="Calibri" pitchFamily="34" charset="-120"/>
              </a:rPr>
              <a:t>By Condition</a:t>
            </a:r>
            <a:endParaRPr lang="en-US" sz="1300" dirty="0"/>
          </a:p>
        </p:txBody>
      </p:sp>
      <p:sp>
        <p:nvSpPr>
          <p:cNvPr id="5" name="Caption Body 1"/>
          <p:cNvSpPr/>
          <p:nvPr/>
        </p:nvSpPr>
        <p:spPr>
          <a:xfrm>
            <a:off x="457200" y="2960577"/>
            <a:ext cx="2641600" cy="540000"/>
          </a:xfrm>
          <a:prstGeom prst="rect">
            <a:avLst/>
          </a:prstGeom>
          <a:noFill/>
          <a:ln/>
        </p:spPr>
        <p:txBody>
          <a:bodyPr wrap="square" rtlCol="0" anchor="t"/>
          <a:lstStyle/>
          <a:p>
            <a:pPr marL="0" indent="0" algn="ctr">
              <a:buNone/>
            </a:pPr>
            <a:r>
              <a:rPr lang="en-US" sz="1050" dirty="0">
                <a:solidFill>
                  <a:srgbClr val="0A2342"/>
                </a:solidFill>
                <a:latin typeface="Calibri" pitchFamily="34" charset="0"/>
                <a:ea typeface="Calibri" pitchFamily="34" charset="-122"/>
                <a:cs typeface="Calibri" pitchFamily="34" charset="-120"/>
              </a:rPr>
              <a:t>All 4 exposure groups overlap — batch correction successful</a:t>
            </a:r>
            <a:endParaRPr lang="en-US" sz="1050" dirty="0"/>
          </a:p>
        </p:txBody>
      </p:sp>
      <p:sp>
        <p:nvSpPr>
          <p:cNvPr id="6" name="Caption Title 2"/>
          <p:cNvSpPr/>
          <p:nvPr/>
        </p:nvSpPr>
        <p:spPr>
          <a:xfrm>
            <a:off x="3251200" y="2704545"/>
            <a:ext cx="2641600" cy="246960"/>
          </a:xfrm>
          <a:prstGeom prst="rect">
            <a:avLst/>
          </a:prstGeom>
          <a:noFill/>
          <a:ln/>
        </p:spPr>
        <p:txBody>
          <a:bodyPr wrap="square" rtlCol="0" anchor="t"/>
          <a:lstStyle/>
          <a:p>
            <a:pPr marL="0" indent="0" algn="ctr">
              <a:buNone/>
            </a:pPr>
            <a:r>
              <a:rPr lang="en-US" sz="1300" b="1" dirty="0">
                <a:solidFill>
                  <a:srgbClr val="2AABCC"/>
                </a:solidFill>
                <a:latin typeface="Calibri" pitchFamily="34" charset="0"/>
                <a:ea typeface="Calibri" pitchFamily="34" charset="-122"/>
                <a:cs typeface="Calibri" pitchFamily="34" charset="-120"/>
              </a:rPr>
              <a:t>By Leiden Cluster</a:t>
            </a:r>
            <a:endParaRPr lang="en-US" sz="1300" dirty="0"/>
          </a:p>
        </p:txBody>
      </p:sp>
      <p:sp>
        <p:nvSpPr>
          <p:cNvPr id="7" name="Caption Body 2"/>
          <p:cNvSpPr/>
          <p:nvPr/>
        </p:nvSpPr>
        <p:spPr>
          <a:xfrm>
            <a:off x="3251200" y="2960577"/>
            <a:ext cx="2641600" cy="540000"/>
          </a:xfrm>
          <a:prstGeom prst="rect">
            <a:avLst/>
          </a:prstGeom>
          <a:noFill/>
          <a:ln/>
        </p:spPr>
        <p:txBody>
          <a:bodyPr wrap="square" rtlCol="0" anchor="t"/>
          <a:lstStyle/>
          <a:p>
            <a:pPr marL="0" indent="0" algn="ctr">
              <a:buNone/>
            </a:pPr>
            <a:r>
              <a:rPr lang="en-US" sz="1050" dirty="0">
                <a:solidFill>
                  <a:srgbClr val="0A2342"/>
                </a:solidFill>
                <a:latin typeface="Calibri" pitchFamily="34" charset="0"/>
                <a:ea typeface="Calibri" pitchFamily="34" charset="-122"/>
                <a:cs typeface="Calibri" pitchFamily="34" charset="-120"/>
              </a:rPr>
              <a:t>13 unsupervised clusters at resolution 0.5</a:t>
            </a:r>
            <a:endParaRPr lang="en-US" sz="1050" dirty="0"/>
          </a:p>
        </p:txBody>
      </p:sp>
      <p:sp>
        <p:nvSpPr>
          <p:cNvPr id="8" name="Caption Title 3"/>
          <p:cNvSpPr/>
          <p:nvPr/>
        </p:nvSpPr>
        <p:spPr>
          <a:xfrm>
            <a:off x="6045200" y="2645328"/>
            <a:ext cx="2641600" cy="246960"/>
          </a:xfrm>
          <a:prstGeom prst="rect">
            <a:avLst/>
          </a:prstGeom>
          <a:noFill/>
          <a:ln/>
        </p:spPr>
        <p:txBody>
          <a:bodyPr wrap="square" rtlCol="0" anchor="t"/>
          <a:lstStyle/>
          <a:p>
            <a:pPr marL="0" indent="0" algn="ctr">
              <a:buNone/>
            </a:pPr>
            <a:r>
              <a:rPr lang="en-US" sz="1300" b="1" dirty="0">
                <a:solidFill>
                  <a:srgbClr val="E8A838"/>
                </a:solidFill>
                <a:latin typeface="Calibri" pitchFamily="34" charset="0"/>
                <a:ea typeface="Calibri" pitchFamily="34" charset="-122"/>
                <a:cs typeface="Calibri" pitchFamily="34" charset="-120"/>
              </a:rPr>
              <a:t>By Cell Type</a:t>
            </a:r>
            <a:endParaRPr lang="en-US" sz="1300" dirty="0"/>
          </a:p>
        </p:txBody>
      </p:sp>
      <p:sp>
        <p:nvSpPr>
          <p:cNvPr id="9" name="Caption Body 3"/>
          <p:cNvSpPr/>
          <p:nvPr/>
        </p:nvSpPr>
        <p:spPr>
          <a:xfrm>
            <a:off x="6045200" y="2960577"/>
            <a:ext cx="2641600" cy="540000"/>
          </a:xfrm>
          <a:prstGeom prst="rect">
            <a:avLst/>
          </a:prstGeom>
          <a:noFill/>
          <a:ln/>
        </p:spPr>
        <p:txBody>
          <a:bodyPr wrap="square" rtlCol="0" anchor="t"/>
          <a:lstStyle/>
          <a:p>
            <a:pPr marL="0" indent="0" algn="ctr">
              <a:buNone/>
            </a:pPr>
            <a:r>
              <a:rPr lang="en-US" sz="1050" dirty="0">
                <a:solidFill>
                  <a:srgbClr val="0A2342"/>
                </a:solidFill>
                <a:latin typeface="Calibri" pitchFamily="34" charset="0"/>
                <a:ea typeface="Calibri" pitchFamily="34" charset="-122"/>
                <a:cs typeface="Calibri" pitchFamily="34" charset="-120"/>
              </a:rPr>
              <a:t>Marker-based regions match known PBMC types</a:t>
            </a:r>
            <a:endParaRPr lang="en-US" sz="1050" dirty="0"/>
          </a:p>
        </p:txBody>
      </p:sp>
      <p:sp>
        <p:nvSpPr>
          <p:cNvPr id="10" name="KeyNumbers BG"/>
          <p:cNvSpPr/>
          <p:nvPr/>
        </p:nvSpPr>
        <p:spPr>
          <a:xfrm>
            <a:off x="457200" y="3650000"/>
            <a:ext cx="8229600" cy="1185000"/>
          </a:xfrm>
          <a:prstGeom prst="roundRect">
            <a:avLst>
              <a:gd name="adj" fmla="val 4000"/>
            </a:avLst>
          </a:prstGeom>
          <a:solidFill>
            <a:srgbClr val="0A2342"/>
          </a:solidFill>
          <a:ln/>
        </p:spPr>
        <p:txBody>
          <a:bodyPr/>
          <a:lstStyle/>
          <a:p>
            <a:endParaRPr lang="sr-Latn-RS"/>
          </a:p>
        </p:txBody>
      </p:sp>
      <p:sp>
        <p:nvSpPr>
          <p:cNvPr id="16" name="Num1"/>
          <p:cNvSpPr/>
          <p:nvPr/>
        </p:nvSpPr>
        <p:spPr>
          <a:xfrm>
            <a:off x="567200" y="3760000"/>
            <a:ext cx="1597920" cy="500000"/>
          </a:xfrm>
          <a:prstGeom prst="rect">
            <a:avLst/>
          </a:prstGeom>
          <a:noFill/>
          <a:ln/>
        </p:spPr>
        <p:txBody>
          <a:bodyPr wrap="square" rtlCol="0" anchor="ctr"/>
          <a:lstStyle/>
          <a:p>
            <a:pPr marL="0" indent="0" algn="ctr">
              <a:buNone/>
            </a:pPr>
            <a:r>
              <a:rPr lang="en-US" sz="2800" b="1" dirty="0">
                <a:solidFill>
                  <a:srgbClr val="E8A838"/>
                </a:solidFill>
                <a:latin typeface="Cambria" pitchFamily="34" charset="0"/>
                <a:ea typeface="Cambria" pitchFamily="34" charset="-122"/>
                <a:cs typeface="Cambria" pitchFamily="34" charset="-120"/>
              </a:rPr>
              <a:t>33,240</a:t>
            </a:r>
            <a:endParaRPr lang="en-US" sz="2800" dirty="0"/>
          </a:p>
        </p:txBody>
      </p:sp>
      <p:sp>
        <p:nvSpPr>
          <p:cNvPr id="17" name="Label1"/>
          <p:cNvSpPr/>
          <p:nvPr/>
        </p:nvSpPr>
        <p:spPr>
          <a:xfrm>
            <a:off x="567200" y="4280000"/>
            <a:ext cx="1597920" cy="430000"/>
          </a:xfrm>
          <a:prstGeom prst="rect">
            <a:avLst/>
          </a:prstGeom>
          <a:noFill/>
          <a:ln/>
        </p:spPr>
        <p:txBody>
          <a:bodyPr wrap="square" rtlCol="0" anchor="t"/>
          <a:lstStyle/>
          <a:p>
            <a:pPr marL="0" indent="0" algn="ctr">
              <a:buNone/>
            </a:pPr>
            <a:r>
              <a:rPr lang="en-US" sz="1050" dirty="0">
                <a:solidFill>
                  <a:srgbClr val="D6EEF5"/>
                </a:solidFill>
                <a:latin typeface="Calibri" pitchFamily="34" charset="0"/>
                <a:ea typeface="Calibri" pitchFamily="34" charset="-122"/>
                <a:cs typeface="Calibri" pitchFamily="34" charset="-120"/>
              </a:rPr>
              <a:t>cells after QC &amp; integration</a:t>
            </a:r>
            <a:endParaRPr lang="en-US" sz="1050" dirty="0"/>
          </a:p>
        </p:txBody>
      </p:sp>
      <p:sp>
        <p:nvSpPr>
          <p:cNvPr id="18" name="Num2"/>
          <p:cNvSpPr/>
          <p:nvPr/>
        </p:nvSpPr>
        <p:spPr>
          <a:xfrm>
            <a:off x="2225120" y="3760000"/>
            <a:ext cx="1597920" cy="500000"/>
          </a:xfrm>
          <a:prstGeom prst="rect">
            <a:avLst/>
          </a:prstGeom>
          <a:noFill/>
          <a:ln/>
        </p:spPr>
        <p:txBody>
          <a:bodyPr wrap="square" rtlCol="0" anchor="ctr"/>
          <a:lstStyle/>
          <a:p>
            <a:pPr marL="0" indent="0" algn="ctr">
              <a:buNone/>
            </a:pPr>
            <a:r>
              <a:rPr lang="en-US" sz="2800" b="1" dirty="0">
                <a:solidFill>
                  <a:srgbClr val="E8A838"/>
                </a:solidFill>
                <a:latin typeface="Cambria" pitchFamily="34" charset="0"/>
                <a:ea typeface="Cambria" pitchFamily="34" charset="-122"/>
                <a:cs typeface="Cambria" pitchFamily="34" charset="-120"/>
              </a:rPr>
              <a:t>3,000</a:t>
            </a:r>
            <a:endParaRPr lang="en-US" sz="2800" dirty="0"/>
          </a:p>
        </p:txBody>
      </p:sp>
      <p:sp>
        <p:nvSpPr>
          <p:cNvPr id="19" name="Label2"/>
          <p:cNvSpPr/>
          <p:nvPr/>
        </p:nvSpPr>
        <p:spPr>
          <a:xfrm>
            <a:off x="2225120" y="4280000"/>
            <a:ext cx="1597920" cy="430000"/>
          </a:xfrm>
          <a:prstGeom prst="rect">
            <a:avLst/>
          </a:prstGeom>
          <a:noFill/>
          <a:ln/>
        </p:spPr>
        <p:txBody>
          <a:bodyPr wrap="square" rtlCol="0" anchor="t"/>
          <a:lstStyle/>
          <a:p>
            <a:pPr marL="0" indent="0" algn="ctr">
              <a:buNone/>
            </a:pPr>
            <a:r>
              <a:rPr lang="en-US" sz="1050" dirty="0">
                <a:solidFill>
                  <a:srgbClr val="D6EEF5"/>
                </a:solidFill>
                <a:latin typeface="Calibri" pitchFamily="34" charset="0"/>
                <a:ea typeface="Calibri" pitchFamily="34" charset="-122"/>
                <a:cs typeface="Calibri" pitchFamily="34" charset="-120"/>
              </a:rPr>
              <a:t>highly variable genes used</a:t>
            </a:r>
            <a:endParaRPr lang="en-US" sz="1050" dirty="0"/>
          </a:p>
        </p:txBody>
      </p:sp>
      <p:sp>
        <p:nvSpPr>
          <p:cNvPr id="20" name="Num3"/>
          <p:cNvSpPr/>
          <p:nvPr/>
        </p:nvSpPr>
        <p:spPr>
          <a:xfrm>
            <a:off x="3883040" y="3760000"/>
            <a:ext cx="1597920" cy="500000"/>
          </a:xfrm>
          <a:prstGeom prst="rect">
            <a:avLst/>
          </a:prstGeom>
          <a:noFill/>
          <a:ln/>
        </p:spPr>
        <p:txBody>
          <a:bodyPr wrap="square" rtlCol="0" anchor="ctr"/>
          <a:lstStyle/>
          <a:p>
            <a:pPr marL="0" indent="0" algn="ctr">
              <a:buNone/>
            </a:pPr>
            <a:r>
              <a:rPr lang="en-US" sz="2800" b="1" dirty="0">
                <a:solidFill>
                  <a:srgbClr val="E8A838"/>
                </a:solidFill>
                <a:latin typeface="Cambria" pitchFamily="34" charset="0"/>
                <a:ea typeface="Cambria" pitchFamily="34" charset="-122"/>
                <a:cs typeface="Cambria" pitchFamily="34" charset="-120"/>
              </a:rPr>
              <a:t>30</a:t>
            </a:r>
            <a:endParaRPr lang="en-US" sz="2800" dirty="0"/>
          </a:p>
        </p:txBody>
      </p:sp>
      <p:sp>
        <p:nvSpPr>
          <p:cNvPr id="21" name="Label3"/>
          <p:cNvSpPr/>
          <p:nvPr/>
        </p:nvSpPr>
        <p:spPr>
          <a:xfrm>
            <a:off x="3883040" y="4280000"/>
            <a:ext cx="1597920" cy="430000"/>
          </a:xfrm>
          <a:prstGeom prst="rect">
            <a:avLst/>
          </a:prstGeom>
          <a:noFill/>
          <a:ln/>
        </p:spPr>
        <p:txBody>
          <a:bodyPr wrap="square" rtlCol="0" anchor="t"/>
          <a:lstStyle/>
          <a:p>
            <a:pPr marL="0" indent="0" algn="ctr">
              <a:buNone/>
            </a:pPr>
            <a:r>
              <a:rPr lang="en-US" sz="1050" dirty="0">
                <a:solidFill>
                  <a:srgbClr val="D6EEF5"/>
                </a:solidFill>
                <a:latin typeface="Calibri" pitchFamily="34" charset="0"/>
                <a:ea typeface="Calibri" pitchFamily="34" charset="-122"/>
                <a:cs typeface="Calibri" pitchFamily="34" charset="-120"/>
              </a:rPr>
              <a:t>PCA components</a:t>
            </a:r>
            <a:endParaRPr lang="en-US" sz="1050" dirty="0"/>
          </a:p>
        </p:txBody>
      </p:sp>
      <p:sp>
        <p:nvSpPr>
          <p:cNvPr id="22" name="Num4"/>
          <p:cNvSpPr/>
          <p:nvPr/>
        </p:nvSpPr>
        <p:spPr>
          <a:xfrm>
            <a:off x="5540960" y="3760000"/>
            <a:ext cx="1597920" cy="500000"/>
          </a:xfrm>
          <a:prstGeom prst="rect">
            <a:avLst/>
          </a:prstGeom>
          <a:noFill/>
          <a:ln/>
        </p:spPr>
        <p:txBody>
          <a:bodyPr wrap="square" rtlCol="0" anchor="ctr"/>
          <a:lstStyle/>
          <a:p>
            <a:pPr marL="0" indent="0" algn="ctr">
              <a:buNone/>
            </a:pPr>
            <a:r>
              <a:rPr lang="en-US" sz="2800" b="1" dirty="0">
                <a:solidFill>
                  <a:srgbClr val="E8A838"/>
                </a:solidFill>
                <a:latin typeface="Cambria" pitchFamily="34" charset="0"/>
                <a:ea typeface="Cambria" pitchFamily="34" charset="-122"/>
                <a:cs typeface="Cambria" pitchFamily="34" charset="-120"/>
              </a:rPr>
              <a:t>13</a:t>
            </a:r>
            <a:endParaRPr lang="en-US" sz="2800" dirty="0"/>
          </a:p>
        </p:txBody>
      </p:sp>
      <p:sp>
        <p:nvSpPr>
          <p:cNvPr id="23" name="Label4"/>
          <p:cNvSpPr/>
          <p:nvPr/>
        </p:nvSpPr>
        <p:spPr>
          <a:xfrm>
            <a:off x="5540960" y="4280000"/>
            <a:ext cx="1597920" cy="430000"/>
          </a:xfrm>
          <a:prstGeom prst="rect">
            <a:avLst/>
          </a:prstGeom>
          <a:noFill/>
          <a:ln/>
        </p:spPr>
        <p:txBody>
          <a:bodyPr wrap="square" rtlCol="0" anchor="t"/>
          <a:lstStyle/>
          <a:p>
            <a:pPr marL="0" indent="0" algn="ctr">
              <a:buNone/>
            </a:pPr>
            <a:r>
              <a:rPr lang="en-US" sz="1050" dirty="0">
                <a:solidFill>
                  <a:srgbClr val="D6EEF5"/>
                </a:solidFill>
                <a:latin typeface="Calibri" pitchFamily="34" charset="0"/>
                <a:ea typeface="Calibri" pitchFamily="34" charset="-122"/>
                <a:cs typeface="Calibri" pitchFamily="34" charset="-120"/>
              </a:rPr>
              <a:t>Leiden clusters (res = 0.5)</a:t>
            </a:r>
            <a:endParaRPr lang="en-US" sz="1050" dirty="0"/>
          </a:p>
        </p:txBody>
      </p:sp>
      <p:sp>
        <p:nvSpPr>
          <p:cNvPr id="24" name="Num5"/>
          <p:cNvSpPr/>
          <p:nvPr/>
        </p:nvSpPr>
        <p:spPr>
          <a:xfrm>
            <a:off x="7198880" y="3760000"/>
            <a:ext cx="1397920" cy="500000"/>
          </a:xfrm>
          <a:prstGeom prst="rect">
            <a:avLst/>
          </a:prstGeom>
          <a:noFill/>
          <a:ln/>
        </p:spPr>
        <p:txBody>
          <a:bodyPr wrap="square" rtlCol="0" anchor="ctr"/>
          <a:lstStyle/>
          <a:p>
            <a:pPr marL="0" indent="0" algn="ctr">
              <a:buNone/>
            </a:pPr>
            <a:r>
              <a:rPr lang="en-US" sz="2400" b="1" dirty="0">
                <a:solidFill>
                  <a:srgbClr val="E8A838"/>
                </a:solidFill>
                <a:latin typeface="Cambria" pitchFamily="34" charset="0"/>
                <a:ea typeface="Cambria" pitchFamily="34" charset="-122"/>
                <a:cs typeface="Cambria" pitchFamily="34" charset="-120"/>
              </a:rPr>
              <a:t>ComBat</a:t>
            </a:r>
            <a:endParaRPr lang="en-US" sz="2400" dirty="0"/>
          </a:p>
        </p:txBody>
      </p:sp>
      <p:sp>
        <p:nvSpPr>
          <p:cNvPr id="25" name="Label5"/>
          <p:cNvSpPr/>
          <p:nvPr/>
        </p:nvSpPr>
        <p:spPr>
          <a:xfrm>
            <a:off x="7198880" y="4280000"/>
            <a:ext cx="1397920" cy="430000"/>
          </a:xfrm>
          <a:prstGeom prst="rect">
            <a:avLst/>
          </a:prstGeom>
          <a:noFill/>
          <a:ln/>
        </p:spPr>
        <p:txBody>
          <a:bodyPr wrap="square" rtlCol="0" anchor="t"/>
          <a:lstStyle/>
          <a:p>
            <a:pPr marL="0" indent="0" algn="ctr">
              <a:buNone/>
            </a:pPr>
            <a:r>
              <a:rPr lang="en-US" sz="1050" dirty="0">
                <a:solidFill>
                  <a:srgbClr val="D6EEF5"/>
                </a:solidFill>
                <a:latin typeface="Calibri" pitchFamily="34" charset="0"/>
                <a:ea typeface="Calibri" pitchFamily="34" charset="-122"/>
                <a:cs typeface="Calibri" pitchFamily="34" charset="-120"/>
              </a:rPr>
              <a:t>batch correction method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600" b="1" dirty="0">
                <a:solidFill>
                  <a:srgbClr val="0A2342"/>
                </a:solidFill>
                <a:latin typeface="Cambria" pitchFamily="34" charset="0"/>
                <a:ea typeface="Cambria" pitchFamily="34" charset="-122"/>
                <a:cs typeface="Cambria" pitchFamily="34" charset="-120"/>
              </a:rPr>
              <a:t>Cell Type Annotation</a:t>
            </a:r>
            <a:endParaRPr lang="en-US" sz="3600" dirty="0"/>
          </a:p>
        </p:txBody>
      </p:sp>
      <p:sp>
        <p:nvSpPr>
          <p:cNvPr id="3" name="Text 1"/>
          <p:cNvSpPr/>
          <p:nvPr/>
        </p:nvSpPr>
        <p:spPr>
          <a:xfrm>
            <a:off x="457200" y="914400"/>
            <a:ext cx="8229600" cy="292608"/>
          </a:xfrm>
          <a:prstGeom prst="rect">
            <a:avLst/>
          </a:prstGeom>
          <a:noFill/>
          <a:ln/>
        </p:spPr>
        <p:txBody>
          <a:bodyPr wrap="square" rtlCol="0" anchor="ctr"/>
          <a:lstStyle/>
          <a:p>
            <a:pPr marL="0" indent="0">
              <a:buNone/>
            </a:pPr>
            <a:r>
              <a:rPr lang="en-US" sz="1300" b="1" dirty="0">
                <a:solidFill>
                  <a:srgbClr val="1D6A8B"/>
                </a:solidFill>
                <a:latin typeface="Calibri" pitchFamily="34" charset="0"/>
                <a:ea typeface="Calibri" pitchFamily="34" charset="-122"/>
                <a:cs typeface="Calibri" pitchFamily="34" charset="-120"/>
              </a:rPr>
              <a:t>Three annotation methods used:</a:t>
            </a:r>
            <a:endParaRPr lang="en-US" sz="1300" dirty="0"/>
          </a:p>
        </p:txBody>
      </p:sp>
      <p:sp>
        <p:nvSpPr>
          <p:cNvPr id="4" name="Shape 2"/>
          <p:cNvSpPr/>
          <p:nvPr/>
        </p:nvSpPr>
        <p:spPr>
          <a:xfrm>
            <a:off x="457200" y="1298448"/>
            <a:ext cx="2651760" cy="2651760"/>
          </a:xfrm>
          <a:prstGeom prst="roundRect">
            <a:avLst>
              <a:gd name="adj" fmla="val 2759"/>
            </a:avLst>
          </a:prstGeom>
          <a:solidFill>
            <a:srgbClr val="FFFFFF"/>
          </a:solidFill>
          <a:ln/>
          <a:effectLst>
            <a:outerShdw blurRad="101600" dist="25400" dir="2700000" algn="bl" rotWithShape="0">
              <a:srgbClr val="000000">
                <a:alpha val="10000"/>
              </a:srgbClr>
            </a:outerShdw>
          </a:effectLst>
        </p:spPr>
        <p:txBody>
          <a:bodyPr/>
          <a:lstStyle/>
          <a:p>
            <a:endParaRPr lang="sr-Latn-RS"/>
          </a:p>
        </p:txBody>
      </p:sp>
      <p:sp>
        <p:nvSpPr>
          <p:cNvPr id="5" name="Shape 3"/>
          <p:cNvSpPr/>
          <p:nvPr/>
        </p:nvSpPr>
        <p:spPr>
          <a:xfrm>
            <a:off x="457200" y="1298448"/>
            <a:ext cx="2651760" cy="347472"/>
          </a:xfrm>
          <a:prstGeom prst="roundRect">
            <a:avLst>
              <a:gd name="adj" fmla="val 21053"/>
            </a:avLst>
          </a:prstGeom>
          <a:solidFill>
            <a:srgbClr val="1D6A8B"/>
          </a:solidFill>
          <a:ln/>
        </p:spPr>
        <p:txBody>
          <a:bodyPr/>
          <a:lstStyle/>
          <a:p>
            <a:endParaRPr lang="sr-Latn-RS"/>
          </a:p>
        </p:txBody>
      </p:sp>
      <p:sp>
        <p:nvSpPr>
          <p:cNvPr id="6" name="Shape 4"/>
          <p:cNvSpPr/>
          <p:nvPr/>
        </p:nvSpPr>
        <p:spPr>
          <a:xfrm>
            <a:off x="457200" y="1463040"/>
            <a:ext cx="2651760" cy="182880"/>
          </a:xfrm>
          <a:prstGeom prst="rect">
            <a:avLst/>
          </a:prstGeom>
          <a:solidFill>
            <a:srgbClr val="1D6A8B"/>
          </a:solidFill>
          <a:ln/>
        </p:spPr>
        <p:txBody>
          <a:bodyPr/>
          <a:lstStyle/>
          <a:p>
            <a:endParaRPr lang="sr-Latn-RS"/>
          </a:p>
        </p:txBody>
      </p:sp>
      <p:sp>
        <p:nvSpPr>
          <p:cNvPr id="7" name="Text 5"/>
          <p:cNvSpPr/>
          <p:nvPr/>
        </p:nvSpPr>
        <p:spPr>
          <a:xfrm>
            <a:off x="457200" y="1298448"/>
            <a:ext cx="26517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Marker-Based</a:t>
            </a:r>
            <a:endParaRPr lang="en-US" sz="1300" dirty="0"/>
          </a:p>
        </p:txBody>
      </p:sp>
      <p:sp>
        <p:nvSpPr>
          <p:cNvPr id="8" name="Text 6"/>
          <p:cNvSpPr/>
          <p:nvPr/>
        </p:nvSpPr>
        <p:spPr>
          <a:xfrm>
            <a:off x="548640" y="1719072"/>
            <a:ext cx="2468880" cy="658368"/>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Mean expression of canonical marker genes per cell; winner-takes-all assignment</a:t>
            </a:r>
            <a:endParaRPr lang="en-US" sz="1050" dirty="0"/>
          </a:p>
        </p:txBody>
      </p:sp>
      <p:sp>
        <p:nvSpPr>
          <p:cNvPr id="9" name="Text 7"/>
          <p:cNvSpPr/>
          <p:nvPr/>
        </p:nvSpPr>
        <p:spPr>
          <a:xfrm>
            <a:off x="548640" y="2395728"/>
            <a:ext cx="2468880" cy="457200"/>
          </a:xfrm>
          <a:prstGeom prst="rect">
            <a:avLst/>
          </a:prstGeom>
          <a:noFill/>
          <a:ln/>
        </p:spPr>
        <p:txBody>
          <a:bodyPr wrap="square" rtlCol="0" anchor="ctr"/>
          <a:lstStyle/>
          <a:p>
            <a:pPr marL="0" indent="0">
              <a:buNone/>
            </a:pPr>
            <a:r>
              <a:rPr lang="en-US" sz="1000" i="1" dirty="0">
                <a:solidFill>
                  <a:srgbClr val="1D6A8B"/>
                </a:solidFill>
                <a:latin typeface="Calibri" pitchFamily="34" charset="0"/>
                <a:ea typeface="Calibri" pitchFamily="34" charset="-122"/>
                <a:cs typeface="Calibri" pitchFamily="34" charset="-120"/>
              </a:rPr>
              <a:t>✓ Biologically interpretable · fully transparent</a:t>
            </a:r>
            <a:endParaRPr lang="en-US" sz="1000" dirty="0"/>
          </a:p>
        </p:txBody>
      </p:sp>
      <p:sp>
        <p:nvSpPr>
          <p:cNvPr id="10" name="Shape 8"/>
          <p:cNvSpPr/>
          <p:nvPr/>
        </p:nvSpPr>
        <p:spPr>
          <a:xfrm>
            <a:off x="548640" y="2889504"/>
            <a:ext cx="2468880" cy="457200"/>
          </a:xfrm>
          <a:prstGeom prst="roundRect">
            <a:avLst>
              <a:gd name="adj" fmla="val 8000"/>
            </a:avLst>
          </a:prstGeom>
          <a:solidFill>
            <a:srgbClr val="D6EEF5"/>
          </a:solidFill>
          <a:ln/>
        </p:spPr>
        <p:txBody>
          <a:bodyPr/>
          <a:lstStyle/>
          <a:p>
            <a:endParaRPr lang="sr-Latn-RS"/>
          </a:p>
        </p:txBody>
      </p:sp>
      <p:sp>
        <p:nvSpPr>
          <p:cNvPr id="11" name="Text 9"/>
          <p:cNvSpPr/>
          <p:nvPr/>
        </p:nvSpPr>
        <p:spPr>
          <a:xfrm>
            <a:off x="548640" y="2889504"/>
            <a:ext cx="2468880" cy="457200"/>
          </a:xfrm>
          <a:prstGeom prst="rect">
            <a:avLst/>
          </a:prstGeom>
          <a:noFill/>
          <a:ln/>
        </p:spPr>
        <p:txBody>
          <a:bodyPr wrap="square" rtlCol="0" anchor="ctr"/>
          <a:lstStyle/>
          <a:p>
            <a:pPr marL="0" indent="0">
              <a:buNone/>
            </a:pPr>
            <a:r>
              <a:rPr lang="en-US" sz="950" dirty="0">
                <a:solidFill>
                  <a:srgbClr val="0A2342"/>
                </a:solidFill>
                <a:latin typeface="Courier New" pitchFamily="34" charset="0"/>
                <a:ea typeface="Courier New" pitchFamily="34" charset="-122"/>
                <a:cs typeface="Courier New" pitchFamily="34" charset="-120"/>
              </a:rPr>
              <a:t>High LYZ + S100A8 → CD14+ Monocyte</a:t>
            </a:r>
            <a:endParaRPr lang="en-US" sz="950" dirty="0"/>
          </a:p>
        </p:txBody>
      </p:sp>
      <p:sp>
        <p:nvSpPr>
          <p:cNvPr id="12" name="Shape 10"/>
          <p:cNvSpPr/>
          <p:nvPr/>
        </p:nvSpPr>
        <p:spPr>
          <a:xfrm>
            <a:off x="3291840" y="1298448"/>
            <a:ext cx="2651760" cy="2651760"/>
          </a:xfrm>
          <a:prstGeom prst="roundRect">
            <a:avLst>
              <a:gd name="adj" fmla="val 2759"/>
            </a:avLst>
          </a:prstGeom>
          <a:solidFill>
            <a:srgbClr val="FFFFFF"/>
          </a:solidFill>
          <a:ln/>
          <a:effectLst>
            <a:outerShdw blurRad="101600" dist="25400" dir="2700000" algn="bl" rotWithShape="0">
              <a:srgbClr val="000000">
                <a:alpha val="10000"/>
              </a:srgbClr>
            </a:outerShdw>
          </a:effectLst>
        </p:spPr>
        <p:txBody>
          <a:bodyPr/>
          <a:lstStyle/>
          <a:p>
            <a:endParaRPr lang="sr-Latn-RS"/>
          </a:p>
        </p:txBody>
      </p:sp>
      <p:sp>
        <p:nvSpPr>
          <p:cNvPr id="13" name="Shape 11"/>
          <p:cNvSpPr/>
          <p:nvPr/>
        </p:nvSpPr>
        <p:spPr>
          <a:xfrm>
            <a:off x="3291840" y="1298448"/>
            <a:ext cx="2651760" cy="347472"/>
          </a:xfrm>
          <a:prstGeom prst="roundRect">
            <a:avLst>
              <a:gd name="adj" fmla="val 21053"/>
            </a:avLst>
          </a:prstGeom>
          <a:solidFill>
            <a:srgbClr val="E8A838"/>
          </a:solidFill>
          <a:ln/>
        </p:spPr>
        <p:txBody>
          <a:bodyPr/>
          <a:lstStyle/>
          <a:p>
            <a:endParaRPr lang="sr-Latn-RS"/>
          </a:p>
        </p:txBody>
      </p:sp>
      <p:sp>
        <p:nvSpPr>
          <p:cNvPr id="14" name="Shape 12"/>
          <p:cNvSpPr/>
          <p:nvPr/>
        </p:nvSpPr>
        <p:spPr>
          <a:xfrm>
            <a:off x="3291840" y="1463040"/>
            <a:ext cx="2651760" cy="182880"/>
          </a:xfrm>
          <a:prstGeom prst="rect">
            <a:avLst/>
          </a:prstGeom>
          <a:solidFill>
            <a:srgbClr val="E8A838"/>
          </a:solidFill>
          <a:ln/>
        </p:spPr>
        <p:txBody>
          <a:bodyPr/>
          <a:lstStyle/>
          <a:p>
            <a:endParaRPr lang="sr-Latn-RS"/>
          </a:p>
        </p:txBody>
      </p:sp>
      <p:sp>
        <p:nvSpPr>
          <p:cNvPr id="15" name="Text 13"/>
          <p:cNvSpPr/>
          <p:nvPr/>
        </p:nvSpPr>
        <p:spPr>
          <a:xfrm>
            <a:off x="3291840" y="1298448"/>
            <a:ext cx="26517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CoDi (Reference)</a:t>
            </a:r>
            <a:endParaRPr lang="en-US" sz="1300" dirty="0"/>
          </a:p>
        </p:txBody>
      </p:sp>
      <p:sp>
        <p:nvSpPr>
          <p:cNvPr id="16" name="Text 14"/>
          <p:cNvSpPr/>
          <p:nvPr/>
        </p:nvSpPr>
        <p:spPr>
          <a:xfrm>
            <a:off x="3383280" y="1719072"/>
            <a:ext cx="2468880" cy="658368"/>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External pre-computed model shipped with the Zenodo dataset (KL divergence scores)</a:t>
            </a:r>
            <a:endParaRPr lang="en-US" sz="1050" dirty="0"/>
          </a:p>
        </p:txBody>
      </p:sp>
      <p:sp>
        <p:nvSpPr>
          <p:cNvPr id="17" name="Text 15"/>
          <p:cNvSpPr/>
          <p:nvPr/>
        </p:nvSpPr>
        <p:spPr>
          <a:xfrm>
            <a:off x="3383280" y="2395728"/>
            <a:ext cx="2468880" cy="457200"/>
          </a:xfrm>
          <a:prstGeom prst="rect">
            <a:avLst/>
          </a:prstGeom>
          <a:noFill/>
          <a:ln/>
        </p:spPr>
        <p:txBody>
          <a:bodyPr wrap="square" rtlCol="0" anchor="ctr"/>
          <a:lstStyle/>
          <a:p>
            <a:pPr marL="0" indent="0">
              <a:buNone/>
            </a:pPr>
            <a:r>
              <a:rPr lang="en-US" sz="1000" i="1" dirty="0">
                <a:solidFill>
                  <a:srgbClr val="1D6A8B"/>
                </a:solidFill>
                <a:latin typeface="Calibri" pitchFamily="34" charset="0"/>
                <a:ea typeface="Calibri" pitchFamily="34" charset="-122"/>
                <a:cs typeface="Calibri" pitchFamily="34" charset="-120"/>
              </a:rPr>
              <a:t>✓ Independent validation · 99.6% cells mapped · 64.7% agreement with markers</a:t>
            </a:r>
            <a:endParaRPr lang="en-US" sz="1000" dirty="0"/>
          </a:p>
        </p:txBody>
      </p:sp>
      <p:sp>
        <p:nvSpPr>
          <p:cNvPr id="18" name="Shape 16"/>
          <p:cNvSpPr/>
          <p:nvPr/>
        </p:nvSpPr>
        <p:spPr>
          <a:xfrm>
            <a:off x="3383280" y="2889504"/>
            <a:ext cx="2468880" cy="457200"/>
          </a:xfrm>
          <a:prstGeom prst="roundRect">
            <a:avLst>
              <a:gd name="adj" fmla="val 8000"/>
            </a:avLst>
          </a:prstGeom>
          <a:solidFill>
            <a:srgbClr val="D6EEF5"/>
          </a:solidFill>
          <a:ln/>
        </p:spPr>
        <p:txBody>
          <a:bodyPr/>
          <a:lstStyle/>
          <a:p>
            <a:endParaRPr lang="sr-Latn-RS"/>
          </a:p>
        </p:txBody>
      </p:sp>
      <p:sp>
        <p:nvSpPr>
          <p:cNvPr id="19" name="Text 17"/>
          <p:cNvSpPr/>
          <p:nvPr/>
        </p:nvSpPr>
        <p:spPr>
          <a:xfrm>
            <a:off x="3383280" y="2889504"/>
            <a:ext cx="2468880" cy="457200"/>
          </a:xfrm>
          <a:prstGeom prst="rect">
            <a:avLst/>
          </a:prstGeom>
          <a:noFill/>
          <a:ln/>
        </p:spPr>
        <p:txBody>
          <a:bodyPr wrap="square" rtlCol="0" anchor="ctr"/>
          <a:lstStyle/>
          <a:p>
            <a:pPr marL="0" indent="0">
              <a:buNone/>
            </a:pPr>
            <a:r>
              <a:rPr lang="en-US" sz="950" dirty="0">
                <a:solidFill>
                  <a:srgbClr val="0A2342"/>
                </a:solidFill>
                <a:latin typeface="Courier New" pitchFamily="34" charset="0"/>
                <a:ea typeface="Courier New" pitchFamily="34" charset="-122"/>
                <a:cs typeface="Courier New" pitchFamily="34" charset="-120"/>
              </a:rPr>
              <a:t>CSV labels per barcode: cell_type_codi</a:t>
            </a:r>
            <a:endParaRPr lang="en-US" sz="950" dirty="0"/>
          </a:p>
        </p:txBody>
      </p:sp>
      <p:sp>
        <p:nvSpPr>
          <p:cNvPr id="20" name="Shape 18"/>
          <p:cNvSpPr/>
          <p:nvPr/>
        </p:nvSpPr>
        <p:spPr>
          <a:xfrm>
            <a:off x="6126480" y="1298448"/>
            <a:ext cx="2651760" cy="2651760"/>
          </a:xfrm>
          <a:prstGeom prst="roundRect">
            <a:avLst>
              <a:gd name="adj" fmla="val 2759"/>
            </a:avLst>
          </a:prstGeom>
          <a:solidFill>
            <a:srgbClr val="FFFFFF"/>
          </a:solidFill>
          <a:ln/>
          <a:effectLst>
            <a:outerShdw blurRad="101600" dist="25400" dir="2700000" algn="bl" rotWithShape="0">
              <a:srgbClr val="000000">
                <a:alpha val="10000"/>
              </a:srgbClr>
            </a:outerShdw>
          </a:effectLst>
        </p:spPr>
        <p:txBody>
          <a:bodyPr/>
          <a:lstStyle/>
          <a:p>
            <a:endParaRPr lang="sr-Latn-RS"/>
          </a:p>
        </p:txBody>
      </p:sp>
      <p:sp>
        <p:nvSpPr>
          <p:cNvPr id="21" name="Shape 19"/>
          <p:cNvSpPr/>
          <p:nvPr/>
        </p:nvSpPr>
        <p:spPr>
          <a:xfrm>
            <a:off x="6126480" y="1298448"/>
            <a:ext cx="2651760" cy="347472"/>
          </a:xfrm>
          <a:prstGeom prst="roundRect">
            <a:avLst>
              <a:gd name="adj" fmla="val 21053"/>
            </a:avLst>
          </a:prstGeom>
          <a:solidFill>
            <a:srgbClr val="E05C4B"/>
          </a:solidFill>
          <a:ln/>
        </p:spPr>
        <p:txBody>
          <a:bodyPr/>
          <a:lstStyle/>
          <a:p>
            <a:endParaRPr lang="sr-Latn-RS"/>
          </a:p>
        </p:txBody>
      </p:sp>
      <p:sp>
        <p:nvSpPr>
          <p:cNvPr id="22" name="Shape 20"/>
          <p:cNvSpPr/>
          <p:nvPr/>
        </p:nvSpPr>
        <p:spPr>
          <a:xfrm>
            <a:off x="6126480" y="1463040"/>
            <a:ext cx="2651760" cy="182880"/>
          </a:xfrm>
          <a:prstGeom prst="rect">
            <a:avLst/>
          </a:prstGeom>
          <a:solidFill>
            <a:srgbClr val="E05C4B"/>
          </a:solidFill>
          <a:ln/>
        </p:spPr>
        <p:txBody>
          <a:bodyPr/>
          <a:lstStyle/>
          <a:p>
            <a:endParaRPr lang="sr-Latn-RS"/>
          </a:p>
        </p:txBody>
      </p:sp>
      <p:sp>
        <p:nvSpPr>
          <p:cNvPr id="23" name="Text 21"/>
          <p:cNvSpPr/>
          <p:nvPr/>
        </p:nvSpPr>
        <p:spPr>
          <a:xfrm>
            <a:off x="6126480" y="1298448"/>
            <a:ext cx="26517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Azimuth PBMC</a:t>
            </a:r>
            <a:endParaRPr lang="en-US" sz="1300" dirty="0"/>
          </a:p>
        </p:txBody>
      </p:sp>
      <p:sp>
        <p:nvSpPr>
          <p:cNvPr id="24" name="Text 22"/>
          <p:cNvSpPr/>
          <p:nvPr/>
        </p:nvSpPr>
        <p:spPr>
          <a:xfrm>
            <a:off x="6217920" y="1719072"/>
            <a:ext cx="2468880" cy="658368"/>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Satija Lab reference atlas (ref.Rds + idx.annoy) — maps cells to 3 resolution levels</a:t>
            </a:r>
            <a:endParaRPr lang="en-US" sz="1050" dirty="0"/>
          </a:p>
        </p:txBody>
      </p:sp>
      <p:sp>
        <p:nvSpPr>
          <p:cNvPr id="25" name="Text 23"/>
          <p:cNvSpPr/>
          <p:nvPr/>
        </p:nvSpPr>
        <p:spPr>
          <a:xfrm>
            <a:off x="6217920" y="2395728"/>
            <a:ext cx="2468880" cy="457200"/>
          </a:xfrm>
          <a:prstGeom prst="rect">
            <a:avLst/>
          </a:prstGeom>
          <a:noFill/>
          <a:ln/>
        </p:spPr>
        <p:txBody>
          <a:bodyPr wrap="square" rtlCol="0" anchor="ctr"/>
          <a:lstStyle/>
          <a:p>
            <a:pPr marL="0" indent="0">
              <a:buNone/>
            </a:pPr>
            <a:r>
              <a:rPr lang="en-US" sz="1000" i="1" dirty="0">
                <a:solidFill>
                  <a:srgbClr val="1D6A8B"/>
                </a:solidFill>
                <a:latin typeface="Calibri" pitchFamily="34" charset="0"/>
                <a:ea typeface="Calibri" pitchFamily="34" charset="-122"/>
                <a:cs typeface="Calibri" pitchFamily="34" charset="-120"/>
              </a:rPr>
              <a:t>✓ Fine-grained labels (CD4 vs CD8 T, memory vs naive) · confidence scores</a:t>
            </a:r>
            <a:endParaRPr lang="en-US" sz="1000" dirty="0"/>
          </a:p>
        </p:txBody>
      </p:sp>
      <p:sp>
        <p:nvSpPr>
          <p:cNvPr id="26" name="Shape 24"/>
          <p:cNvSpPr/>
          <p:nvPr/>
        </p:nvSpPr>
        <p:spPr>
          <a:xfrm>
            <a:off x="6217920" y="2889504"/>
            <a:ext cx="2468880" cy="457200"/>
          </a:xfrm>
          <a:prstGeom prst="roundRect">
            <a:avLst>
              <a:gd name="adj" fmla="val 8000"/>
            </a:avLst>
          </a:prstGeom>
          <a:solidFill>
            <a:srgbClr val="D6EEF5"/>
          </a:solidFill>
          <a:ln/>
        </p:spPr>
        <p:txBody>
          <a:bodyPr/>
          <a:lstStyle/>
          <a:p>
            <a:endParaRPr lang="sr-Latn-RS"/>
          </a:p>
        </p:txBody>
      </p:sp>
      <p:sp>
        <p:nvSpPr>
          <p:cNvPr id="27" name="Text 25"/>
          <p:cNvSpPr/>
          <p:nvPr/>
        </p:nvSpPr>
        <p:spPr>
          <a:xfrm>
            <a:off x="6217920" y="2889504"/>
            <a:ext cx="2468880" cy="457200"/>
          </a:xfrm>
          <a:prstGeom prst="rect">
            <a:avLst/>
          </a:prstGeom>
          <a:noFill/>
          <a:ln/>
        </p:spPr>
        <p:txBody>
          <a:bodyPr wrap="square" rtlCol="0" anchor="ctr"/>
          <a:lstStyle/>
          <a:p>
            <a:pPr marL="0" indent="0">
              <a:buNone/>
            </a:pPr>
            <a:r>
              <a:rPr lang="en-US" sz="950" dirty="0">
                <a:solidFill>
                  <a:srgbClr val="0A2342"/>
                </a:solidFill>
                <a:latin typeface="Courier New" pitchFamily="34" charset="0"/>
                <a:ea typeface="Courier New" pitchFamily="34" charset="-122"/>
                <a:cs typeface="Courier New" pitchFamily="34" charset="-120"/>
              </a:rPr>
              <a:t>Rscript azimuth_annotation.R</a:t>
            </a:r>
            <a:endParaRPr lang="en-US" sz="950" dirty="0"/>
          </a:p>
        </p:txBody>
      </p:sp>
      <p:sp>
        <p:nvSpPr>
          <p:cNvPr id="28" name="Shape 26"/>
          <p:cNvSpPr/>
          <p:nvPr/>
        </p:nvSpPr>
        <p:spPr>
          <a:xfrm>
            <a:off x="457200" y="4041648"/>
            <a:ext cx="8229600" cy="749808"/>
          </a:xfrm>
          <a:prstGeom prst="roundRect">
            <a:avLst>
              <a:gd name="adj" fmla="val 8537"/>
            </a:avLst>
          </a:prstGeom>
          <a:solidFill>
            <a:srgbClr val="0A2342"/>
          </a:solidFill>
          <a:ln/>
        </p:spPr>
        <p:txBody>
          <a:bodyPr/>
          <a:lstStyle/>
          <a:p>
            <a:endParaRPr lang="sr-Latn-RS"/>
          </a:p>
        </p:txBody>
      </p:sp>
      <p:sp>
        <p:nvSpPr>
          <p:cNvPr id="29" name="Text 27"/>
          <p:cNvSpPr/>
          <p:nvPr/>
        </p:nvSpPr>
        <p:spPr>
          <a:xfrm>
            <a:off x="640080" y="4133088"/>
            <a:ext cx="2103120" cy="292608"/>
          </a:xfrm>
          <a:prstGeom prst="rect">
            <a:avLst/>
          </a:prstGeom>
          <a:noFill/>
          <a:ln/>
        </p:spPr>
        <p:txBody>
          <a:bodyPr wrap="square" rtlCol="0" anchor="ctr"/>
          <a:lstStyle/>
          <a:p>
            <a:pPr marL="0" indent="0">
              <a:buNone/>
            </a:pPr>
            <a:r>
              <a:rPr lang="en-US" sz="1200" b="1" dirty="0">
                <a:solidFill>
                  <a:srgbClr val="2AABCC"/>
                </a:solidFill>
                <a:latin typeface="Calibri" pitchFamily="34" charset="0"/>
                <a:ea typeface="Calibri" pitchFamily="34" charset="-122"/>
                <a:cs typeface="Calibri" pitchFamily="34" charset="-120"/>
              </a:rPr>
              <a:t>Largest populations: </a:t>
            </a:r>
            <a:endParaRPr lang="en-US" sz="1200" dirty="0"/>
          </a:p>
        </p:txBody>
      </p:sp>
      <p:sp>
        <p:nvSpPr>
          <p:cNvPr id="30" name="Text 28"/>
          <p:cNvSpPr/>
          <p:nvPr/>
        </p:nvSpPr>
        <p:spPr>
          <a:xfrm>
            <a:off x="2651760" y="4133088"/>
            <a:ext cx="5852160" cy="292608"/>
          </a:xfrm>
          <a:prstGeom prst="rect">
            <a:avLst/>
          </a:prstGeom>
          <a:noFill/>
          <a:ln/>
        </p:spPr>
        <p:txBody>
          <a:bodyPr wrap="square" rtlCol="0" anchor="ctr"/>
          <a:lstStyle/>
          <a:p>
            <a:pPr marL="0" indent="0">
              <a:buNone/>
            </a:pPr>
            <a:r>
              <a:rPr lang="en-US" sz="1200" b="1" dirty="0">
                <a:solidFill>
                  <a:srgbClr val="D6EEF5"/>
                </a:solidFill>
                <a:latin typeface="Calibri" pitchFamily="34" charset="0"/>
                <a:ea typeface="Calibri" pitchFamily="34" charset="-122"/>
                <a:cs typeface="Calibri" pitchFamily="34" charset="-120"/>
              </a:rPr>
              <a:t>  CD4+ T: 15,568  ·  NK: 5,812  ·  B cells: 4,820  ·  CD8+ T: 3,902  ·  CD14+ Mono: 2,230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0A2342"/>
                </a:solidFill>
                <a:latin typeface="Cambria" pitchFamily="34" charset="0"/>
                <a:ea typeface="Cambria" pitchFamily="34" charset="-122"/>
                <a:cs typeface="Cambria" pitchFamily="34" charset="-120"/>
              </a:rPr>
              <a:t>Cell Type Composition Across Conditions</a:t>
            </a:r>
            <a:endParaRPr lang="en-US" sz="3400" dirty="0"/>
          </a:p>
        </p:txBody>
      </p:sp>
      <p:pic>
        <p:nvPicPr>
          <p:cNvPr id="3" name="Composition Barplot"/>
          <p:cNvPicPr>
            <a:picLocks noChangeAspect="1"/>
          </p:cNvPicPr>
          <p:nvPr/>
        </p:nvPicPr>
        <p:blipFill>
          <a:blip r:embed="rId3"/>
          <a:stretch>
            <a:fillRect/>
          </a:stretch>
        </p:blipFill>
        <p:spPr>
          <a:xfrm>
            <a:off x="457200" y="1679993"/>
            <a:ext cx="5029200" cy="2400735"/>
          </a:xfrm>
          <a:prstGeom prst="rect">
            <a:avLst/>
          </a:prstGeom>
        </p:spPr>
      </p:pic>
      <p:sp>
        <p:nvSpPr>
          <p:cNvPr id="4" name="Shape 1"/>
          <p:cNvSpPr/>
          <p:nvPr/>
        </p:nvSpPr>
        <p:spPr>
          <a:xfrm>
            <a:off x="5669280" y="1051560"/>
            <a:ext cx="3017520" cy="1051560"/>
          </a:xfrm>
          <a:prstGeom prst="roundRect">
            <a:avLst>
              <a:gd name="adj" fmla="val 6087"/>
            </a:avLst>
          </a:prstGeom>
          <a:solidFill>
            <a:srgbClr val="F0F7FA"/>
          </a:solidFill>
          <a:ln/>
          <a:effectLst>
            <a:outerShdw blurRad="63500" dist="25400" dir="2700000" algn="bl" rotWithShape="0">
              <a:srgbClr val="000000">
                <a:alpha val="10000"/>
              </a:srgbClr>
            </a:outerShdw>
          </a:effectLst>
        </p:spPr>
        <p:txBody>
          <a:bodyPr/>
          <a:lstStyle/>
          <a:p>
            <a:endParaRPr lang="sr-Latn-RS"/>
          </a:p>
        </p:txBody>
      </p:sp>
      <p:sp>
        <p:nvSpPr>
          <p:cNvPr id="5" name="Text 2"/>
          <p:cNvSpPr/>
          <p:nvPr/>
        </p:nvSpPr>
        <p:spPr>
          <a:xfrm>
            <a:off x="5806440" y="1097280"/>
            <a:ext cx="2743200" cy="292608"/>
          </a:xfrm>
          <a:prstGeom prst="rect">
            <a:avLst/>
          </a:prstGeom>
          <a:noFill/>
          <a:ln/>
        </p:spPr>
        <p:txBody>
          <a:bodyPr wrap="square" rtlCol="0" anchor="ctr"/>
          <a:lstStyle/>
          <a:p>
            <a:pPr marL="0" indent="0">
              <a:buNone/>
            </a:pPr>
            <a:r>
              <a:rPr lang="en-US" sz="1200" b="1" dirty="0">
                <a:solidFill>
                  <a:srgbClr val="E05C4B"/>
                </a:solidFill>
                <a:latin typeface="Calibri" pitchFamily="34" charset="0"/>
                <a:ea typeface="Calibri" pitchFamily="34" charset="-122"/>
                <a:cs typeface="Calibri" pitchFamily="34" charset="-120"/>
              </a:rPr>
              <a:t>📈 CD14+ Monocytes shift</a:t>
            </a:r>
            <a:endParaRPr lang="en-US" sz="1200" dirty="0"/>
          </a:p>
        </p:txBody>
      </p:sp>
      <p:sp>
        <p:nvSpPr>
          <p:cNvPr id="6" name="Text 3"/>
          <p:cNvSpPr/>
          <p:nvPr/>
        </p:nvSpPr>
        <p:spPr>
          <a:xfrm>
            <a:off x="5806440" y="1399032"/>
            <a:ext cx="2743200" cy="621792"/>
          </a:xfrm>
          <a:prstGeom prst="rect">
            <a:avLst/>
          </a:prstGeom>
          <a:noFill/>
          <a:ln/>
        </p:spPr>
        <p:txBody>
          <a:bodyPr wrap="square" rtlCol="0" anchor="ctr"/>
          <a:lstStyle/>
          <a:p>
            <a:pPr marL="0" indent="0">
              <a:buNone/>
            </a:pPr>
            <a:r>
              <a:rPr lang="en-US" sz="1100" dirty="0">
                <a:solidFill>
                  <a:srgbClr val="0A2342"/>
                </a:solidFill>
                <a:latin typeface="Calibri" pitchFamily="34" charset="0"/>
                <a:ea typeface="Calibri" pitchFamily="34" charset="-122"/>
                <a:cs typeface="Calibri" pitchFamily="34" charset="-120"/>
              </a:rPr>
              <a:t>5.7% control → 9.7% under 200 nm</a:t>
            </a:r>
            <a:endParaRPr lang="en-US" sz="1100" dirty="0"/>
          </a:p>
          <a:p>
            <a:pPr marL="0" indent="0">
              <a:buNone/>
            </a:pPr>
            <a:r>
              <a:rPr lang="en-US" sz="1100" dirty="0">
                <a:solidFill>
                  <a:srgbClr val="0A2342"/>
                </a:solidFill>
                <a:latin typeface="Calibri" pitchFamily="34" charset="0"/>
                <a:ea typeface="Calibri" pitchFamily="34" charset="-122"/>
                <a:cs typeface="Calibri" pitchFamily="34" charset="-120"/>
              </a:rPr>
              <a:t>but drops to 3.1% in the mixture</a:t>
            </a:r>
            <a:endParaRPr lang="en-US" sz="1100" dirty="0"/>
          </a:p>
        </p:txBody>
      </p:sp>
      <p:sp>
        <p:nvSpPr>
          <p:cNvPr id="7" name="Shape 4"/>
          <p:cNvSpPr/>
          <p:nvPr/>
        </p:nvSpPr>
        <p:spPr>
          <a:xfrm>
            <a:off x="5669280" y="2240280"/>
            <a:ext cx="3017520" cy="1051560"/>
          </a:xfrm>
          <a:prstGeom prst="roundRect">
            <a:avLst>
              <a:gd name="adj" fmla="val 6087"/>
            </a:avLst>
          </a:prstGeom>
          <a:solidFill>
            <a:srgbClr val="F0F7FA"/>
          </a:solidFill>
          <a:ln/>
          <a:effectLst>
            <a:outerShdw blurRad="63500" dist="25400" dir="2700000" algn="bl" rotWithShape="0">
              <a:srgbClr val="000000">
                <a:alpha val="10000"/>
              </a:srgbClr>
            </a:outerShdw>
          </a:effectLst>
        </p:spPr>
        <p:txBody>
          <a:bodyPr/>
          <a:lstStyle/>
          <a:p>
            <a:endParaRPr lang="sr-Latn-RS"/>
          </a:p>
        </p:txBody>
      </p:sp>
      <p:sp>
        <p:nvSpPr>
          <p:cNvPr id="8" name="Text 5"/>
          <p:cNvSpPr/>
          <p:nvPr/>
        </p:nvSpPr>
        <p:spPr>
          <a:xfrm>
            <a:off x="5806440" y="2286000"/>
            <a:ext cx="2743200" cy="292608"/>
          </a:xfrm>
          <a:prstGeom prst="rect">
            <a:avLst/>
          </a:prstGeom>
          <a:noFill/>
          <a:ln/>
        </p:spPr>
        <p:txBody>
          <a:bodyPr wrap="square" rtlCol="0" anchor="ctr"/>
          <a:lstStyle/>
          <a:p>
            <a:pPr marL="0" indent="0">
              <a:buNone/>
            </a:pPr>
            <a:r>
              <a:rPr lang="en-US" sz="1200" b="1" dirty="0">
                <a:solidFill>
                  <a:srgbClr val="1D6A8B"/>
                </a:solidFill>
                <a:latin typeface="Calibri" pitchFamily="34" charset="0"/>
                <a:ea typeface="Calibri" pitchFamily="34" charset="-122"/>
                <a:cs typeface="Calibri" pitchFamily="34" charset="-120"/>
              </a:rPr>
              <a:t>📊 CD4+ T cells stable</a:t>
            </a:r>
            <a:endParaRPr lang="en-US" sz="1200" dirty="0"/>
          </a:p>
        </p:txBody>
      </p:sp>
      <p:sp>
        <p:nvSpPr>
          <p:cNvPr id="9" name="Text 6"/>
          <p:cNvSpPr/>
          <p:nvPr/>
        </p:nvSpPr>
        <p:spPr>
          <a:xfrm>
            <a:off x="5806440" y="2587752"/>
            <a:ext cx="2743200" cy="621792"/>
          </a:xfrm>
          <a:prstGeom prst="rect">
            <a:avLst/>
          </a:prstGeom>
          <a:noFill/>
          <a:ln/>
        </p:spPr>
        <p:txBody>
          <a:bodyPr wrap="square" rtlCol="0" anchor="ctr"/>
          <a:lstStyle/>
          <a:p>
            <a:pPr marL="0" indent="0">
              <a:buNone/>
            </a:pPr>
            <a:r>
              <a:rPr lang="en-US" sz="1100" dirty="0">
                <a:solidFill>
                  <a:srgbClr val="0A2342"/>
                </a:solidFill>
                <a:latin typeface="Calibri" pitchFamily="34" charset="0"/>
                <a:ea typeface="Calibri" pitchFamily="34" charset="-122"/>
                <a:cs typeface="Calibri" pitchFamily="34" charset="-120"/>
              </a:rPr>
              <a:t>~44–49% across all conditions</a:t>
            </a:r>
            <a:endParaRPr lang="en-US" sz="1100" dirty="0"/>
          </a:p>
          <a:p>
            <a:pPr marL="0" indent="0">
              <a:buNone/>
            </a:pPr>
            <a:r>
              <a:rPr lang="en-US" sz="1100" dirty="0">
                <a:solidFill>
                  <a:srgbClr val="0A2342"/>
                </a:solidFill>
                <a:latin typeface="Calibri" pitchFamily="34" charset="0"/>
                <a:ea typeface="Calibri" pitchFamily="34" charset="-122"/>
                <a:cs typeface="Calibri" pitchFamily="34" charset="-120"/>
              </a:rPr>
              <a:t> — dominant population</a:t>
            </a:r>
            <a:endParaRPr lang="en-US" sz="1100" dirty="0"/>
          </a:p>
        </p:txBody>
      </p:sp>
      <p:sp>
        <p:nvSpPr>
          <p:cNvPr id="10" name="Shape 7"/>
          <p:cNvSpPr/>
          <p:nvPr/>
        </p:nvSpPr>
        <p:spPr>
          <a:xfrm>
            <a:off x="5669280" y="3429000"/>
            <a:ext cx="3017520" cy="1051560"/>
          </a:xfrm>
          <a:prstGeom prst="roundRect">
            <a:avLst>
              <a:gd name="adj" fmla="val 6087"/>
            </a:avLst>
          </a:prstGeom>
          <a:solidFill>
            <a:srgbClr val="F0F7FA"/>
          </a:solidFill>
          <a:ln/>
          <a:effectLst>
            <a:outerShdw blurRad="63500" dist="25400" dir="2700000" algn="bl" rotWithShape="0">
              <a:srgbClr val="000000">
                <a:alpha val="10000"/>
              </a:srgbClr>
            </a:outerShdw>
          </a:effectLst>
        </p:spPr>
        <p:txBody>
          <a:bodyPr/>
          <a:lstStyle/>
          <a:p>
            <a:endParaRPr lang="sr-Latn-RS"/>
          </a:p>
        </p:txBody>
      </p:sp>
      <p:sp>
        <p:nvSpPr>
          <p:cNvPr id="11" name="Text 8"/>
          <p:cNvSpPr/>
          <p:nvPr/>
        </p:nvSpPr>
        <p:spPr>
          <a:xfrm>
            <a:off x="5806440" y="3474720"/>
            <a:ext cx="2743200" cy="292608"/>
          </a:xfrm>
          <a:prstGeom prst="rect">
            <a:avLst/>
          </a:prstGeom>
          <a:noFill/>
          <a:ln/>
        </p:spPr>
        <p:txBody>
          <a:bodyPr wrap="square" rtlCol="0" anchor="ctr"/>
          <a:lstStyle/>
          <a:p>
            <a:pPr marL="0" indent="0">
              <a:buNone/>
            </a:pPr>
            <a:r>
              <a:rPr lang="en-US" sz="1200" b="1" dirty="0">
                <a:solidFill>
                  <a:srgbClr val="E8A838"/>
                </a:solidFill>
                <a:latin typeface="Calibri" pitchFamily="34" charset="0"/>
                <a:ea typeface="Calibri" pitchFamily="34" charset="-122"/>
                <a:cs typeface="Calibri" pitchFamily="34" charset="-120"/>
              </a:rPr>
              <a:t>🔀 Mix shows unique pattern</a:t>
            </a:r>
            <a:endParaRPr lang="en-US" sz="1200" dirty="0"/>
          </a:p>
        </p:txBody>
      </p:sp>
      <p:sp>
        <p:nvSpPr>
          <p:cNvPr id="12" name="Text 9"/>
          <p:cNvSpPr/>
          <p:nvPr/>
        </p:nvSpPr>
        <p:spPr>
          <a:xfrm>
            <a:off x="5806440" y="3776472"/>
            <a:ext cx="2743200" cy="621792"/>
          </a:xfrm>
          <a:prstGeom prst="rect">
            <a:avLst/>
          </a:prstGeom>
          <a:noFill/>
          <a:ln/>
        </p:spPr>
        <p:txBody>
          <a:bodyPr wrap="square" rtlCol="0" anchor="ctr"/>
          <a:lstStyle/>
          <a:p>
            <a:pPr marL="0" indent="0">
              <a:buNone/>
            </a:pPr>
            <a:r>
              <a:rPr lang="en-US" sz="1100" dirty="0">
                <a:solidFill>
                  <a:srgbClr val="0A2342"/>
                </a:solidFill>
                <a:latin typeface="Calibri" pitchFamily="34" charset="0"/>
                <a:ea typeface="Calibri" pitchFamily="34" charset="-122"/>
                <a:cs typeface="Calibri" pitchFamily="34" charset="-120"/>
              </a:rPr>
              <a:t>Mixture does NOT simply average</a:t>
            </a:r>
            <a:endParaRPr lang="en-US" sz="1100" dirty="0"/>
          </a:p>
          <a:p>
            <a:pPr marL="0" indent="0">
              <a:buNone/>
            </a:pPr>
            <a:r>
              <a:rPr lang="en-US" sz="1100" dirty="0">
                <a:solidFill>
                  <a:srgbClr val="0A2342"/>
                </a:solidFill>
                <a:latin typeface="Calibri" pitchFamily="34" charset="0"/>
                <a:ea typeface="Calibri" pitchFamily="34" charset="-122"/>
                <a:cs typeface="Calibri" pitchFamily="34" charset="-120"/>
              </a:rPr>
              <a:t>40 nm and 200 nm effects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600" b="1" dirty="0">
                <a:solidFill>
                  <a:srgbClr val="0A2342"/>
                </a:solidFill>
                <a:latin typeface="Cambria" pitchFamily="34" charset="0"/>
                <a:ea typeface="Cambria" pitchFamily="34" charset="-122"/>
                <a:cs typeface="Cambria" pitchFamily="34" charset="-120"/>
              </a:rPr>
              <a:t>Differential Expression Analysis</a:t>
            </a:r>
            <a:endParaRPr lang="en-US" sz="3600" dirty="0"/>
          </a:p>
        </p:txBody>
      </p:sp>
      <p:sp>
        <p:nvSpPr>
          <p:cNvPr id="3" name="Shape 1"/>
          <p:cNvSpPr/>
          <p:nvPr/>
        </p:nvSpPr>
        <p:spPr>
          <a:xfrm>
            <a:off x="457200" y="914400"/>
            <a:ext cx="8229600" cy="640080"/>
          </a:xfrm>
          <a:prstGeom prst="roundRect">
            <a:avLst>
              <a:gd name="adj" fmla="val 10000"/>
            </a:avLst>
          </a:prstGeom>
          <a:solidFill>
            <a:srgbClr val="0A2342"/>
          </a:solidFill>
          <a:ln/>
        </p:spPr>
        <p:txBody>
          <a:bodyPr/>
          <a:lstStyle/>
          <a:p>
            <a:endParaRPr lang="sr-Latn-RS"/>
          </a:p>
        </p:txBody>
      </p:sp>
      <p:sp>
        <p:nvSpPr>
          <p:cNvPr id="4" name="Text 2"/>
          <p:cNvSpPr/>
          <p:nvPr/>
        </p:nvSpPr>
        <p:spPr>
          <a:xfrm>
            <a:off x="640080" y="914400"/>
            <a:ext cx="7863840" cy="640080"/>
          </a:xfrm>
          <a:prstGeom prst="rect">
            <a:avLst/>
          </a:prstGeom>
          <a:noFill/>
          <a:ln/>
        </p:spPr>
        <p:txBody>
          <a:bodyPr wrap="square" rtlCol="0" anchor="ctr"/>
          <a:lstStyle/>
          <a:p>
            <a:pPr marL="0" indent="0">
              <a:buNone/>
            </a:pPr>
            <a:r>
              <a:rPr lang="en-US" sz="1200" dirty="0">
                <a:solidFill>
                  <a:srgbClr val="D6EEF5"/>
                </a:solidFill>
                <a:latin typeface="Calibri" pitchFamily="34" charset="0"/>
                <a:ea typeface="Calibri" pitchFamily="34" charset="-122"/>
                <a:cs typeface="Calibri" pitchFamily="34" charset="-120"/>
              </a:rPr>
              <a:t>Method: Wilcoxon rank-sum test  ·  each exposure vs control  ·  per cell type separately  ·  thresholds: padj &lt; 0.05, |log2FC| &gt; 0.25</a:t>
            </a:r>
            <a:endParaRPr lang="en-US" sz="1200" dirty="0"/>
          </a:p>
        </p:txBody>
      </p:sp>
      <p:sp>
        <p:nvSpPr>
          <p:cNvPr id="5" name="Shape 3"/>
          <p:cNvSpPr/>
          <p:nvPr/>
        </p:nvSpPr>
        <p:spPr>
          <a:xfrm>
            <a:off x="457200" y="1691640"/>
            <a:ext cx="2560320" cy="1371600"/>
          </a:xfrm>
          <a:prstGeom prst="roundRect">
            <a:avLst>
              <a:gd name="adj" fmla="val 5333"/>
            </a:avLst>
          </a:prstGeom>
          <a:solidFill>
            <a:srgbClr val="FFFFFF"/>
          </a:solidFill>
          <a:ln/>
          <a:effectLst>
            <a:outerShdw blurRad="76200" dist="25400" dir="2700000" algn="bl" rotWithShape="0">
              <a:srgbClr val="000000">
                <a:alpha val="10000"/>
              </a:srgbClr>
            </a:outerShdw>
          </a:effectLst>
        </p:spPr>
        <p:txBody>
          <a:bodyPr/>
          <a:lstStyle/>
          <a:p>
            <a:endParaRPr lang="sr-Latn-RS"/>
          </a:p>
        </p:txBody>
      </p:sp>
      <p:sp>
        <p:nvSpPr>
          <p:cNvPr id="6" name="Text 4"/>
          <p:cNvSpPr/>
          <p:nvPr/>
        </p:nvSpPr>
        <p:spPr>
          <a:xfrm>
            <a:off x="457200" y="1783080"/>
            <a:ext cx="2560320" cy="685800"/>
          </a:xfrm>
          <a:prstGeom prst="rect">
            <a:avLst/>
          </a:prstGeom>
          <a:noFill/>
          <a:ln/>
        </p:spPr>
        <p:txBody>
          <a:bodyPr wrap="square" rtlCol="0" anchor="ctr"/>
          <a:lstStyle/>
          <a:p>
            <a:pPr marL="0" indent="0" algn="ctr">
              <a:buNone/>
            </a:pPr>
            <a:r>
              <a:rPr lang="en-US" sz="4400" b="1" dirty="0">
                <a:solidFill>
                  <a:srgbClr val="1D6A8B"/>
                </a:solidFill>
                <a:latin typeface="Cambria" pitchFamily="34" charset="0"/>
                <a:ea typeface="Cambria" pitchFamily="34" charset="-122"/>
                <a:cs typeface="Cambria" pitchFamily="34" charset="-120"/>
              </a:rPr>
              <a:t>36,814</a:t>
            </a:r>
            <a:endParaRPr lang="en-US" sz="4400" dirty="0"/>
          </a:p>
        </p:txBody>
      </p:sp>
      <p:sp>
        <p:nvSpPr>
          <p:cNvPr id="7" name="Text 5"/>
          <p:cNvSpPr/>
          <p:nvPr/>
        </p:nvSpPr>
        <p:spPr>
          <a:xfrm>
            <a:off x="457200" y="2468880"/>
            <a:ext cx="2560320" cy="502920"/>
          </a:xfrm>
          <a:prstGeom prst="rect">
            <a:avLst/>
          </a:prstGeom>
          <a:noFill/>
          <a:ln/>
        </p:spPr>
        <p:txBody>
          <a:bodyPr wrap="square" rtlCol="0" anchor="ctr"/>
          <a:lstStyle/>
          <a:p>
            <a:pPr marL="0" indent="0" algn="ctr">
              <a:buNone/>
            </a:pPr>
            <a:r>
              <a:rPr lang="en-US" sz="1100" dirty="0">
                <a:solidFill>
                  <a:srgbClr val="7FA9BB"/>
                </a:solidFill>
                <a:latin typeface="Calibri" pitchFamily="34" charset="0"/>
                <a:ea typeface="Calibri" pitchFamily="34" charset="-122"/>
                <a:cs typeface="Calibri" pitchFamily="34" charset="-120"/>
              </a:rPr>
              <a:t>significant DE gene-rows</a:t>
            </a:r>
            <a:endParaRPr lang="en-US" sz="1100" dirty="0"/>
          </a:p>
          <a:p>
            <a:pPr marL="0" indent="0" algn="ctr">
              <a:buNone/>
            </a:pPr>
            <a:r>
              <a:rPr lang="en-US" sz="1100" dirty="0">
                <a:solidFill>
                  <a:srgbClr val="7FA9BB"/>
                </a:solidFill>
                <a:latin typeface="Calibri" pitchFamily="34" charset="0"/>
                <a:ea typeface="Calibri" pitchFamily="34" charset="-122"/>
                <a:cs typeface="Calibri" pitchFamily="34" charset="-120"/>
              </a:rPr>
              <a:t>(of 66,000 total tested)</a:t>
            </a:r>
            <a:endParaRPr lang="en-US" sz="1100" dirty="0"/>
          </a:p>
        </p:txBody>
      </p:sp>
      <p:sp>
        <p:nvSpPr>
          <p:cNvPr id="8" name="Shape 6"/>
          <p:cNvSpPr/>
          <p:nvPr/>
        </p:nvSpPr>
        <p:spPr>
          <a:xfrm>
            <a:off x="3200400" y="1691640"/>
            <a:ext cx="2560320" cy="1371600"/>
          </a:xfrm>
          <a:prstGeom prst="roundRect">
            <a:avLst>
              <a:gd name="adj" fmla="val 5333"/>
            </a:avLst>
          </a:prstGeom>
          <a:solidFill>
            <a:srgbClr val="FFFFFF"/>
          </a:solidFill>
          <a:ln/>
          <a:effectLst>
            <a:outerShdw blurRad="76200" dist="25400" dir="2700000" algn="bl" rotWithShape="0">
              <a:srgbClr val="000000">
                <a:alpha val="10000"/>
              </a:srgbClr>
            </a:outerShdw>
          </a:effectLst>
        </p:spPr>
        <p:txBody>
          <a:bodyPr/>
          <a:lstStyle/>
          <a:p>
            <a:endParaRPr lang="sr-Latn-RS"/>
          </a:p>
        </p:txBody>
      </p:sp>
      <p:sp>
        <p:nvSpPr>
          <p:cNvPr id="9" name="Text 7"/>
          <p:cNvSpPr/>
          <p:nvPr/>
        </p:nvSpPr>
        <p:spPr>
          <a:xfrm>
            <a:off x="3200400" y="1783080"/>
            <a:ext cx="2560320" cy="685800"/>
          </a:xfrm>
          <a:prstGeom prst="rect">
            <a:avLst/>
          </a:prstGeom>
          <a:noFill/>
          <a:ln/>
        </p:spPr>
        <p:txBody>
          <a:bodyPr wrap="square" rtlCol="0" anchor="ctr"/>
          <a:lstStyle/>
          <a:p>
            <a:pPr marL="0" indent="0" algn="ctr">
              <a:buNone/>
            </a:pPr>
            <a:r>
              <a:rPr lang="en-US" sz="4400" b="1" dirty="0">
                <a:solidFill>
                  <a:srgbClr val="E8A838"/>
                </a:solidFill>
                <a:latin typeface="Cambria" pitchFamily="34" charset="0"/>
                <a:ea typeface="Cambria" pitchFamily="34" charset="-122"/>
                <a:cs typeface="Cambria" pitchFamily="34" charset="-120"/>
              </a:rPr>
              <a:t>22</a:t>
            </a:r>
            <a:endParaRPr lang="en-US" sz="4400" dirty="0"/>
          </a:p>
        </p:txBody>
      </p:sp>
      <p:sp>
        <p:nvSpPr>
          <p:cNvPr id="10" name="Text 8"/>
          <p:cNvSpPr/>
          <p:nvPr/>
        </p:nvSpPr>
        <p:spPr>
          <a:xfrm>
            <a:off x="3200400" y="2468880"/>
            <a:ext cx="2560320" cy="502920"/>
          </a:xfrm>
          <a:prstGeom prst="rect">
            <a:avLst/>
          </a:prstGeom>
          <a:noFill/>
          <a:ln/>
        </p:spPr>
        <p:txBody>
          <a:bodyPr wrap="square" rtlCol="0" anchor="ctr"/>
          <a:lstStyle/>
          <a:p>
            <a:pPr marL="0" indent="0" algn="ctr">
              <a:buNone/>
            </a:pPr>
            <a:r>
              <a:rPr lang="en-US" sz="1100" dirty="0">
                <a:solidFill>
                  <a:srgbClr val="7FA9BB"/>
                </a:solidFill>
                <a:latin typeface="Calibri" pitchFamily="34" charset="0"/>
                <a:ea typeface="Calibri" pitchFamily="34" charset="-122"/>
                <a:cs typeface="Calibri" pitchFamily="34" charset="-120"/>
              </a:rPr>
              <a:t>cell type × exposure</a:t>
            </a:r>
            <a:endParaRPr lang="en-US" sz="1100" dirty="0"/>
          </a:p>
          <a:p>
            <a:pPr marL="0" indent="0" algn="ctr">
              <a:buNone/>
            </a:pPr>
            <a:r>
              <a:rPr lang="en-US" sz="1100" dirty="0">
                <a:solidFill>
                  <a:srgbClr val="7FA9BB"/>
                </a:solidFill>
                <a:latin typeface="Calibri" pitchFamily="34" charset="0"/>
                <a:ea typeface="Calibri" pitchFamily="34" charset="-122"/>
                <a:cs typeface="Calibri" pitchFamily="34" charset="-120"/>
              </a:rPr>
              <a:t>comparisons completed</a:t>
            </a:r>
            <a:endParaRPr lang="en-US" sz="1100" dirty="0"/>
          </a:p>
        </p:txBody>
      </p:sp>
      <p:sp>
        <p:nvSpPr>
          <p:cNvPr id="11" name="Shape 9"/>
          <p:cNvSpPr/>
          <p:nvPr/>
        </p:nvSpPr>
        <p:spPr>
          <a:xfrm>
            <a:off x="5943600" y="1691640"/>
            <a:ext cx="2743200" cy="1371600"/>
          </a:xfrm>
          <a:prstGeom prst="roundRect">
            <a:avLst>
              <a:gd name="adj" fmla="val 5333"/>
            </a:avLst>
          </a:prstGeom>
          <a:solidFill>
            <a:srgbClr val="FFFFFF"/>
          </a:solidFill>
          <a:ln/>
          <a:effectLst>
            <a:outerShdw blurRad="76200" dist="25400" dir="2700000" algn="bl" rotWithShape="0">
              <a:srgbClr val="000000">
                <a:alpha val="10000"/>
              </a:srgbClr>
            </a:outerShdw>
          </a:effectLst>
        </p:spPr>
        <p:txBody>
          <a:bodyPr/>
          <a:lstStyle/>
          <a:p>
            <a:endParaRPr lang="sr-Latn-RS"/>
          </a:p>
        </p:txBody>
      </p:sp>
      <p:sp>
        <p:nvSpPr>
          <p:cNvPr id="12" name="Text 10"/>
          <p:cNvSpPr/>
          <p:nvPr/>
        </p:nvSpPr>
        <p:spPr>
          <a:xfrm>
            <a:off x="5943600" y="1783080"/>
            <a:ext cx="2743200" cy="548640"/>
          </a:xfrm>
          <a:prstGeom prst="rect">
            <a:avLst/>
          </a:prstGeom>
          <a:noFill/>
          <a:ln/>
        </p:spPr>
        <p:txBody>
          <a:bodyPr wrap="square" rtlCol="0" anchor="ctr"/>
          <a:lstStyle/>
          <a:p>
            <a:pPr marL="0" indent="0" algn="ctr">
              <a:buNone/>
            </a:pPr>
            <a:r>
              <a:rPr lang="en-US" sz="3800" b="1" dirty="0">
                <a:solidFill>
                  <a:srgbClr val="E05C4B"/>
                </a:solidFill>
                <a:latin typeface="Cambria" pitchFamily="34" charset="0"/>
                <a:ea typeface="Cambria" pitchFamily="34" charset="-122"/>
                <a:cs typeface="Cambria" pitchFamily="34" charset="-120"/>
              </a:rPr>
              <a:t>Strong</a:t>
            </a:r>
            <a:endParaRPr lang="en-US" sz="3800" dirty="0"/>
          </a:p>
        </p:txBody>
      </p:sp>
      <p:sp>
        <p:nvSpPr>
          <p:cNvPr id="13" name="Text 11"/>
          <p:cNvSpPr/>
          <p:nvPr/>
        </p:nvSpPr>
        <p:spPr>
          <a:xfrm>
            <a:off x="5943600" y="2331720"/>
            <a:ext cx="2743200" cy="640080"/>
          </a:xfrm>
          <a:prstGeom prst="rect">
            <a:avLst/>
          </a:prstGeom>
          <a:noFill/>
          <a:ln/>
        </p:spPr>
        <p:txBody>
          <a:bodyPr wrap="square" rtlCol="0" anchor="ctr"/>
          <a:lstStyle/>
          <a:p>
            <a:pPr marL="0" indent="0" algn="ctr">
              <a:buNone/>
            </a:pPr>
            <a:r>
              <a:rPr lang="en-US" sz="1100" dirty="0">
                <a:solidFill>
                  <a:srgbClr val="7FA9BB"/>
                </a:solidFill>
                <a:latin typeface="Calibri" pitchFamily="34" charset="0"/>
                <a:ea typeface="Calibri" pitchFamily="34" charset="-122"/>
                <a:cs typeface="Calibri" pitchFamily="34" charset="-120"/>
              </a:rPr>
              <a:t>transcriptional response</a:t>
            </a:r>
            <a:endParaRPr lang="en-US" sz="1100" dirty="0"/>
          </a:p>
          <a:p>
            <a:pPr marL="0" indent="0" algn="ctr">
              <a:buNone/>
            </a:pPr>
            <a:r>
              <a:rPr lang="en-US" sz="1100" dirty="0">
                <a:solidFill>
                  <a:srgbClr val="7FA9BB"/>
                </a:solidFill>
                <a:latin typeface="Calibri" pitchFamily="34" charset="0"/>
                <a:ea typeface="Calibri" pitchFamily="34" charset="-122"/>
                <a:cs typeface="Calibri" pitchFamily="34" charset="-120"/>
              </a:rPr>
              <a:t>to PSNP despite mixed UMAP</a:t>
            </a:r>
            <a:endParaRPr lang="en-US" sz="1100" dirty="0"/>
          </a:p>
        </p:txBody>
      </p:sp>
      <p:sp>
        <p:nvSpPr>
          <p:cNvPr id="14" name="Text 12"/>
          <p:cNvSpPr/>
          <p:nvPr/>
        </p:nvSpPr>
        <p:spPr>
          <a:xfrm>
            <a:off x="457200" y="3218688"/>
            <a:ext cx="8229600" cy="274320"/>
          </a:xfrm>
          <a:prstGeom prst="rect">
            <a:avLst/>
          </a:prstGeom>
          <a:noFill/>
          <a:ln/>
        </p:spPr>
        <p:txBody>
          <a:bodyPr wrap="square" rtlCol="0" anchor="ctr"/>
          <a:lstStyle/>
          <a:p>
            <a:pPr marL="0" indent="0">
              <a:buNone/>
            </a:pPr>
            <a:r>
              <a:rPr lang="en-US" sz="1200" b="1" dirty="0">
                <a:solidFill>
                  <a:srgbClr val="1D6A8B"/>
                </a:solidFill>
                <a:latin typeface="Calibri" pitchFamily="34" charset="0"/>
                <a:ea typeface="Calibri" pitchFamily="34" charset="-122"/>
                <a:cs typeface="Calibri" pitchFamily="34" charset="-120"/>
              </a:rPr>
              <a:t>Example top upregulated genes (Monocyte_CD14, 40 nm vs control):</a:t>
            </a:r>
            <a:endParaRPr lang="en-US" sz="1200" dirty="0"/>
          </a:p>
        </p:txBody>
      </p:sp>
      <p:graphicFrame>
        <p:nvGraphicFramePr>
          <p:cNvPr id="15" name="Table 0"/>
          <p:cNvGraphicFramePr>
            <a:graphicFrameLocks noGrp="1"/>
          </p:cNvGraphicFramePr>
          <p:nvPr/>
        </p:nvGraphicFramePr>
        <p:xfrm>
          <a:off x="457200" y="3550000"/>
          <a:ext cx="8229600" cy="1440000"/>
        </p:xfrm>
        <a:graphic>
          <a:graphicData uri="http://schemas.openxmlformats.org/drawingml/2006/table">
            <a:tbl>
              <a:tblPr firstRow="1" bandRow="1"/>
              <a:tblGrid>
                <a:gridCol w="1152144">
                  <a:extLst>
                    <a:ext uri="{9D8B030D-6E8A-4147-A177-3AD203B41FA5}">
                      <a16:colId xmlns:a16="http://schemas.microsoft.com/office/drawing/2014/main" val="20000"/>
                    </a:ext>
                  </a:extLst>
                </a:gridCol>
                <a:gridCol w="1152144">
                  <a:extLst>
                    <a:ext uri="{9D8B030D-6E8A-4147-A177-3AD203B41FA5}">
                      <a16:colId xmlns:a16="http://schemas.microsoft.com/office/drawing/2014/main" val="20001"/>
                    </a:ext>
                  </a:extLst>
                </a:gridCol>
                <a:gridCol w="1316736">
                  <a:extLst>
                    <a:ext uri="{9D8B030D-6E8A-4147-A177-3AD203B41FA5}">
                      <a16:colId xmlns:a16="http://schemas.microsoft.com/office/drawing/2014/main" val="20002"/>
                    </a:ext>
                  </a:extLst>
                </a:gridCol>
                <a:gridCol w="4608576">
                  <a:extLst>
                    <a:ext uri="{9D8B030D-6E8A-4147-A177-3AD203B41FA5}">
                      <a16:colId xmlns:a16="http://schemas.microsoft.com/office/drawing/2014/main" val="20003"/>
                    </a:ext>
                  </a:extLst>
                </a:gridCol>
              </a:tblGrid>
              <a:tr h="32000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Gene</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1D6A8B"/>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log2FC</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1D6A8B"/>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Adjusted p</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1D6A8B"/>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Function</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1D6A8B"/>
                    </a:solidFill>
                  </a:tcPr>
                </a:tc>
                <a:extLst>
                  <a:ext uri="{0D108BD9-81ED-4DB2-BD59-A6C34878D82A}">
                    <a16:rowId xmlns:a16="http://schemas.microsoft.com/office/drawing/2014/main" val="10000"/>
                  </a:ext>
                </a:extLst>
              </a:tr>
              <a:tr h="280000">
                <a:tc>
                  <a:txBody>
                    <a:bodyPr/>
                    <a:lstStyle/>
                    <a:p>
                      <a:pPr marL="0" indent="0" algn="l">
                        <a:buNone/>
                      </a:pPr>
                      <a:r>
                        <a:rPr lang="en-US" sz="1100" b="1" dirty="0">
                          <a:solidFill>
                            <a:srgbClr val="0A2342"/>
                          </a:solidFill>
                          <a:latin typeface="Calibri" pitchFamily="34" charset="0"/>
                          <a:ea typeface="Calibri" pitchFamily="34" charset="-122"/>
                          <a:cs typeface="Calibri" pitchFamily="34" charset="-120"/>
                        </a:rPr>
                        <a:t>S100A8</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0F7FA"/>
                    </a:solidFill>
                  </a:tcPr>
                </a:tc>
                <a:tc>
                  <a:txBody>
                    <a:bodyPr/>
                    <a:lstStyle/>
                    <a:p>
                      <a:pPr marL="0" indent="0" algn="ctr">
                        <a:buNone/>
                      </a:pPr>
                      <a:r>
                        <a:rPr lang="en-US" sz="1100" b="1" dirty="0">
                          <a:solidFill>
                            <a:srgbClr val="E05C4B"/>
                          </a:solidFill>
                          <a:latin typeface="Calibri" pitchFamily="34" charset="0"/>
                          <a:ea typeface="Calibri" pitchFamily="34" charset="-122"/>
                          <a:cs typeface="Calibri" pitchFamily="34" charset="-120"/>
                        </a:rPr>
                        <a:t>+1.82</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0F7FA"/>
                    </a:solidFill>
                  </a:tcPr>
                </a:tc>
                <a:tc>
                  <a:txBody>
                    <a:bodyPr/>
                    <a:lstStyle/>
                    <a:p>
                      <a:pPr marL="0" indent="0" algn="ctr">
                        <a:buNone/>
                      </a:pPr>
                      <a:r>
                        <a:rPr lang="en-US" sz="1100" dirty="0">
                          <a:solidFill>
                            <a:srgbClr val="0A2342"/>
                          </a:solidFill>
                          <a:latin typeface="Calibri" pitchFamily="34" charset="0"/>
                          <a:ea typeface="Calibri" pitchFamily="34" charset="-122"/>
                          <a:cs typeface="Calibri" pitchFamily="34" charset="-120"/>
                        </a:rPr>
                        <a:t>&lt; 0.001</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0F7FA"/>
                    </a:solidFill>
                  </a:tcPr>
                </a:tc>
                <a:tc>
                  <a:txBody>
                    <a:bodyPr/>
                    <a:lstStyle/>
                    <a:p>
                      <a:pPr marL="0" indent="0" algn="l">
                        <a:buNone/>
                      </a:pPr>
                      <a:r>
                        <a:rPr lang="en-US" sz="1050" dirty="0">
                          <a:solidFill>
                            <a:srgbClr val="0A2342"/>
                          </a:solidFill>
                          <a:latin typeface="Calibri" pitchFamily="34" charset="0"/>
                          <a:ea typeface="Calibri" pitchFamily="34" charset="-122"/>
                          <a:cs typeface="Calibri" pitchFamily="34" charset="-120"/>
                        </a:rPr>
                        <a:t>Danger-associated molecular pattern (DAMP)</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0F7FA"/>
                    </a:solidFill>
                  </a:tcPr>
                </a:tc>
                <a:extLst>
                  <a:ext uri="{0D108BD9-81ED-4DB2-BD59-A6C34878D82A}">
                    <a16:rowId xmlns:a16="http://schemas.microsoft.com/office/drawing/2014/main" val="10001"/>
                  </a:ext>
                </a:extLst>
              </a:tr>
              <a:tr h="280000">
                <a:tc>
                  <a:txBody>
                    <a:bodyPr/>
                    <a:lstStyle/>
                    <a:p>
                      <a:pPr marL="0" indent="0" algn="l">
                        <a:buNone/>
                      </a:pPr>
                      <a:r>
                        <a:rPr lang="en-US" sz="1100" b="1" dirty="0">
                          <a:solidFill>
                            <a:srgbClr val="0A2342"/>
                          </a:solidFill>
                          <a:latin typeface="Calibri" pitchFamily="34" charset="0"/>
                          <a:ea typeface="Calibri" pitchFamily="34" charset="-122"/>
                          <a:cs typeface="Calibri" pitchFamily="34" charset="-120"/>
                        </a:rPr>
                        <a:t>CXCL8</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FFFFF"/>
                    </a:solidFill>
                  </a:tcPr>
                </a:tc>
                <a:tc>
                  <a:txBody>
                    <a:bodyPr/>
                    <a:lstStyle/>
                    <a:p>
                      <a:pPr marL="0" indent="0" algn="ctr">
                        <a:buNone/>
                      </a:pPr>
                      <a:r>
                        <a:rPr lang="en-US" sz="1100" b="1" dirty="0">
                          <a:solidFill>
                            <a:srgbClr val="E05C4B"/>
                          </a:solidFill>
                          <a:latin typeface="Calibri" pitchFamily="34" charset="0"/>
                          <a:ea typeface="Calibri" pitchFamily="34" charset="-122"/>
                          <a:cs typeface="Calibri" pitchFamily="34" charset="-120"/>
                        </a:rPr>
                        <a:t>+1.41</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FFFFF"/>
                    </a:solidFill>
                  </a:tcPr>
                </a:tc>
                <a:tc>
                  <a:txBody>
                    <a:bodyPr/>
                    <a:lstStyle/>
                    <a:p>
                      <a:pPr marL="0" indent="0" algn="ctr">
                        <a:buNone/>
                      </a:pPr>
                      <a:r>
                        <a:rPr lang="en-US" sz="1100" dirty="0">
                          <a:solidFill>
                            <a:srgbClr val="0A2342"/>
                          </a:solidFill>
                          <a:latin typeface="Calibri" pitchFamily="34" charset="0"/>
                          <a:ea typeface="Calibri" pitchFamily="34" charset="-122"/>
                          <a:cs typeface="Calibri" pitchFamily="34" charset="-120"/>
                        </a:rPr>
                        <a:t>&lt; 0.001</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FFFFF"/>
                    </a:solidFill>
                  </a:tcPr>
                </a:tc>
                <a:tc>
                  <a:txBody>
                    <a:bodyPr/>
                    <a:lstStyle/>
                    <a:p>
                      <a:pPr marL="0" indent="0" algn="l">
                        <a:buNone/>
                      </a:pPr>
                      <a:r>
                        <a:rPr lang="en-US" sz="1050" dirty="0">
                          <a:solidFill>
                            <a:srgbClr val="0A2342"/>
                          </a:solidFill>
                          <a:latin typeface="Calibri" pitchFamily="34" charset="0"/>
                          <a:ea typeface="Calibri" pitchFamily="34" charset="-122"/>
                          <a:cs typeface="Calibri" pitchFamily="34" charset="-120"/>
                        </a:rPr>
                        <a:t>Chemokine — neutrophil recruitment</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FFFFF"/>
                    </a:solidFill>
                  </a:tcPr>
                </a:tc>
                <a:extLst>
                  <a:ext uri="{0D108BD9-81ED-4DB2-BD59-A6C34878D82A}">
                    <a16:rowId xmlns:a16="http://schemas.microsoft.com/office/drawing/2014/main" val="10002"/>
                  </a:ext>
                </a:extLst>
              </a:tr>
              <a:tr h="280000">
                <a:tc>
                  <a:txBody>
                    <a:bodyPr/>
                    <a:lstStyle/>
                    <a:p>
                      <a:pPr marL="0" indent="0" algn="l">
                        <a:buNone/>
                      </a:pPr>
                      <a:r>
                        <a:rPr lang="en-US" sz="1100" b="1" dirty="0">
                          <a:solidFill>
                            <a:srgbClr val="0A2342"/>
                          </a:solidFill>
                          <a:latin typeface="Calibri" pitchFamily="34" charset="0"/>
                          <a:ea typeface="Calibri" pitchFamily="34" charset="-122"/>
                          <a:cs typeface="Calibri" pitchFamily="34" charset="-120"/>
                        </a:rPr>
                        <a:t>IL1B</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0F7FA"/>
                    </a:solidFill>
                  </a:tcPr>
                </a:tc>
                <a:tc>
                  <a:txBody>
                    <a:bodyPr/>
                    <a:lstStyle/>
                    <a:p>
                      <a:pPr marL="0" indent="0" algn="ctr">
                        <a:buNone/>
                      </a:pPr>
                      <a:r>
                        <a:rPr lang="en-US" sz="1100" b="1" dirty="0">
                          <a:solidFill>
                            <a:srgbClr val="E05C4B"/>
                          </a:solidFill>
                          <a:latin typeface="Calibri" pitchFamily="34" charset="0"/>
                          <a:ea typeface="Calibri" pitchFamily="34" charset="-122"/>
                          <a:cs typeface="Calibri" pitchFamily="34" charset="-120"/>
                        </a:rPr>
                        <a:t>+1.23</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0F7FA"/>
                    </a:solidFill>
                  </a:tcPr>
                </a:tc>
                <a:tc>
                  <a:txBody>
                    <a:bodyPr/>
                    <a:lstStyle/>
                    <a:p>
                      <a:pPr marL="0" indent="0" algn="ctr">
                        <a:buNone/>
                      </a:pPr>
                      <a:r>
                        <a:rPr lang="en-US" sz="1100" dirty="0">
                          <a:solidFill>
                            <a:srgbClr val="0A2342"/>
                          </a:solidFill>
                          <a:latin typeface="Calibri" pitchFamily="34" charset="0"/>
                          <a:ea typeface="Calibri" pitchFamily="34" charset="-122"/>
                          <a:cs typeface="Calibri" pitchFamily="34" charset="-120"/>
                        </a:rPr>
                        <a:t>&lt; 0.001</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0F7FA"/>
                    </a:solidFill>
                  </a:tcPr>
                </a:tc>
                <a:tc>
                  <a:txBody>
                    <a:bodyPr/>
                    <a:lstStyle/>
                    <a:p>
                      <a:pPr marL="0" indent="0" algn="l">
                        <a:buNone/>
                      </a:pPr>
                      <a:r>
                        <a:rPr lang="en-US" sz="1050" dirty="0">
                          <a:solidFill>
                            <a:srgbClr val="0A2342"/>
                          </a:solidFill>
                          <a:latin typeface="Calibri" pitchFamily="34" charset="0"/>
                          <a:ea typeface="Calibri" pitchFamily="34" charset="-122"/>
                          <a:cs typeface="Calibri" pitchFamily="34" charset="-120"/>
                        </a:rPr>
                        <a:t>Pro-inflammatory cytokine</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0F7FA"/>
                    </a:solidFill>
                  </a:tcPr>
                </a:tc>
                <a:extLst>
                  <a:ext uri="{0D108BD9-81ED-4DB2-BD59-A6C34878D82A}">
                    <a16:rowId xmlns:a16="http://schemas.microsoft.com/office/drawing/2014/main" val="10003"/>
                  </a:ext>
                </a:extLst>
              </a:tr>
              <a:tr h="280000">
                <a:tc>
                  <a:txBody>
                    <a:bodyPr/>
                    <a:lstStyle/>
                    <a:p>
                      <a:pPr marL="0" indent="0" algn="l">
                        <a:buNone/>
                      </a:pPr>
                      <a:r>
                        <a:rPr lang="en-US" sz="1100" b="1" dirty="0">
                          <a:solidFill>
                            <a:srgbClr val="0A2342"/>
                          </a:solidFill>
                          <a:latin typeface="Calibri" pitchFamily="34" charset="0"/>
                          <a:ea typeface="Calibri" pitchFamily="34" charset="-122"/>
                          <a:cs typeface="Calibri" pitchFamily="34" charset="-120"/>
                        </a:rPr>
                        <a:t>TNF</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FFFFF"/>
                    </a:solidFill>
                  </a:tcPr>
                </a:tc>
                <a:tc>
                  <a:txBody>
                    <a:bodyPr/>
                    <a:lstStyle/>
                    <a:p>
                      <a:pPr marL="0" indent="0" algn="ctr">
                        <a:buNone/>
                      </a:pPr>
                      <a:r>
                        <a:rPr lang="en-US" sz="1100" b="1" dirty="0">
                          <a:solidFill>
                            <a:srgbClr val="E05C4B"/>
                          </a:solidFill>
                          <a:latin typeface="Calibri" pitchFamily="34" charset="0"/>
                          <a:ea typeface="Calibri" pitchFamily="34" charset="-122"/>
                          <a:cs typeface="Calibri" pitchFamily="34" charset="-120"/>
                        </a:rPr>
                        <a:t>+0.95</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FFFFF"/>
                    </a:solidFill>
                  </a:tcPr>
                </a:tc>
                <a:tc>
                  <a:txBody>
                    <a:bodyPr/>
                    <a:lstStyle/>
                    <a:p>
                      <a:pPr marL="0" indent="0" algn="ctr">
                        <a:buNone/>
                      </a:pPr>
                      <a:r>
                        <a:rPr lang="en-US" sz="1100" dirty="0">
                          <a:solidFill>
                            <a:srgbClr val="0A2342"/>
                          </a:solidFill>
                          <a:latin typeface="Calibri" pitchFamily="34" charset="0"/>
                          <a:ea typeface="Calibri" pitchFamily="34" charset="-122"/>
                          <a:cs typeface="Calibri" pitchFamily="34" charset="-120"/>
                        </a:rPr>
                        <a:t>0.003</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FFFFF"/>
                    </a:solidFill>
                  </a:tcPr>
                </a:tc>
                <a:tc>
                  <a:txBody>
                    <a:bodyPr/>
                    <a:lstStyle/>
                    <a:p>
                      <a:pPr marL="0" indent="0" algn="l">
                        <a:buNone/>
                      </a:pPr>
                      <a:r>
                        <a:rPr lang="en-US" sz="1050" dirty="0">
                          <a:solidFill>
                            <a:srgbClr val="0A2342"/>
                          </a:solidFill>
                          <a:latin typeface="Calibri" pitchFamily="34" charset="0"/>
                          <a:ea typeface="Calibri" pitchFamily="34" charset="-122"/>
                          <a:cs typeface="Calibri" pitchFamily="34" charset="-120"/>
                        </a:rPr>
                        <a:t>Core inflammatory mediator</a:t>
                      </a:r>
                    </a:p>
                  </a:txBody>
                  <a:tcPr marT="36576" marB="36576" anchor="ctr">
                    <a:lnL w="6350" cap="flat" cmpd="sng" algn="ctr">
                      <a:solidFill>
                        <a:srgbClr val="CCDFE8"/>
                      </a:solidFill>
                      <a:prstDash val="solid"/>
                    </a:lnL>
                    <a:lnR w="6350" cap="flat" cmpd="sng" algn="ctr">
                      <a:solidFill>
                        <a:srgbClr val="CCDFE8"/>
                      </a:solidFill>
                      <a:prstDash val="solid"/>
                    </a:lnR>
                    <a:lnT w="6350" cap="flat" cmpd="sng" algn="ctr">
                      <a:solidFill>
                        <a:srgbClr val="CCDFE8"/>
                      </a:solidFill>
                      <a:prstDash val="solid"/>
                    </a:lnT>
                    <a:lnB w="6350" cap="flat" cmpd="sng" algn="ctr">
                      <a:solidFill>
                        <a:srgbClr val="CCDFE8"/>
                      </a:solidFill>
                      <a:prstDash val="soli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34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Pathway Enrichment</a:t>
            </a:r>
            <a:endParaRPr lang="en-US" sz="3600" dirty="0"/>
          </a:p>
        </p:txBody>
      </p:sp>
      <p:sp>
        <p:nvSpPr>
          <p:cNvPr id="3" name="Text 1"/>
          <p:cNvSpPr/>
          <p:nvPr/>
        </p:nvSpPr>
        <p:spPr>
          <a:xfrm>
            <a:off x="457200" y="804672"/>
            <a:ext cx="8229600" cy="274320"/>
          </a:xfrm>
          <a:prstGeom prst="rect">
            <a:avLst/>
          </a:prstGeom>
          <a:noFill/>
          <a:ln/>
        </p:spPr>
        <p:txBody>
          <a:bodyPr wrap="square" rtlCol="0" anchor="ctr"/>
          <a:lstStyle/>
          <a:p>
            <a:pPr marL="0" indent="0">
              <a:buNone/>
            </a:pPr>
            <a:r>
              <a:rPr lang="en-US" sz="1200" i="1" dirty="0">
                <a:solidFill>
                  <a:srgbClr val="7FA9BB"/>
                </a:solidFill>
                <a:latin typeface="Calibri" pitchFamily="34" charset="0"/>
                <a:ea typeface="Calibri" pitchFamily="34" charset="-122"/>
                <a:cs typeface="Calibri" pitchFamily="34" charset="-120"/>
              </a:rPr>
              <a:t>GO Biological Process · KEGG · Reactome  via Enrichr/gseapy  →  89,015 enrichment rows</a:t>
            </a:r>
            <a:endParaRPr lang="en-US" sz="1200" dirty="0"/>
          </a:p>
        </p:txBody>
      </p:sp>
      <p:sp>
        <p:nvSpPr>
          <p:cNvPr id="4" name="Shape 2"/>
          <p:cNvSpPr/>
          <p:nvPr/>
        </p:nvSpPr>
        <p:spPr>
          <a:xfrm>
            <a:off x="365760" y="1188720"/>
            <a:ext cx="2743200" cy="3657600"/>
          </a:xfrm>
          <a:prstGeom prst="roundRect">
            <a:avLst>
              <a:gd name="adj" fmla="val 2667"/>
            </a:avLst>
          </a:prstGeom>
          <a:solidFill>
            <a:srgbClr val="102030"/>
          </a:solidFill>
          <a:ln/>
        </p:spPr>
        <p:txBody>
          <a:bodyPr/>
          <a:lstStyle/>
          <a:p>
            <a:endParaRPr lang="sr-Latn-RS"/>
          </a:p>
        </p:txBody>
      </p:sp>
      <p:sp>
        <p:nvSpPr>
          <p:cNvPr id="5" name="Shape 3"/>
          <p:cNvSpPr/>
          <p:nvPr/>
        </p:nvSpPr>
        <p:spPr>
          <a:xfrm>
            <a:off x="365760" y="1188720"/>
            <a:ext cx="2743200" cy="384048"/>
          </a:xfrm>
          <a:prstGeom prst="roundRect">
            <a:avLst>
              <a:gd name="adj" fmla="val 19048"/>
            </a:avLst>
          </a:prstGeom>
          <a:solidFill>
            <a:srgbClr val="2AABCC"/>
          </a:solidFill>
          <a:ln/>
        </p:spPr>
        <p:txBody>
          <a:bodyPr/>
          <a:lstStyle/>
          <a:p>
            <a:endParaRPr lang="sr-Latn-RS"/>
          </a:p>
        </p:txBody>
      </p:sp>
      <p:sp>
        <p:nvSpPr>
          <p:cNvPr id="6" name="Shape 4"/>
          <p:cNvSpPr/>
          <p:nvPr/>
        </p:nvSpPr>
        <p:spPr>
          <a:xfrm>
            <a:off x="365760" y="1371600"/>
            <a:ext cx="2743200" cy="201168"/>
          </a:xfrm>
          <a:prstGeom prst="rect">
            <a:avLst/>
          </a:prstGeom>
          <a:solidFill>
            <a:srgbClr val="2AABCC"/>
          </a:solidFill>
          <a:ln/>
        </p:spPr>
        <p:txBody>
          <a:bodyPr/>
          <a:lstStyle/>
          <a:p>
            <a:endParaRPr lang="sr-Latn-RS"/>
          </a:p>
        </p:txBody>
      </p:sp>
      <p:sp>
        <p:nvSpPr>
          <p:cNvPr id="7" name="Text 5"/>
          <p:cNvSpPr/>
          <p:nvPr/>
        </p:nvSpPr>
        <p:spPr>
          <a:xfrm>
            <a:off x="365760" y="1188720"/>
            <a:ext cx="2743200" cy="384048"/>
          </a:xfrm>
          <a:prstGeom prst="rect">
            <a:avLst/>
          </a:prstGeom>
          <a:noFill/>
          <a:ln/>
        </p:spPr>
        <p:txBody>
          <a:bodyPr wrap="square" rtlCol="0" anchor="ctr"/>
          <a:lstStyle/>
          <a:p>
            <a:pPr marL="0" indent="0" algn="ctr">
              <a:buNone/>
            </a:pPr>
            <a:r>
              <a:rPr lang="en-US" sz="1250" b="1" dirty="0">
                <a:solidFill>
                  <a:srgbClr val="0A2342"/>
                </a:solidFill>
                <a:latin typeface="Calibri" pitchFamily="34" charset="0"/>
                <a:ea typeface="Calibri" pitchFamily="34" charset="-122"/>
                <a:cs typeface="Calibri" pitchFamily="34" charset="-120"/>
              </a:rPr>
              <a:t>40 nm — Monocytes</a:t>
            </a:r>
            <a:endParaRPr lang="en-US" sz="1250" dirty="0"/>
          </a:p>
        </p:txBody>
      </p:sp>
      <p:sp>
        <p:nvSpPr>
          <p:cNvPr id="8" name="Shape 6"/>
          <p:cNvSpPr/>
          <p:nvPr/>
        </p:nvSpPr>
        <p:spPr>
          <a:xfrm>
            <a:off x="475488" y="1783080"/>
            <a:ext cx="155448" cy="155448"/>
          </a:xfrm>
          <a:prstGeom prst="ellipse">
            <a:avLst/>
          </a:prstGeom>
          <a:solidFill>
            <a:srgbClr val="2AABCC"/>
          </a:solidFill>
          <a:ln/>
        </p:spPr>
        <p:txBody>
          <a:bodyPr/>
          <a:lstStyle/>
          <a:p>
            <a:endParaRPr lang="sr-Latn-RS"/>
          </a:p>
        </p:txBody>
      </p:sp>
      <p:sp>
        <p:nvSpPr>
          <p:cNvPr id="9" name="Text 7"/>
          <p:cNvSpPr/>
          <p:nvPr/>
        </p:nvSpPr>
        <p:spPr>
          <a:xfrm>
            <a:off x="694944" y="1691640"/>
            <a:ext cx="228600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MHC class II assembly</a:t>
            </a:r>
            <a:endParaRPr lang="en-US" sz="1100" dirty="0"/>
          </a:p>
        </p:txBody>
      </p:sp>
      <p:sp>
        <p:nvSpPr>
          <p:cNvPr id="10" name="Shape 8"/>
          <p:cNvSpPr/>
          <p:nvPr/>
        </p:nvSpPr>
        <p:spPr>
          <a:xfrm>
            <a:off x="475488" y="2240280"/>
            <a:ext cx="155448" cy="155448"/>
          </a:xfrm>
          <a:prstGeom prst="ellipse">
            <a:avLst/>
          </a:prstGeom>
          <a:solidFill>
            <a:srgbClr val="2AABCC"/>
          </a:solidFill>
          <a:ln/>
        </p:spPr>
        <p:txBody>
          <a:bodyPr/>
          <a:lstStyle/>
          <a:p>
            <a:endParaRPr lang="sr-Latn-RS"/>
          </a:p>
        </p:txBody>
      </p:sp>
      <p:sp>
        <p:nvSpPr>
          <p:cNvPr id="11" name="Text 9"/>
          <p:cNvSpPr/>
          <p:nvPr/>
        </p:nvSpPr>
        <p:spPr>
          <a:xfrm>
            <a:off x="694944" y="2148840"/>
            <a:ext cx="228600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Antigen processing &amp; presentation</a:t>
            </a:r>
            <a:endParaRPr lang="en-US" sz="1100" dirty="0"/>
          </a:p>
        </p:txBody>
      </p:sp>
      <p:sp>
        <p:nvSpPr>
          <p:cNvPr id="12" name="Shape 10"/>
          <p:cNvSpPr/>
          <p:nvPr/>
        </p:nvSpPr>
        <p:spPr>
          <a:xfrm>
            <a:off x="475488" y="2697480"/>
            <a:ext cx="155448" cy="155448"/>
          </a:xfrm>
          <a:prstGeom prst="ellipse">
            <a:avLst/>
          </a:prstGeom>
          <a:solidFill>
            <a:srgbClr val="2AABCC"/>
          </a:solidFill>
          <a:ln/>
        </p:spPr>
        <p:txBody>
          <a:bodyPr/>
          <a:lstStyle/>
          <a:p>
            <a:endParaRPr lang="sr-Latn-RS"/>
          </a:p>
        </p:txBody>
      </p:sp>
      <p:sp>
        <p:nvSpPr>
          <p:cNvPr id="13" name="Text 11"/>
          <p:cNvSpPr/>
          <p:nvPr/>
        </p:nvSpPr>
        <p:spPr>
          <a:xfrm>
            <a:off x="694944" y="2606040"/>
            <a:ext cx="228600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Lysosomal pathway</a:t>
            </a:r>
            <a:endParaRPr lang="en-US" sz="1100" dirty="0"/>
          </a:p>
        </p:txBody>
      </p:sp>
      <p:sp>
        <p:nvSpPr>
          <p:cNvPr id="14" name="Shape 12"/>
          <p:cNvSpPr/>
          <p:nvPr/>
        </p:nvSpPr>
        <p:spPr>
          <a:xfrm>
            <a:off x="475488" y="3154680"/>
            <a:ext cx="155448" cy="155448"/>
          </a:xfrm>
          <a:prstGeom prst="ellipse">
            <a:avLst/>
          </a:prstGeom>
          <a:solidFill>
            <a:srgbClr val="2AABCC"/>
          </a:solidFill>
          <a:ln/>
        </p:spPr>
        <p:txBody>
          <a:bodyPr/>
          <a:lstStyle/>
          <a:p>
            <a:endParaRPr lang="sr-Latn-RS"/>
          </a:p>
        </p:txBody>
      </p:sp>
      <p:sp>
        <p:nvSpPr>
          <p:cNvPr id="15" name="Text 13"/>
          <p:cNvSpPr/>
          <p:nvPr/>
        </p:nvSpPr>
        <p:spPr>
          <a:xfrm>
            <a:off x="694944" y="3063240"/>
            <a:ext cx="228600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Endosome organisation</a:t>
            </a:r>
            <a:endParaRPr lang="en-US" sz="1100" dirty="0"/>
          </a:p>
        </p:txBody>
      </p:sp>
      <p:sp>
        <p:nvSpPr>
          <p:cNvPr id="16" name="Shape 14"/>
          <p:cNvSpPr/>
          <p:nvPr/>
        </p:nvSpPr>
        <p:spPr>
          <a:xfrm>
            <a:off x="457200" y="3611880"/>
            <a:ext cx="2560320" cy="1097280"/>
          </a:xfrm>
          <a:prstGeom prst="roundRect">
            <a:avLst>
              <a:gd name="adj" fmla="val 5000"/>
            </a:avLst>
          </a:prstGeom>
          <a:solidFill>
            <a:srgbClr val="2AABCC">
              <a:alpha val="20000"/>
            </a:srgbClr>
          </a:solidFill>
          <a:ln/>
        </p:spPr>
        <p:txBody>
          <a:bodyPr/>
          <a:lstStyle/>
          <a:p>
            <a:endParaRPr lang="sr-Latn-RS"/>
          </a:p>
        </p:txBody>
      </p:sp>
      <p:sp>
        <p:nvSpPr>
          <p:cNvPr id="17" name="Text 15"/>
          <p:cNvSpPr/>
          <p:nvPr/>
        </p:nvSpPr>
        <p:spPr>
          <a:xfrm>
            <a:off x="502920" y="3639312"/>
            <a:ext cx="2468880" cy="1005840"/>
          </a:xfrm>
          <a:prstGeom prst="rect">
            <a:avLst/>
          </a:prstGeom>
          <a:noFill/>
          <a:ln/>
        </p:spPr>
        <p:txBody>
          <a:bodyPr wrap="square" rtlCol="0" anchor="ctr"/>
          <a:lstStyle/>
          <a:p>
            <a:pPr marL="0" indent="0">
              <a:buNone/>
            </a:pPr>
            <a:r>
              <a:rPr lang="en-US" sz="1000" i="1" dirty="0">
                <a:solidFill>
                  <a:srgbClr val="D6EEF5"/>
                </a:solidFill>
                <a:latin typeface="Calibri" pitchFamily="34" charset="0"/>
                <a:ea typeface="Calibri" pitchFamily="34" charset="-122"/>
                <a:cs typeface="Calibri" pitchFamily="34" charset="-120"/>
              </a:rPr>
              <a:t>→ Small particles → antigen handling &amp; presentation activation (endosomal route)</a:t>
            </a:r>
            <a:endParaRPr lang="en-US" sz="1000" dirty="0"/>
          </a:p>
        </p:txBody>
      </p:sp>
      <p:sp>
        <p:nvSpPr>
          <p:cNvPr id="18" name="Shape 16"/>
          <p:cNvSpPr/>
          <p:nvPr/>
        </p:nvSpPr>
        <p:spPr>
          <a:xfrm>
            <a:off x="3246120" y="1188720"/>
            <a:ext cx="2743200" cy="3657600"/>
          </a:xfrm>
          <a:prstGeom prst="roundRect">
            <a:avLst>
              <a:gd name="adj" fmla="val 2667"/>
            </a:avLst>
          </a:prstGeom>
          <a:solidFill>
            <a:srgbClr val="102030"/>
          </a:solidFill>
          <a:ln/>
        </p:spPr>
        <p:txBody>
          <a:bodyPr/>
          <a:lstStyle/>
          <a:p>
            <a:endParaRPr lang="sr-Latn-RS"/>
          </a:p>
        </p:txBody>
      </p:sp>
      <p:sp>
        <p:nvSpPr>
          <p:cNvPr id="19" name="Shape 17"/>
          <p:cNvSpPr/>
          <p:nvPr/>
        </p:nvSpPr>
        <p:spPr>
          <a:xfrm>
            <a:off x="3246120" y="1188720"/>
            <a:ext cx="2743200" cy="384048"/>
          </a:xfrm>
          <a:prstGeom prst="roundRect">
            <a:avLst>
              <a:gd name="adj" fmla="val 19048"/>
            </a:avLst>
          </a:prstGeom>
          <a:solidFill>
            <a:srgbClr val="E8A838"/>
          </a:solidFill>
          <a:ln/>
        </p:spPr>
        <p:txBody>
          <a:bodyPr/>
          <a:lstStyle/>
          <a:p>
            <a:endParaRPr lang="sr-Latn-RS"/>
          </a:p>
        </p:txBody>
      </p:sp>
      <p:sp>
        <p:nvSpPr>
          <p:cNvPr id="20" name="Shape 18"/>
          <p:cNvSpPr/>
          <p:nvPr/>
        </p:nvSpPr>
        <p:spPr>
          <a:xfrm>
            <a:off x="3246120" y="1371600"/>
            <a:ext cx="2743200" cy="201168"/>
          </a:xfrm>
          <a:prstGeom prst="rect">
            <a:avLst/>
          </a:prstGeom>
          <a:solidFill>
            <a:srgbClr val="E8A838"/>
          </a:solidFill>
          <a:ln/>
        </p:spPr>
        <p:txBody>
          <a:bodyPr/>
          <a:lstStyle/>
          <a:p>
            <a:endParaRPr lang="sr-Latn-RS"/>
          </a:p>
        </p:txBody>
      </p:sp>
      <p:sp>
        <p:nvSpPr>
          <p:cNvPr id="21" name="Text 19"/>
          <p:cNvSpPr/>
          <p:nvPr/>
        </p:nvSpPr>
        <p:spPr>
          <a:xfrm>
            <a:off x="3246120" y="1188720"/>
            <a:ext cx="2743200" cy="384048"/>
          </a:xfrm>
          <a:prstGeom prst="rect">
            <a:avLst/>
          </a:prstGeom>
          <a:noFill/>
          <a:ln/>
        </p:spPr>
        <p:txBody>
          <a:bodyPr wrap="square" rtlCol="0" anchor="ctr"/>
          <a:lstStyle/>
          <a:p>
            <a:pPr marL="0" indent="0" algn="ctr">
              <a:buNone/>
            </a:pPr>
            <a:r>
              <a:rPr lang="en-US" sz="1250" b="1" dirty="0">
                <a:solidFill>
                  <a:srgbClr val="0A2342"/>
                </a:solidFill>
                <a:latin typeface="Calibri" pitchFamily="34" charset="0"/>
                <a:ea typeface="Calibri" pitchFamily="34" charset="-122"/>
                <a:cs typeface="Calibri" pitchFamily="34" charset="-120"/>
              </a:rPr>
              <a:t>200 nm — Monocytes</a:t>
            </a:r>
            <a:endParaRPr lang="en-US" sz="1250" dirty="0"/>
          </a:p>
        </p:txBody>
      </p:sp>
      <p:sp>
        <p:nvSpPr>
          <p:cNvPr id="22" name="Shape 20"/>
          <p:cNvSpPr/>
          <p:nvPr/>
        </p:nvSpPr>
        <p:spPr>
          <a:xfrm>
            <a:off x="3355848" y="1783080"/>
            <a:ext cx="155448" cy="155448"/>
          </a:xfrm>
          <a:prstGeom prst="ellipse">
            <a:avLst/>
          </a:prstGeom>
          <a:solidFill>
            <a:srgbClr val="E8A838"/>
          </a:solidFill>
          <a:ln/>
        </p:spPr>
        <p:txBody>
          <a:bodyPr/>
          <a:lstStyle/>
          <a:p>
            <a:endParaRPr lang="sr-Latn-RS"/>
          </a:p>
        </p:txBody>
      </p:sp>
      <p:sp>
        <p:nvSpPr>
          <p:cNvPr id="23" name="Text 21"/>
          <p:cNvSpPr/>
          <p:nvPr/>
        </p:nvSpPr>
        <p:spPr>
          <a:xfrm>
            <a:off x="3575304" y="1691640"/>
            <a:ext cx="228600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Cytoplasmic translation</a:t>
            </a:r>
            <a:endParaRPr lang="en-US" sz="1100" dirty="0"/>
          </a:p>
        </p:txBody>
      </p:sp>
      <p:sp>
        <p:nvSpPr>
          <p:cNvPr id="24" name="Shape 22"/>
          <p:cNvSpPr/>
          <p:nvPr/>
        </p:nvSpPr>
        <p:spPr>
          <a:xfrm>
            <a:off x="3355848" y="2240280"/>
            <a:ext cx="155448" cy="155448"/>
          </a:xfrm>
          <a:prstGeom prst="ellipse">
            <a:avLst/>
          </a:prstGeom>
          <a:solidFill>
            <a:srgbClr val="E8A838"/>
          </a:solidFill>
          <a:ln/>
        </p:spPr>
        <p:txBody>
          <a:bodyPr/>
          <a:lstStyle/>
          <a:p>
            <a:endParaRPr lang="sr-Latn-RS"/>
          </a:p>
        </p:txBody>
      </p:sp>
      <p:sp>
        <p:nvSpPr>
          <p:cNvPr id="25" name="Text 23"/>
          <p:cNvSpPr/>
          <p:nvPr/>
        </p:nvSpPr>
        <p:spPr>
          <a:xfrm>
            <a:off x="3575304" y="2148840"/>
            <a:ext cx="228600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Platelet activation regulation</a:t>
            </a:r>
            <a:endParaRPr lang="en-US" sz="1100" dirty="0"/>
          </a:p>
        </p:txBody>
      </p:sp>
      <p:sp>
        <p:nvSpPr>
          <p:cNvPr id="26" name="Shape 24"/>
          <p:cNvSpPr/>
          <p:nvPr/>
        </p:nvSpPr>
        <p:spPr>
          <a:xfrm>
            <a:off x="3355848" y="2697480"/>
            <a:ext cx="155448" cy="155448"/>
          </a:xfrm>
          <a:prstGeom prst="ellipse">
            <a:avLst/>
          </a:prstGeom>
          <a:solidFill>
            <a:srgbClr val="E8A838"/>
          </a:solidFill>
          <a:ln/>
        </p:spPr>
        <p:txBody>
          <a:bodyPr/>
          <a:lstStyle/>
          <a:p>
            <a:endParaRPr lang="sr-Latn-RS"/>
          </a:p>
        </p:txBody>
      </p:sp>
      <p:sp>
        <p:nvSpPr>
          <p:cNvPr id="27" name="Text 25"/>
          <p:cNvSpPr/>
          <p:nvPr/>
        </p:nvSpPr>
        <p:spPr>
          <a:xfrm>
            <a:off x="3575304" y="2606040"/>
            <a:ext cx="228600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Mitochondrial function</a:t>
            </a:r>
            <a:endParaRPr lang="en-US" sz="1100" dirty="0"/>
          </a:p>
        </p:txBody>
      </p:sp>
      <p:sp>
        <p:nvSpPr>
          <p:cNvPr id="28" name="Shape 26"/>
          <p:cNvSpPr/>
          <p:nvPr/>
        </p:nvSpPr>
        <p:spPr>
          <a:xfrm>
            <a:off x="3355848" y="3154680"/>
            <a:ext cx="155448" cy="155448"/>
          </a:xfrm>
          <a:prstGeom prst="ellipse">
            <a:avLst/>
          </a:prstGeom>
          <a:solidFill>
            <a:srgbClr val="E8A838"/>
          </a:solidFill>
          <a:ln/>
        </p:spPr>
        <p:txBody>
          <a:bodyPr/>
          <a:lstStyle/>
          <a:p>
            <a:endParaRPr lang="sr-Latn-RS"/>
          </a:p>
        </p:txBody>
      </p:sp>
      <p:sp>
        <p:nvSpPr>
          <p:cNvPr id="29" name="Text 27"/>
          <p:cNvSpPr/>
          <p:nvPr/>
        </p:nvSpPr>
        <p:spPr>
          <a:xfrm>
            <a:off x="3575304" y="3063240"/>
            <a:ext cx="228600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Oxidative stress response</a:t>
            </a:r>
            <a:endParaRPr lang="en-US" sz="1100" dirty="0"/>
          </a:p>
        </p:txBody>
      </p:sp>
      <p:sp>
        <p:nvSpPr>
          <p:cNvPr id="30" name="Shape 28"/>
          <p:cNvSpPr/>
          <p:nvPr/>
        </p:nvSpPr>
        <p:spPr>
          <a:xfrm>
            <a:off x="3337560" y="3611880"/>
            <a:ext cx="2560320" cy="1097280"/>
          </a:xfrm>
          <a:prstGeom prst="roundRect">
            <a:avLst>
              <a:gd name="adj" fmla="val 5000"/>
            </a:avLst>
          </a:prstGeom>
          <a:solidFill>
            <a:srgbClr val="E8A838">
              <a:alpha val="20000"/>
            </a:srgbClr>
          </a:solidFill>
          <a:ln/>
        </p:spPr>
        <p:txBody>
          <a:bodyPr/>
          <a:lstStyle/>
          <a:p>
            <a:endParaRPr lang="sr-Latn-RS"/>
          </a:p>
        </p:txBody>
      </p:sp>
      <p:sp>
        <p:nvSpPr>
          <p:cNvPr id="31" name="Text 29"/>
          <p:cNvSpPr/>
          <p:nvPr/>
        </p:nvSpPr>
        <p:spPr>
          <a:xfrm>
            <a:off x="3383280" y="3639312"/>
            <a:ext cx="2468880" cy="1005840"/>
          </a:xfrm>
          <a:prstGeom prst="rect">
            <a:avLst/>
          </a:prstGeom>
          <a:noFill/>
          <a:ln/>
        </p:spPr>
        <p:txBody>
          <a:bodyPr wrap="square" rtlCol="0" anchor="ctr"/>
          <a:lstStyle/>
          <a:p>
            <a:pPr marL="0" indent="0">
              <a:buNone/>
            </a:pPr>
            <a:r>
              <a:rPr lang="en-US" sz="1000" i="1" dirty="0">
                <a:solidFill>
                  <a:srgbClr val="D6EEF5"/>
                </a:solidFill>
                <a:latin typeface="Calibri" pitchFamily="34" charset="0"/>
                <a:ea typeface="Calibri" pitchFamily="34" charset="-122"/>
                <a:cs typeface="Calibri" pitchFamily="34" charset="-120"/>
              </a:rPr>
              <a:t>→ Larger particles → metabolic &amp; stress programmes; platelet crosstalk</a:t>
            </a:r>
            <a:endParaRPr lang="en-US" sz="1000" dirty="0"/>
          </a:p>
        </p:txBody>
      </p:sp>
      <p:sp>
        <p:nvSpPr>
          <p:cNvPr id="32" name="Shape 30"/>
          <p:cNvSpPr/>
          <p:nvPr/>
        </p:nvSpPr>
        <p:spPr>
          <a:xfrm>
            <a:off x="6126480" y="1188720"/>
            <a:ext cx="2743200" cy="3657600"/>
          </a:xfrm>
          <a:prstGeom prst="roundRect">
            <a:avLst>
              <a:gd name="adj" fmla="val 2667"/>
            </a:avLst>
          </a:prstGeom>
          <a:solidFill>
            <a:srgbClr val="102030"/>
          </a:solidFill>
          <a:ln/>
        </p:spPr>
        <p:txBody>
          <a:bodyPr/>
          <a:lstStyle/>
          <a:p>
            <a:endParaRPr lang="sr-Latn-RS"/>
          </a:p>
        </p:txBody>
      </p:sp>
      <p:sp>
        <p:nvSpPr>
          <p:cNvPr id="33" name="Shape 31"/>
          <p:cNvSpPr/>
          <p:nvPr/>
        </p:nvSpPr>
        <p:spPr>
          <a:xfrm>
            <a:off x="6126480" y="1188720"/>
            <a:ext cx="2743200" cy="384048"/>
          </a:xfrm>
          <a:prstGeom prst="roundRect">
            <a:avLst>
              <a:gd name="adj" fmla="val 19048"/>
            </a:avLst>
          </a:prstGeom>
          <a:solidFill>
            <a:srgbClr val="E05C4B"/>
          </a:solidFill>
          <a:ln/>
        </p:spPr>
        <p:txBody>
          <a:bodyPr/>
          <a:lstStyle/>
          <a:p>
            <a:endParaRPr lang="sr-Latn-RS"/>
          </a:p>
        </p:txBody>
      </p:sp>
      <p:sp>
        <p:nvSpPr>
          <p:cNvPr id="34" name="Shape 32"/>
          <p:cNvSpPr/>
          <p:nvPr/>
        </p:nvSpPr>
        <p:spPr>
          <a:xfrm>
            <a:off x="6126480" y="1371600"/>
            <a:ext cx="2743200" cy="201168"/>
          </a:xfrm>
          <a:prstGeom prst="rect">
            <a:avLst/>
          </a:prstGeom>
          <a:solidFill>
            <a:srgbClr val="E05C4B"/>
          </a:solidFill>
          <a:ln/>
        </p:spPr>
        <p:txBody>
          <a:bodyPr/>
          <a:lstStyle/>
          <a:p>
            <a:endParaRPr lang="sr-Latn-RS"/>
          </a:p>
        </p:txBody>
      </p:sp>
      <p:sp>
        <p:nvSpPr>
          <p:cNvPr id="35" name="Text 33"/>
          <p:cNvSpPr/>
          <p:nvPr/>
        </p:nvSpPr>
        <p:spPr>
          <a:xfrm>
            <a:off x="6126480" y="1188720"/>
            <a:ext cx="2743200" cy="384048"/>
          </a:xfrm>
          <a:prstGeom prst="rect">
            <a:avLst/>
          </a:prstGeom>
          <a:noFill/>
          <a:ln/>
        </p:spPr>
        <p:txBody>
          <a:bodyPr wrap="square" rtlCol="0" anchor="ctr"/>
          <a:lstStyle/>
          <a:p>
            <a:pPr marL="0" indent="0" algn="ctr">
              <a:buNone/>
            </a:pPr>
            <a:r>
              <a:rPr lang="en-US" sz="1250" b="1" dirty="0">
                <a:solidFill>
                  <a:srgbClr val="0A2342"/>
                </a:solidFill>
                <a:latin typeface="Calibri" pitchFamily="34" charset="0"/>
                <a:ea typeface="Calibri" pitchFamily="34" charset="-122"/>
                <a:cs typeface="Calibri" pitchFamily="34" charset="-120"/>
              </a:rPr>
              <a:t>Mix — Monocytes</a:t>
            </a:r>
            <a:endParaRPr lang="en-US" sz="1250" dirty="0"/>
          </a:p>
        </p:txBody>
      </p:sp>
      <p:sp>
        <p:nvSpPr>
          <p:cNvPr id="36" name="Shape 34"/>
          <p:cNvSpPr/>
          <p:nvPr/>
        </p:nvSpPr>
        <p:spPr>
          <a:xfrm>
            <a:off x="6236208" y="1783080"/>
            <a:ext cx="155448" cy="155448"/>
          </a:xfrm>
          <a:prstGeom prst="ellipse">
            <a:avLst/>
          </a:prstGeom>
          <a:solidFill>
            <a:srgbClr val="E05C4B"/>
          </a:solidFill>
          <a:ln/>
        </p:spPr>
        <p:txBody>
          <a:bodyPr/>
          <a:lstStyle/>
          <a:p>
            <a:endParaRPr lang="sr-Latn-RS"/>
          </a:p>
        </p:txBody>
      </p:sp>
      <p:sp>
        <p:nvSpPr>
          <p:cNvPr id="37" name="Text 35"/>
          <p:cNvSpPr/>
          <p:nvPr/>
        </p:nvSpPr>
        <p:spPr>
          <a:xfrm>
            <a:off x="6455664" y="1691640"/>
            <a:ext cx="228600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Inflammatory response</a:t>
            </a:r>
            <a:endParaRPr lang="en-US" sz="1100" dirty="0"/>
          </a:p>
        </p:txBody>
      </p:sp>
      <p:sp>
        <p:nvSpPr>
          <p:cNvPr id="38" name="Shape 36"/>
          <p:cNvSpPr/>
          <p:nvPr/>
        </p:nvSpPr>
        <p:spPr>
          <a:xfrm>
            <a:off x="6236208" y="2240280"/>
            <a:ext cx="155448" cy="155448"/>
          </a:xfrm>
          <a:prstGeom prst="ellipse">
            <a:avLst/>
          </a:prstGeom>
          <a:solidFill>
            <a:srgbClr val="E05C4B"/>
          </a:solidFill>
          <a:ln/>
        </p:spPr>
        <p:txBody>
          <a:bodyPr/>
          <a:lstStyle/>
          <a:p>
            <a:endParaRPr lang="sr-Latn-RS"/>
          </a:p>
        </p:txBody>
      </p:sp>
      <p:sp>
        <p:nvSpPr>
          <p:cNvPr id="39" name="Text 37"/>
          <p:cNvSpPr/>
          <p:nvPr/>
        </p:nvSpPr>
        <p:spPr>
          <a:xfrm>
            <a:off x="6455664" y="2148840"/>
            <a:ext cx="228600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Cytokine-mediated signalling</a:t>
            </a:r>
            <a:endParaRPr lang="en-US" sz="1100" dirty="0"/>
          </a:p>
        </p:txBody>
      </p:sp>
      <p:sp>
        <p:nvSpPr>
          <p:cNvPr id="40" name="Shape 38"/>
          <p:cNvSpPr/>
          <p:nvPr/>
        </p:nvSpPr>
        <p:spPr>
          <a:xfrm>
            <a:off x="6236208" y="2697480"/>
            <a:ext cx="155448" cy="155448"/>
          </a:xfrm>
          <a:prstGeom prst="ellipse">
            <a:avLst/>
          </a:prstGeom>
          <a:solidFill>
            <a:srgbClr val="E05C4B"/>
          </a:solidFill>
          <a:ln/>
        </p:spPr>
        <p:txBody>
          <a:bodyPr/>
          <a:lstStyle/>
          <a:p>
            <a:endParaRPr lang="sr-Latn-RS"/>
          </a:p>
        </p:txBody>
      </p:sp>
      <p:sp>
        <p:nvSpPr>
          <p:cNvPr id="41" name="Text 39"/>
          <p:cNvSpPr/>
          <p:nvPr/>
        </p:nvSpPr>
        <p:spPr>
          <a:xfrm>
            <a:off x="6455664" y="2606040"/>
            <a:ext cx="228600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Regulation of cell migration</a:t>
            </a:r>
            <a:endParaRPr lang="en-US" sz="1100" dirty="0"/>
          </a:p>
        </p:txBody>
      </p:sp>
      <p:sp>
        <p:nvSpPr>
          <p:cNvPr id="42" name="Shape 40"/>
          <p:cNvSpPr/>
          <p:nvPr/>
        </p:nvSpPr>
        <p:spPr>
          <a:xfrm>
            <a:off x="6236208" y="3154680"/>
            <a:ext cx="155448" cy="155448"/>
          </a:xfrm>
          <a:prstGeom prst="ellipse">
            <a:avLst/>
          </a:prstGeom>
          <a:solidFill>
            <a:srgbClr val="E05C4B"/>
          </a:solidFill>
          <a:ln/>
        </p:spPr>
        <p:txBody>
          <a:bodyPr/>
          <a:lstStyle/>
          <a:p>
            <a:endParaRPr lang="sr-Latn-RS"/>
          </a:p>
        </p:txBody>
      </p:sp>
      <p:sp>
        <p:nvSpPr>
          <p:cNvPr id="43" name="Text 41"/>
          <p:cNvSpPr/>
          <p:nvPr/>
        </p:nvSpPr>
        <p:spPr>
          <a:xfrm>
            <a:off x="6455664" y="3063240"/>
            <a:ext cx="228600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Response to LPS</a:t>
            </a:r>
            <a:endParaRPr lang="en-US" sz="1100" dirty="0"/>
          </a:p>
        </p:txBody>
      </p:sp>
      <p:sp>
        <p:nvSpPr>
          <p:cNvPr id="44" name="Shape 42"/>
          <p:cNvSpPr/>
          <p:nvPr/>
        </p:nvSpPr>
        <p:spPr>
          <a:xfrm>
            <a:off x="6217920" y="3611880"/>
            <a:ext cx="2560320" cy="1097280"/>
          </a:xfrm>
          <a:prstGeom prst="roundRect">
            <a:avLst>
              <a:gd name="adj" fmla="val 5000"/>
            </a:avLst>
          </a:prstGeom>
          <a:solidFill>
            <a:srgbClr val="E05C4B">
              <a:alpha val="20000"/>
            </a:srgbClr>
          </a:solidFill>
          <a:ln/>
        </p:spPr>
        <p:txBody>
          <a:bodyPr/>
          <a:lstStyle/>
          <a:p>
            <a:endParaRPr lang="sr-Latn-RS"/>
          </a:p>
        </p:txBody>
      </p:sp>
      <p:sp>
        <p:nvSpPr>
          <p:cNvPr id="45" name="Text 43"/>
          <p:cNvSpPr/>
          <p:nvPr/>
        </p:nvSpPr>
        <p:spPr>
          <a:xfrm>
            <a:off x="6263640" y="3639312"/>
            <a:ext cx="2468880" cy="1005840"/>
          </a:xfrm>
          <a:prstGeom prst="rect">
            <a:avLst/>
          </a:prstGeom>
          <a:noFill/>
          <a:ln/>
        </p:spPr>
        <p:txBody>
          <a:bodyPr wrap="square" rtlCol="0" anchor="ctr"/>
          <a:lstStyle/>
          <a:p>
            <a:pPr marL="0" indent="0">
              <a:buNone/>
            </a:pPr>
            <a:r>
              <a:rPr lang="en-US" sz="1000" i="1" dirty="0">
                <a:solidFill>
                  <a:srgbClr val="D6EEF5"/>
                </a:solidFill>
                <a:latin typeface="Calibri" pitchFamily="34" charset="0"/>
                <a:ea typeface="Calibri" pitchFamily="34" charset="-122"/>
                <a:cs typeface="Calibri" pitchFamily="34" charset="-120"/>
              </a:rPr>
              <a:t>→ Mixture → strongest innate immune activation; unique emergent effects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0A2342"/>
                </a:solidFill>
                <a:latin typeface="Cambria" pitchFamily="34" charset="0"/>
                <a:ea typeface="Cambria" pitchFamily="34" charset="-122"/>
                <a:cs typeface="Cambria" pitchFamily="34" charset="-120"/>
              </a:rPr>
              <a:t>Size-Specific Transcriptional Effects</a:t>
            </a:r>
            <a:endParaRPr lang="en-US" sz="3400" dirty="0"/>
          </a:p>
        </p:txBody>
      </p:sp>
      <p:sp>
        <p:nvSpPr>
          <p:cNvPr id="3" name="Text 1"/>
          <p:cNvSpPr/>
          <p:nvPr/>
        </p:nvSpPr>
        <p:spPr>
          <a:xfrm>
            <a:off x="457200" y="822960"/>
            <a:ext cx="8229600" cy="274320"/>
          </a:xfrm>
          <a:prstGeom prst="rect">
            <a:avLst/>
          </a:prstGeom>
          <a:noFill/>
          <a:ln/>
        </p:spPr>
        <p:txBody>
          <a:bodyPr wrap="square" rtlCol="0" anchor="ctr"/>
          <a:lstStyle/>
          <a:p>
            <a:pPr marL="0" indent="0">
              <a:buNone/>
            </a:pPr>
            <a:r>
              <a:rPr lang="en-US" sz="1200" dirty="0">
                <a:solidFill>
                  <a:srgbClr val="1D6A8B"/>
                </a:solidFill>
                <a:latin typeface="Calibri" pitchFamily="34" charset="0"/>
                <a:ea typeface="Calibri" pitchFamily="34" charset="-122"/>
                <a:cs typeface="Calibri" pitchFamily="34" charset="-120"/>
              </a:rPr>
              <a:t>Classification of significant DE genes by which exposure(s) they respond to — CD14+ Monocytes:</a:t>
            </a:r>
            <a:endParaRPr lang="en-US" sz="1200" dirty="0"/>
          </a:p>
        </p:txBody>
      </p:sp>
      <p:graphicFrame>
        <p:nvGraphicFramePr>
          <p:cNvPr id="4" name="Chart 0"/>
          <p:cNvGraphicFramePr/>
          <p:nvPr/>
        </p:nvGraphicFramePr>
        <p:xfrm>
          <a:off x="457200" y="1188720"/>
          <a:ext cx="502920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669280" y="1234440"/>
            <a:ext cx="3017520" cy="777240"/>
          </a:xfrm>
          <a:prstGeom prst="roundRect">
            <a:avLst>
              <a:gd name="adj" fmla="val 8235"/>
            </a:avLst>
          </a:prstGeom>
          <a:solidFill>
            <a:srgbClr val="FFFFFF"/>
          </a:solidFill>
          <a:ln/>
          <a:effectLst>
            <a:outerShdw blurRad="63500" dist="25400" dir="2700000" algn="bl" rotWithShape="0">
              <a:srgbClr val="000000">
                <a:alpha val="10000"/>
              </a:srgbClr>
            </a:outerShdw>
          </a:effectLst>
        </p:spPr>
        <p:txBody>
          <a:bodyPr/>
          <a:lstStyle/>
          <a:p>
            <a:endParaRPr lang="sr-Latn-RS"/>
          </a:p>
        </p:txBody>
      </p:sp>
      <p:sp>
        <p:nvSpPr>
          <p:cNvPr id="6" name="Text 3"/>
          <p:cNvSpPr/>
          <p:nvPr/>
        </p:nvSpPr>
        <p:spPr>
          <a:xfrm>
            <a:off x="5806440" y="1271016"/>
            <a:ext cx="2743200" cy="274320"/>
          </a:xfrm>
          <a:prstGeom prst="rect">
            <a:avLst/>
          </a:prstGeom>
          <a:noFill/>
          <a:ln/>
        </p:spPr>
        <p:txBody>
          <a:bodyPr wrap="square" rtlCol="0" anchor="ctr"/>
          <a:lstStyle/>
          <a:p>
            <a:pPr marL="0" indent="0">
              <a:buNone/>
            </a:pPr>
            <a:r>
              <a:rPr lang="en-US" sz="1150" b="1" dirty="0">
                <a:solidFill>
                  <a:srgbClr val="2AABCC"/>
                </a:solidFill>
                <a:latin typeface="Calibri" pitchFamily="34" charset="0"/>
                <a:ea typeface="Calibri" pitchFamily="34" charset="-122"/>
                <a:cs typeface="Calibri" pitchFamily="34" charset="-120"/>
              </a:rPr>
              <a:t>◉ 40 nm specific (203 genes)</a:t>
            </a:r>
            <a:endParaRPr lang="en-US" sz="1150" dirty="0"/>
          </a:p>
        </p:txBody>
      </p:sp>
      <p:sp>
        <p:nvSpPr>
          <p:cNvPr id="7" name="Text 4"/>
          <p:cNvSpPr/>
          <p:nvPr/>
        </p:nvSpPr>
        <p:spPr>
          <a:xfrm>
            <a:off x="5806440" y="1554480"/>
            <a:ext cx="2743200" cy="384048"/>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Antigen handling, MHC II assembly — small particle endosomal route</a:t>
            </a:r>
            <a:endParaRPr lang="en-US" sz="1050" dirty="0"/>
          </a:p>
        </p:txBody>
      </p:sp>
      <p:sp>
        <p:nvSpPr>
          <p:cNvPr id="8" name="Shape 5"/>
          <p:cNvSpPr/>
          <p:nvPr/>
        </p:nvSpPr>
        <p:spPr>
          <a:xfrm>
            <a:off x="5669280" y="2148840"/>
            <a:ext cx="3017520" cy="777240"/>
          </a:xfrm>
          <a:prstGeom prst="roundRect">
            <a:avLst>
              <a:gd name="adj" fmla="val 8235"/>
            </a:avLst>
          </a:prstGeom>
          <a:solidFill>
            <a:srgbClr val="FFFFFF"/>
          </a:solidFill>
          <a:ln/>
          <a:effectLst>
            <a:outerShdw blurRad="63500" dist="25400" dir="2700000" algn="bl" rotWithShape="0">
              <a:srgbClr val="000000">
                <a:alpha val="10000"/>
              </a:srgbClr>
            </a:outerShdw>
          </a:effectLst>
        </p:spPr>
        <p:txBody>
          <a:bodyPr/>
          <a:lstStyle/>
          <a:p>
            <a:endParaRPr lang="sr-Latn-RS"/>
          </a:p>
        </p:txBody>
      </p:sp>
      <p:sp>
        <p:nvSpPr>
          <p:cNvPr id="9" name="Text 6"/>
          <p:cNvSpPr/>
          <p:nvPr/>
        </p:nvSpPr>
        <p:spPr>
          <a:xfrm>
            <a:off x="5806440" y="2185416"/>
            <a:ext cx="2743200" cy="274320"/>
          </a:xfrm>
          <a:prstGeom prst="rect">
            <a:avLst/>
          </a:prstGeom>
          <a:noFill/>
          <a:ln/>
        </p:spPr>
        <p:txBody>
          <a:bodyPr wrap="square" rtlCol="0" anchor="ctr"/>
          <a:lstStyle/>
          <a:p>
            <a:pPr marL="0" indent="0">
              <a:buNone/>
            </a:pPr>
            <a:r>
              <a:rPr lang="en-US" sz="1150" b="1" dirty="0">
                <a:solidFill>
                  <a:srgbClr val="E8A838"/>
                </a:solidFill>
                <a:latin typeface="Calibri" pitchFamily="34" charset="0"/>
                <a:ea typeface="Calibri" pitchFamily="34" charset="-122"/>
                <a:cs typeface="Calibri" pitchFamily="34" charset="-120"/>
              </a:rPr>
              <a:t>◉ 200 nm specific (81 genes)</a:t>
            </a:r>
            <a:endParaRPr lang="en-US" sz="1150" dirty="0"/>
          </a:p>
        </p:txBody>
      </p:sp>
      <p:sp>
        <p:nvSpPr>
          <p:cNvPr id="10" name="Text 7"/>
          <p:cNvSpPr/>
          <p:nvPr/>
        </p:nvSpPr>
        <p:spPr>
          <a:xfrm>
            <a:off x="5806440" y="2468880"/>
            <a:ext cx="2743200" cy="384048"/>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Metabolic stress, translation — different uptake/processing</a:t>
            </a:r>
            <a:endParaRPr lang="en-US" sz="1050" dirty="0"/>
          </a:p>
        </p:txBody>
      </p:sp>
      <p:sp>
        <p:nvSpPr>
          <p:cNvPr id="11" name="Shape 8"/>
          <p:cNvSpPr/>
          <p:nvPr/>
        </p:nvSpPr>
        <p:spPr>
          <a:xfrm>
            <a:off x="5669280" y="3063240"/>
            <a:ext cx="3017520" cy="777240"/>
          </a:xfrm>
          <a:prstGeom prst="roundRect">
            <a:avLst>
              <a:gd name="adj" fmla="val 8235"/>
            </a:avLst>
          </a:prstGeom>
          <a:solidFill>
            <a:srgbClr val="FFFFFF"/>
          </a:solidFill>
          <a:ln/>
          <a:effectLst>
            <a:outerShdw blurRad="63500" dist="25400" dir="2700000" algn="bl" rotWithShape="0">
              <a:srgbClr val="000000">
                <a:alpha val="10000"/>
              </a:srgbClr>
            </a:outerShdw>
          </a:effectLst>
        </p:spPr>
        <p:txBody>
          <a:bodyPr/>
          <a:lstStyle/>
          <a:p>
            <a:endParaRPr lang="sr-Latn-RS"/>
          </a:p>
        </p:txBody>
      </p:sp>
      <p:sp>
        <p:nvSpPr>
          <p:cNvPr id="12" name="Text 9"/>
          <p:cNvSpPr/>
          <p:nvPr/>
        </p:nvSpPr>
        <p:spPr>
          <a:xfrm>
            <a:off x="5806440" y="3099816"/>
            <a:ext cx="2743200" cy="274320"/>
          </a:xfrm>
          <a:prstGeom prst="rect">
            <a:avLst/>
          </a:prstGeom>
          <a:noFill/>
          <a:ln/>
        </p:spPr>
        <p:txBody>
          <a:bodyPr wrap="square" rtlCol="0" anchor="ctr"/>
          <a:lstStyle/>
          <a:p>
            <a:pPr marL="0" indent="0">
              <a:buNone/>
            </a:pPr>
            <a:r>
              <a:rPr lang="en-US" sz="1150" b="1" dirty="0">
                <a:solidFill>
                  <a:srgbClr val="1D6A8B"/>
                </a:solidFill>
                <a:latin typeface="Calibri" pitchFamily="34" charset="0"/>
                <a:ea typeface="Calibri" pitchFamily="34" charset="-122"/>
                <a:cs typeface="Calibri" pitchFamily="34" charset="-120"/>
              </a:rPr>
              <a:t>◉ Shared all 3 (865 genes)</a:t>
            </a:r>
            <a:endParaRPr lang="en-US" sz="1150" dirty="0"/>
          </a:p>
        </p:txBody>
      </p:sp>
      <p:sp>
        <p:nvSpPr>
          <p:cNvPr id="13" name="Text 10"/>
          <p:cNvSpPr/>
          <p:nvPr/>
        </p:nvSpPr>
        <p:spPr>
          <a:xfrm>
            <a:off x="5806440" y="3383280"/>
            <a:ext cx="2743200" cy="384048"/>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Core PSNP response — general plastic particle stress signal</a:t>
            </a:r>
            <a:endParaRPr lang="en-US" sz="1050" dirty="0"/>
          </a:p>
        </p:txBody>
      </p:sp>
      <p:sp>
        <p:nvSpPr>
          <p:cNvPr id="14" name="Shape 11"/>
          <p:cNvSpPr/>
          <p:nvPr/>
        </p:nvSpPr>
        <p:spPr>
          <a:xfrm>
            <a:off x="5669280" y="3977640"/>
            <a:ext cx="3017520" cy="777240"/>
          </a:xfrm>
          <a:prstGeom prst="roundRect">
            <a:avLst>
              <a:gd name="adj" fmla="val 8235"/>
            </a:avLst>
          </a:prstGeom>
          <a:solidFill>
            <a:srgbClr val="FFFFFF"/>
          </a:solidFill>
          <a:ln/>
          <a:effectLst>
            <a:outerShdw blurRad="63500" dist="25400" dir="2700000" algn="bl" rotWithShape="0">
              <a:srgbClr val="000000">
                <a:alpha val="10000"/>
              </a:srgbClr>
            </a:outerShdw>
          </a:effectLst>
        </p:spPr>
        <p:txBody>
          <a:bodyPr/>
          <a:lstStyle/>
          <a:p>
            <a:endParaRPr lang="sr-Latn-RS"/>
          </a:p>
        </p:txBody>
      </p:sp>
      <p:sp>
        <p:nvSpPr>
          <p:cNvPr id="15" name="Text 12"/>
          <p:cNvSpPr/>
          <p:nvPr/>
        </p:nvSpPr>
        <p:spPr>
          <a:xfrm>
            <a:off x="5806440" y="4014216"/>
            <a:ext cx="2743200" cy="274320"/>
          </a:xfrm>
          <a:prstGeom prst="rect">
            <a:avLst/>
          </a:prstGeom>
          <a:noFill/>
          <a:ln/>
        </p:spPr>
        <p:txBody>
          <a:bodyPr wrap="square" rtlCol="0" anchor="ctr"/>
          <a:lstStyle/>
          <a:p>
            <a:pPr marL="0" indent="0">
              <a:buNone/>
            </a:pPr>
            <a:r>
              <a:rPr lang="en-US" sz="1150" b="1" dirty="0">
                <a:solidFill>
                  <a:srgbClr val="E05C4B"/>
                </a:solidFill>
                <a:latin typeface="Calibri" pitchFamily="34" charset="0"/>
                <a:ea typeface="Calibri" pitchFamily="34" charset="-122"/>
                <a:cs typeface="Calibri" pitchFamily="34" charset="-120"/>
              </a:rPr>
              <a:t>◉ Mix-only emergent (294 genes)</a:t>
            </a:r>
            <a:endParaRPr lang="en-US" sz="1150" dirty="0"/>
          </a:p>
        </p:txBody>
      </p:sp>
      <p:sp>
        <p:nvSpPr>
          <p:cNvPr id="16" name="Text 13"/>
          <p:cNvSpPr/>
          <p:nvPr/>
        </p:nvSpPr>
        <p:spPr>
          <a:xfrm>
            <a:off x="5806440" y="4297680"/>
            <a:ext cx="2743200" cy="384048"/>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Not in either single-size response — synergistic or antagonistic mix effect</a:t>
            </a:r>
            <a:endParaRPr lang="en-US" sz="1050" dirty="0"/>
          </a:p>
        </p:txBody>
      </p:sp>
      <p:sp>
        <p:nvSpPr>
          <p:cNvPr id="17" name="Shape 14"/>
          <p:cNvSpPr/>
          <p:nvPr/>
        </p:nvSpPr>
        <p:spPr>
          <a:xfrm>
            <a:off x="457200" y="4690872"/>
            <a:ext cx="8229600" cy="429768"/>
          </a:xfrm>
          <a:prstGeom prst="roundRect">
            <a:avLst>
              <a:gd name="adj" fmla="val 14894"/>
            </a:avLst>
          </a:prstGeom>
          <a:solidFill>
            <a:srgbClr val="0A2342"/>
          </a:solidFill>
          <a:ln/>
        </p:spPr>
        <p:txBody>
          <a:bodyPr/>
          <a:lstStyle/>
          <a:p>
            <a:endParaRPr lang="sr-Latn-RS"/>
          </a:p>
        </p:txBody>
      </p:sp>
      <p:sp>
        <p:nvSpPr>
          <p:cNvPr id="18" name="Text 15"/>
          <p:cNvSpPr/>
          <p:nvPr/>
        </p:nvSpPr>
        <p:spPr>
          <a:xfrm>
            <a:off x="594360" y="4370832"/>
            <a:ext cx="7955280" cy="906562"/>
          </a:xfrm>
          <a:prstGeom prst="rect">
            <a:avLst/>
          </a:prstGeom>
          <a:noFill/>
          <a:ln/>
        </p:spPr>
        <p:txBody>
          <a:bodyPr wrap="square" rtlCol="0" anchor="ctr"/>
          <a:lstStyle/>
          <a:p>
            <a:pPr marL="0" indent="0">
              <a:buNone/>
            </a:pPr>
            <a:endParaRPr lang="en-US" sz="1200" b="1" dirty="0">
              <a:solidFill>
                <a:srgbClr val="FFFFFF"/>
              </a:solidFill>
              <a:latin typeface="Calibri" pitchFamily="34" charset="0"/>
              <a:ea typeface="Calibri" pitchFamily="34" charset="-122"/>
              <a:cs typeface="Calibri" pitchFamily="34" charset="-120"/>
            </a:endParaRPr>
          </a:p>
          <a:p>
            <a:pPr marL="0" indent="0">
              <a:buNone/>
            </a:pPr>
            <a:r>
              <a:rPr lang="en-US" sz="1200" b="1" dirty="0">
                <a:solidFill>
                  <a:srgbClr val="FFFFFF"/>
                </a:solidFill>
                <a:latin typeface="Calibri" pitchFamily="34" charset="0"/>
                <a:ea typeface="Calibri" pitchFamily="34" charset="-122"/>
                <a:cs typeface="Calibri" pitchFamily="34" charset="-120"/>
              </a:rPr>
              <a:t>Key insight: Particle size produces partially distinct immune gene programmes. The mixture is NOT additive — 294 genes respond only to combined exposure.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600" b="1" dirty="0">
                <a:solidFill>
                  <a:srgbClr val="0A2342"/>
                </a:solidFill>
                <a:latin typeface="Cambria" pitchFamily="34" charset="0"/>
                <a:ea typeface="Cambria" pitchFamily="34" charset="-122"/>
                <a:cs typeface="Cambria" pitchFamily="34" charset="-120"/>
              </a:rPr>
              <a:t>Additional Analyses</a:t>
            </a:r>
            <a:endParaRPr lang="en-US" sz="3600" dirty="0"/>
          </a:p>
        </p:txBody>
      </p:sp>
      <p:sp>
        <p:nvSpPr>
          <p:cNvPr id="3" name="Shape 1"/>
          <p:cNvSpPr/>
          <p:nvPr/>
        </p:nvSpPr>
        <p:spPr>
          <a:xfrm>
            <a:off x="365760" y="960120"/>
            <a:ext cx="4114800" cy="1143000"/>
          </a:xfrm>
          <a:prstGeom prst="roundRect">
            <a:avLst>
              <a:gd name="adj" fmla="val 6400"/>
            </a:avLst>
          </a:prstGeom>
          <a:solidFill>
            <a:srgbClr val="F0F7FA"/>
          </a:solidFill>
          <a:ln/>
          <a:effectLst>
            <a:outerShdw blurRad="63500" dist="25400" dir="2700000" algn="bl" rotWithShape="0">
              <a:srgbClr val="000000">
                <a:alpha val="9000"/>
              </a:srgbClr>
            </a:outerShdw>
          </a:effectLst>
        </p:spPr>
        <p:txBody>
          <a:bodyPr/>
          <a:lstStyle/>
          <a:p>
            <a:endParaRPr lang="sr-Latn-RS"/>
          </a:p>
        </p:txBody>
      </p:sp>
      <p:sp>
        <p:nvSpPr>
          <p:cNvPr id="4" name="Shape 2"/>
          <p:cNvSpPr/>
          <p:nvPr/>
        </p:nvSpPr>
        <p:spPr>
          <a:xfrm>
            <a:off x="475488" y="1069848"/>
            <a:ext cx="347472" cy="347472"/>
          </a:xfrm>
          <a:prstGeom prst="ellipse">
            <a:avLst/>
          </a:prstGeom>
          <a:solidFill>
            <a:srgbClr val="1D6A8B"/>
          </a:solidFill>
          <a:ln/>
        </p:spPr>
        <p:txBody>
          <a:bodyPr/>
          <a:lstStyle/>
          <a:p>
            <a:endParaRPr lang="sr-Latn-RS"/>
          </a:p>
        </p:txBody>
      </p:sp>
      <p:sp>
        <p:nvSpPr>
          <p:cNvPr id="5" name="Text 3"/>
          <p:cNvSpPr/>
          <p:nvPr/>
        </p:nvSpPr>
        <p:spPr>
          <a:xfrm>
            <a:off x="475488" y="1069848"/>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896112" y="1051560"/>
            <a:ext cx="2651760" cy="292608"/>
          </a:xfrm>
          <a:prstGeom prst="rect">
            <a:avLst/>
          </a:prstGeom>
          <a:noFill/>
          <a:ln/>
        </p:spPr>
        <p:txBody>
          <a:bodyPr wrap="square" rtlCol="0" anchor="ctr"/>
          <a:lstStyle/>
          <a:p>
            <a:pPr marL="0" indent="0">
              <a:buNone/>
            </a:pPr>
            <a:r>
              <a:rPr lang="en-US" sz="1300" b="1" dirty="0">
                <a:solidFill>
                  <a:srgbClr val="1D6A8B"/>
                </a:solidFill>
                <a:latin typeface="Calibri" pitchFamily="34" charset="0"/>
                <a:ea typeface="Calibri" pitchFamily="34" charset="-122"/>
                <a:cs typeface="Calibri" pitchFamily="34" charset="-120"/>
              </a:rPr>
              <a:t>IFN Signature Score</a:t>
            </a:r>
            <a:endParaRPr lang="en-US" sz="1300" dirty="0"/>
          </a:p>
        </p:txBody>
      </p:sp>
      <p:sp>
        <p:nvSpPr>
          <p:cNvPr id="7" name="Text 5"/>
          <p:cNvSpPr/>
          <p:nvPr/>
        </p:nvSpPr>
        <p:spPr>
          <a:xfrm>
            <a:off x="896112" y="1344168"/>
            <a:ext cx="2651760" cy="658368"/>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Global interferon score per condition.</a:t>
            </a:r>
            <a:endParaRPr lang="en-US" sz="1050" dirty="0"/>
          </a:p>
          <a:p>
            <a:pPr marL="0" indent="0">
              <a:buNone/>
            </a:pPr>
            <a:r>
              <a:rPr lang="en-US" sz="1050" dirty="0">
                <a:solidFill>
                  <a:srgbClr val="0A2342"/>
                </a:solidFill>
                <a:latin typeface="Calibri" pitchFamily="34" charset="0"/>
                <a:ea typeface="Calibri" pitchFamily="34" charset="-122"/>
                <a:cs typeface="Calibri" pitchFamily="34" charset="-120"/>
              </a:rPr>
              <a:t>Control: 0.0033 (highest) — no strong IFN spike under PSNP. Examine IFN genes within cell types in DE tables.</a:t>
            </a:r>
            <a:endParaRPr lang="en-US" sz="1050" dirty="0"/>
          </a:p>
        </p:txBody>
      </p:sp>
      <p:sp>
        <p:nvSpPr>
          <p:cNvPr id="8" name="Shape 6"/>
          <p:cNvSpPr/>
          <p:nvPr/>
        </p:nvSpPr>
        <p:spPr>
          <a:xfrm>
            <a:off x="3246120" y="1051560"/>
            <a:ext cx="1097280" cy="274320"/>
          </a:xfrm>
          <a:prstGeom prst="roundRect">
            <a:avLst>
              <a:gd name="adj" fmla="val 16667"/>
            </a:avLst>
          </a:prstGeom>
          <a:solidFill>
            <a:srgbClr val="1D6A8B">
              <a:alpha val="80000"/>
            </a:srgbClr>
          </a:solidFill>
          <a:ln/>
        </p:spPr>
        <p:txBody>
          <a:bodyPr/>
          <a:lstStyle/>
          <a:p>
            <a:endParaRPr lang="sr-Latn-RS"/>
          </a:p>
        </p:txBody>
      </p:sp>
      <p:sp>
        <p:nvSpPr>
          <p:cNvPr id="9" name="Text 7"/>
          <p:cNvSpPr/>
          <p:nvPr/>
        </p:nvSpPr>
        <p:spPr>
          <a:xfrm>
            <a:off x="3246120" y="1051560"/>
            <a:ext cx="10972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No global IFN spike</a:t>
            </a:r>
            <a:endParaRPr lang="en-US" sz="850" dirty="0"/>
          </a:p>
        </p:txBody>
      </p:sp>
      <p:sp>
        <p:nvSpPr>
          <p:cNvPr id="10" name="Shape 8"/>
          <p:cNvSpPr/>
          <p:nvPr/>
        </p:nvSpPr>
        <p:spPr>
          <a:xfrm>
            <a:off x="365760" y="2240280"/>
            <a:ext cx="4114800" cy="1143000"/>
          </a:xfrm>
          <a:prstGeom prst="roundRect">
            <a:avLst>
              <a:gd name="adj" fmla="val 6400"/>
            </a:avLst>
          </a:prstGeom>
          <a:solidFill>
            <a:srgbClr val="F0F7FA"/>
          </a:solidFill>
          <a:ln/>
          <a:effectLst>
            <a:outerShdw blurRad="63500" dist="25400" dir="2700000" algn="bl" rotWithShape="0">
              <a:srgbClr val="000000">
                <a:alpha val="9000"/>
              </a:srgbClr>
            </a:outerShdw>
          </a:effectLst>
        </p:spPr>
        <p:txBody>
          <a:bodyPr/>
          <a:lstStyle/>
          <a:p>
            <a:endParaRPr lang="sr-Latn-RS"/>
          </a:p>
        </p:txBody>
      </p:sp>
      <p:sp>
        <p:nvSpPr>
          <p:cNvPr id="11" name="Shape 9"/>
          <p:cNvSpPr/>
          <p:nvPr/>
        </p:nvSpPr>
        <p:spPr>
          <a:xfrm>
            <a:off x="475488" y="2350008"/>
            <a:ext cx="347472" cy="347472"/>
          </a:xfrm>
          <a:prstGeom prst="ellipse">
            <a:avLst/>
          </a:prstGeom>
          <a:solidFill>
            <a:srgbClr val="E8A838"/>
          </a:solidFill>
          <a:ln/>
        </p:spPr>
        <p:txBody>
          <a:bodyPr/>
          <a:lstStyle/>
          <a:p>
            <a:endParaRPr lang="sr-Latn-RS"/>
          </a:p>
        </p:txBody>
      </p:sp>
      <p:sp>
        <p:nvSpPr>
          <p:cNvPr id="12" name="Text 10"/>
          <p:cNvSpPr/>
          <p:nvPr/>
        </p:nvSpPr>
        <p:spPr>
          <a:xfrm>
            <a:off x="475488" y="2350008"/>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896112" y="2331720"/>
            <a:ext cx="2651760" cy="292608"/>
          </a:xfrm>
          <a:prstGeom prst="rect">
            <a:avLst/>
          </a:prstGeom>
          <a:noFill/>
          <a:ln/>
        </p:spPr>
        <p:txBody>
          <a:bodyPr wrap="square" rtlCol="0" anchor="ctr"/>
          <a:lstStyle/>
          <a:p>
            <a:pPr marL="0" indent="0">
              <a:buNone/>
            </a:pPr>
            <a:r>
              <a:rPr lang="en-US" sz="1300" b="1" dirty="0">
                <a:solidFill>
                  <a:srgbClr val="E8A838"/>
                </a:solidFill>
                <a:latin typeface="Calibri" pitchFamily="34" charset="0"/>
                <a:ea typeface="Calibri" pitchFamily="34" charset="-122"/>
                <a:cs typeface="Calibri" pitchFamily="34" charset="-120"/>
              </a:rPr>
              <a:t>Antigen Presentation Score</a:t>
            </a:r>
            <a:endParaRPr lang="en-US" sz="1300" dirty="0"/>
          </a:p>
        </p:txBody>
      </p:sp>
      <p:sp>
        <p:nvSpPr>
          <p:cNvPr id="14" name="Text 12"/>
          <p:cNvSpPr/>
          <p:nvPr/>
        </p:nvSpPr>
        <p:spPr>
          <a:xfrm>
            <a:off x="896112" y="2624328"/>
            <a:ext cx="2651760" cy="658368"/>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HLA-gene mean per condition × cell type.</a:t>
            </a:r>
            <a:endParaRPr lang="en-US" sz="1050" dirty="0"/>
          </a:p>
          <a:p>
            <a:pPr marL="0" indent="0">
              <a:buNone/>
            </a:pPr>
            <a:r>
              <a:rPr lang="en-US" sz="1050" dirty="0">
                <a:solidFill>
                  <a:srgbClr val="0A2342"/>
                </a:solidFill>
                <a:latin typeface="Calibri" pitchFamily="34" charset="0"/>
                <a:ea typeface="Calibri" pitchFamily="34" charset="-122"/>
                <a:cs typeface="Calibri" pitchFamily="34" charset="-120"/>
              </a:rPr>
              <a:t>CD14+ monocytes: mix = −0.77 (lowest) vs control = −0.41 — reduced antigen-presentation in mixture.</a:t>
            </a:r>
            <a:endParaRPr lang="en-US" sz="1050" dirty="0"/>
          </a:p>
        </p:txBody>
      </p:sp>
      <p:sp>
        <p:nvSpPr>
          <p:cNvPr id="15" name="Shape 13"/>
          <p:cNvSpPr/>
          <p:nvPr/>
        </p:nvSpPr>
        <p:spPr>
          <a:xfrm>
            <a:off x="3246120" y="2331720"/>
            <a:ext cx="1097280" cy="274320"/>
          </a:xfrm>
          <a:prstGeom prst="roundRect">
            <a:avLst>
              <a:gd name="adj" fmla="val 16667"/>
            </a:avLst>
          </a:prstGeom>
          <a:solidFill>
            <a:srgbClr val="E8A838">
              <a:alpha val="80000"/>
            </a:srgbClr>
          </a:solidFill>
          <a:ln/>
        </p:spPr>
        <p:txBody>
          <a:bodyPr/>
          <a:lstStyle/>
          <a:p>
            <a:endParaRPr lang="sr-Latn-RS"/>
          </a:p>
        </p:txBody>
      </p:sp>
      <p:sp>
        <p:nvSpPr>
          <p:cNvPr id="16" name="Text 14"/>
          <p:cNvSpPr/>
          <p:nvPr/>
        </p:nvSpPr>
        <p:spPr>
          <a:xfrm>
            <a:off x="3246120" y="2331720"/>
            <a:ext cx="10972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Mix suppresses AP in mono</a:t>
            </a:r>
            <a:endParaRPr lang="en-US" sz="850" dirty="0"/>
          </a:p>
        </p:txBody>
      </p:sp>
      <p:sp>
        <p:nvSpPr>
          <p:cNvPr id="17" name="Shape 15"/>
          <p:cNvSpPr/>
          <p:nvPr/>
        </p:nvSpPr>
        <p:spPr>
          <a:xfrm>
            <a:off x="365760" y="3520440"/>
            <a:ext cx="4114800" cy="1143000"/>
          </a:xfrm>
          <a:prstGeom prst="roundRect">
            <a:avLst>
              <a:gd name="adj" fmla="val 6400"/>
            </a:avLst>
          </a:prstGeom>
          <a:solidFill>
            <a:srgbClr val="F0F7FA"/>
          </a:solidFill>
          <a:ln/>
          <a:effectLst>
            <a:outerShdw blurRad="63500" dist="25400" dir="2700000" algn="bl" rotWithShape="0">
              <a:srgbClr val="000000">
                <a:alpha val="9000"/>
              </a:srgbClr>
            </a:outerShdw>
          </a:effectLst>
        </p:spPr>
        <p:txBody>
          <a:bodyPr/>
          <a:lstStyle/>
          <a:p>
            <a:endParaRPr lang="sr-Latn-RS"/>
          </a:p>
        </p:txBody>
      </p:sp>
      <p:sp>
        <p:nvSpPr>
          <p:cNvPr id="18" name="Shape 16"/>
          <p:cNvSpPr/>
          <p:nvPr/>
        </p:nvSpPr>
        <p:spPr>
          <a:xfrm>
            <a:off x="475488" y="3630168"/>
            <a:ext cx="347472" cy="347472"/>
          </a:xfrm>
          <a:prstGeom prst="ellipse">
            <a:avLst/>
          </a:prstGeom>
          <a:solidFill>
            <a:srgbClr val="E05C4B"/>
          </a:solidFill>
          <a:ln/>
        </p:spPr>
        <p:txBody>
          <a:bodyPr/>
          <a:lstStyle/>
          <a:p>
            <a:endParaRPr lang="sr-Latn-RS"/>
          </a:p>
        </p:txBody>
      </p:sp>
      <p:sp>
        <p:nvSpPr>
          <p:cNvPr id="19" name="Text 17"/>
          <p:cNvSpPr/>
          <p:nvPr/>
        </p:nvSpPr>
        <p:spPr>
          <a:xfrm>
            <a:off x="475488" y="3630168"/>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896112" y="3611880"/>
            <a:ext cx="2651760" cy="292608"/>
          </a:xfrm>
          <a:prstGeom prst="rect">
            <a:avLst/>
          </a:prstGeom>
          <a:noFill/>
          <a:ln/>
        </p:spPr>
        <p:txBody>
          <a:bodyPr wrap="square" rtlCol="0" anchor="ctr"/>
          <a:lstStyle/>
          <a:p>
            <a:pPr marL="0" indent="0">
              <a:buNone/>
            </a:pPr>
            <a:r>
              <a:rPr lang="en-US" sz="1300" b="1" dirty="0">
                <a:solidFill>
                  <a:srgbClr val="E05C4B"/>
                </a:solidFill>
                <a:latin typeface="Calibri" pitchFamily="34" charset="0"/>
                <a:ea typeface="Calibri" pitchFamily="34" charset="-122"/>
                <a:cs typeface="Calibri" pitchFamily="34" charset="-120"/>
              </a:rPr>
              <a:t>CoDi vs Marker Agreement</a:t>
            </a:r>
            <a:endParaRPr lang="en-US" sz="1300" dirty="0"/>
          </a:p>
        </p:txBody>
      </p:sp>
      <p:sp>
        <p:nvSpPr>
          <p:cNvPr id="21" name="Text 19"/>
          <p:cNvSpPr/>
          <p:nvPr/>
        </p:nvSpPr>
        <p:spPr>
          <a:xfrm>
            <a:off x="896112" y="3904488"/>
            <a:ext cx="2651760" cy="658368"/>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Barcode-level comparison of normalised CoDi labels vs marker-based annotation.</a:t>
            </a:r>
            <a:endParaRPr lang="en-US" sz="1050" dirty="0"/>
          </a:p>
          <a:p>
            <a:pPr marL="0" indent="0">
              <a:buNone/>
            </a:pPr>
            <a:r>
              <a:rPr lang="en-US" sz="1050" dirty="0">
                <a:solidFill>
                  <a:srgbClr val="0A2342"/>
                </a:solidFill>
                <a:latin typeface="Calibri" pitchFamily="34" charset="0"/>
                <a:ea typeface="Calibri" pitchFamily="34" charset="-122"/>
                <a:cs typeface="Calibri" pitchFamily="34" charset="-120"/>
              </a:rPr>
              <a:t>64.7% agreement — validates marker annotation against independent model.</a:t>
            </a:r>
            <a:endParaRPr lang="en-US" sz="1050" dirty="0"/>
          </a:p>
        </p:txBody>
      </p:sp>
      <p:sp>
        <p:nvSpPr>
          <p:cNvPr id="22" name="Shape 20"/>
          <p:cNvSpPr/>
          <p:nvPr/>
        </p:nvSpPr>
        <p:spPr>
          <a:xfrm>
            <a:off x="3246120" y="3611880"/>
            <a:ext cx="1097280" cy="274320"/>
          </a:xfrm>
          <a:prstGeom prst="roundRect">
            <a:avLst>
              <a:gd name="adj" fmla="val 16667"/>
            </a:avLst>
          </a:prstGeom>
          <a:solidFill>
            <a:srgbClr val="E05C4B">
              <a:alpha val="80000"/>
            </a:srgbClr>
          </a:solidFill>
          <a:ln/>
        </p:spPr>
        <p:txBody>
          <a:bodyPr/>
          <a:lstStyle/>
          <a:p>
            <a:endParaRPr lang="sr-Latn-RS"/>
          </a:p>
        </p:txBody>
      </p:sp>
      <p:sp>
        <p:nvSpPr>
          <p:cNvPr id="23" name="Text 21"/>
          <p:cNvSpPr/>
          <p:nvPr/>
        </p:nvSpPr>
        <p:spPr>
          <a:xfrm>
            <a:off x="3246120" y="3611880"/>
            <a:ext cx="10972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64.7% concordance</a:t>
            </a:r>
            <a:endParaRPr lang="en-US" sz="850" dirty="0"/>
          </a:p>
        </p:txBody>
      </p:sp>
      <p:sp>
        <p:nvSpPr>
          <p:cNvPr id="24" name="Shape 22"/>
          <p:cNvSpPr/>
          <p:nvPr/>
        </p:nvSpPr>
        <p:spPr>
          <a:xfrm>
            <a:off x="4663440" y="960120"/>
            <a:ext cx="4114800" cy="1143000"/>
          </a:xfrm>
          <a:prstGeom prst="roundRect">
            <a:avLst>
              <a:gd name="adj" fmla="val 6400"/>
            </a:avLst>
          </a:prstGeom>
          <a:solidFill>
            <a:srgbClr val="F0F7FA"/>
          </a:solidFill>
          <a:ln/>
          <a:effectLst>
            <a:outerShdw blurRad="63500" dist="25400" dir="2700000" algn="bl" rotWithShape="0">
              <a:srgbClr val="000000">
                <a:alpha val="9000"/>
              </a:srgbClr>
            </a:outerShdw>
          </a:effectLst>
        </p:spPr>
        <p:txBody>
          <a:bodyPr/>
          <a:lstStyle/>
          <a:p>
            <a:endParaRPr lang="sr-Latn-RS"/>
          </a:p>
        </p:txBody>
      </p:sp>
      <p:sp>
        <p:nvSpPr>
          <p:cNvPr id="25" name="Shape 23"/>
          <p:cNvSpPr/>
          <p:nvPr/>
        </p:nvSpPr>
        <p:spPr>
          <a:xfrm>
            <a:off x="4773168" y="1069848"/>
            <a:ext cx="347472" cy="347472"/>
          </a:xfrm>
          <a:prstGeom prst="ellipse">
            <a:avLst/>
          </a:prstGeom>
          <a:solidFill>
            <a:srgbClr val="2AABCC"/>
          </a:solidFill>
          <a:ln/>
        </p:spPr>
        <p:txBody>
          <a:bodyPr/>
          <a:lstStyle/>
          <a:p>
            <a:endParaRPr lang="sr-Latn-RS"/>
          </a:p>
        </p:txBody>
      </p:sp>
      <p:sp>
        <p:nvSpPr>
          <p:cNvPr id="26" name="Text 24"/>
          <p:cNvSpPr/>
          <p:nvPr/>
        </p:nvSpPr>
        <p:spPr>
          <a:xfrm>
            <a:off x="4773168" y="1069848"/>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p:nvPr/>
        </p:nvSpPr>
        <p:spPr>
          <a:xfrm>
            <a:off x="5193792" y="1051560"/>
            <a:ext cx="2651760" cy="292608"/>
          </a:xfrm>
          <a:prstGeom prst="rect">
            <a:avLst/>
          </a:prstGeom>
          <a:noFill/>
          <a:ln/>
        </p:spPr>
        <p:txBody>
          <a:bodyPr wrap="square" rtlCol="0" anchor="ctr"/>
          <a:lstStyle/>
          <a:p>
            <a:pPr marL="0" indent="0">
              <a:buNone/>
            </a:pPr>
            <a:r>
              <a:rPr lang="en-US" sz="1300" b="1" dirty="0">
                <a:solidFill>
                  <a:srgbClr val="2AABCC"/>
                </a:solidFill>
                <a:latin typeface="Calibri" pitchFamily="34" charset="0"/>
                <a:ea typeface="Calibri" pitchFamily="34" charset="-122"/>
                <a:cs typeface="Calibri" pitchFamily="34" charset="-120"/>
              </a:rPr>
              <a:t>Pseudobulk Export</a:t>
            </a:r>
            <a:endParaRPr lang="en-US" sz="1300" dirty="0"/>
          </a:p>
        </p:txBody>
      </p:sp>
      <p:sp>
        <p:nvSpPr>
          <p:cNvPr id="28" name="Text 26"/>
          <p:cNvSpPr/>
          <p:nvPr/>
        </p:nvSpPr>
        <p:spPr>
          <a:xfrm>
            <a:off x="5193792" y="1344168"/>
            <a:ext cx="2651760" cy="658368"/>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Summed raw UMI counts per condition × cell type (32 groups × 3,000 genes).</a:t>
            </a:r>
            <a:endParaRPr lang="en-US" sz="1050" dirty="0"/>
          </a:p>
          <a:p>
            <a:pPr marL="0" indent="0">
              <a:buNone/>
            </a:pPr>
            <a:r>
              <a:rPr lang="en-US" sz="1050" dirty="0">
                <a:solidFill>
                  <a:srgbClr val="0A2342"/>
                </a:solidFill>
                <a:latin typeface="Calibri" pitchFamily="34" charset="0"/>
                <a:ea typeface="Calibri" pitchFamily="34" charset="-122"/>
                <a:cs typeface="Calibri" pitchFamily="34" charset="-120"/>
              </a:rPr>
              <a:t>Ready for DESeq2 / edgeR bulk-style follow-up analysis.</a:t>
            </a:r>
            <a:endParaRPr lang="en-US" sz="1050" dirty="0"/>
          </a:p>
        </p:txBody>
      </p:sp>
      <p:sp>
        <p:nvSpPr>
          <p:cNvPr id="29" name="Shape 27"/>
          <p:cNvSpPr/>
          <p:nvPr/>
        </p:nvSpPr>
        <p:spPr>
          <a:xfrm>
            <a:off x="7543800" y="1051560"/>
            <a:ext cx="1097280" cy="274320"/>
          </a:xfrm>
          <a:prstGeom prst="roundRect">
            <a:avLst>
              <a:gd name="adj" fmla="val 16667"/>
            </a:avLst>
          </a:prstGeom>
          <a:solidFill>
            <a:srgbClr val="2AABCC">
              <a:alpha val="80000"/>
            </a:srgbClr>
          </a:solidFill>
          <a:ln/>
        </p:spPr>
        <p:txBody>
          <a:bodyPr/>
          <a:lstStyle/>
          <a:p>
            <a:endParaRPr lang="sr-Latn-RS"/>
          </a:p>
        </p:txBody>
      </p:sp>
      <p:sp>
        <p:nvSpPr>
          <p:cNvPr id="30" name="Text 28"/>
          <p:cNvSpPr/>
          <p:nvPr/>
        </p:nvSpPr>
        <p:spPr>
          <a:xfrm>
            <a:off x="7543800" y="1051560"/>
            <a:ext cx="10972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DESeq2-ready</a:t>
            </a:r>
            <a:endParaRPr lang="en-US" sz="850" dirty="0"/>
          </a:p>
        </p:txBody>
      </p:sp>
      <p:sp>
        <p:nvSpPr>
          <p:cNvPr id="31" name="Shape 29"/>
          <p:cNvSpPr/>
          <p:nvPr/>
        </p:nvSpPr>
        <p:spPr>
          <a:xfrm>
            <a:off x="4663440" y="2240280"/>
            <a:ext cx="4114800" cy="1143000"/>
          </a:xfrm>
          <a:prstGeom prst="roundRect">
            <a:avLst>
              <a:gd name="adj" fmla="val 6400"/>
            </a:avLst>
          </a:prstGeom>
          <a:solidFill>
            <a:srgbClr val="F0F7FA"/>
          </a:solidFill>
          <a:ln/>
          <a:effectLst>
            <a:outerShdw blurRad="63500" dist="25400" dir="2700000" algn="bl" rotWithShape="0">
              <a:srgbClr val="000000">
                <a:alpha val="9000"/>
              </a:srgbClr>
            </a:outerShdw>
          </a:effectLst>
        </p:spPr>
        <p:txBody>
          <a:bodyPr/>
          <a:lstStyle/>
          <a:p>
            <a:endParaRPr lang="sr-Latn-RS"/>
          </a:p>
        </p:txBody>
      </p:sp>
      <p:sp>
        <p:nvSpPr>
          <p:cNvPr id="32" name="Shape 30"/>
          <p:cNvSpPr/>
          <p:nvPr/>
        </p:nvSpPr>
        <p:spPr>
          <a:xfrm>
            <a:off x="4773168" y="2350008"/>
            <a:ext cx="347472" cy="347472"/>
          </a:xfrm>
          <a:prstGeom prst="ellipse">
            <a:avLst/>
          </a:prstGeom>
          <a:solidFill>
            <a:srgbClr val="7FA9BB"/>
          </a:solidFill>
          <a:ln/>
        </p:spPr>
        <p:txBody>
          <a:bodyPr/>
          <a:lstStyle/>
          <a:p>
            <a:endParaRPr lang="sr-Latn-RS"/>
          </a:p>
        </p:txBody>
      </p:sp>
      <p:sp>
        <p:nvSpPr>
          <p:cNvPr id="33" name="Text 31"/>
          <p:cNvSpPr/>
          <p:nvPr/>
        </p:nvSpPr>
        <p:spPr>
          <a:xfrm>
            <a:off x="4773168" y="2350008"/>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4" name="Text 32"/>
          <p:cNvSpPr/>
          <p:nvPr/>
        </p:nvSpPr>
        <p:spPr>
          <a:xfrm>
            <a:off x="5193792" y="2331720"/>
            <a:ext cx="2651760" cy="292608"/>
          </a:xfrm>
          <a:prstGeom prst="rect">
            <a:avLst/>
          </a:prstGeom>
          <a:noFill/>
          <a:ln/>
        </p:spPr>
        <p:txBody>
          <a:bodyPr wrap="square" rtlCol="0" anchor="ctr"/>
          <a:lstStyle/>
          <a:p>
            <a:pPr marL="0" indent="0">
              <a:buNone/>
            </a:pPr>
            <a:r>
              <a:rPr lang="en-US" sz="1300" b="1" dirty="0">
                <a:solidFill>
                  <a:srgbClr val="7FA9BB"/>
                </a:solidFill>
                <a:latin typeface="Calibri" pitchFamily="34" charset="0"/>
                <a:ea typeface="Calibri" pitchFamily="34" charset="-122"/>
                <a:cs typeface="Calibri" pitchFamily="34" charset="-120"/>
              </a:rPr>
              <a:t>Cell Cycle Scoring</a:t>
            </a:r>
            <a:endParaRPr lang="en-US" sz="1300" dirty="0"/>
          </a:p>
        </p:txBody>
      </p:sp>
      <p:sp>
        <p:nvSpPr>
          <p:cNvPr id="35" name="Text 33"/>
          <p:cNvSpPr/>
          <p:nvPr/>
        </p:nvSpPr>
        <p:spPr>
          <a:xfrm>
            <a:off x="5193792" y="2624328"/>
            <a:ext cx="2651760" cy="658368"/>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S and G2M scores attempted — cell-cycle genes absent from HVG matrix.</a:t>
            </a:r>
            <a:endParaRPr lang="en-US" sz="1050" dirty="0"/>
          </a:p>
          <a:p>
            <a:pPr marL="0" indent="0">
              <a:buNone/>
            </a:pPr>
            <a:r>
              <a:rPr lang="en-US" sz="1050" dirty="0">
                <a:solidFill>
                  <a:srgbClr val="0A2342"/>
                </a:solidFill>
                <a:latin typeface="Calibri" pitchFamily="34" charset="0"/>
                <a:ea typeface="Calibri" pitchFamily="34" charset="-122"/>
                <a:cs typeface="Calibri" pitchFamily="34" charset="-120"/>
              </a:rPr>
              <a:t>Limitation: re-run with full gene set to assess proliferative state.</a:t>
            </a:r>
            <a:endParaRPr lang="en-US" sz="1050" dirty="0"/>
          </a:p>
        </p:txBody>
      </p:sp>
      <p:sp>
        <p:nvSpPr>
          <p:cNvPr id="36" name="Shape 34"/>
          <p:cNvSpPr/>
          <p:nvPr/>
        </p:nvSpPr>
        <p:spPr>
          <a:xfrm>
            <a:off x="7543800" y="2331720"/>
            <a:ext cx="1097280" cy="274320"/>
          </a:xfrm>
          <a:prstGeom prst="roundRect">
            <a:avLst>
              <a:gd name="adj" fmla="val 16667"/>
            </a:avLst>
          </a:prstGeom>
          <a:solidFill>
            <a:srgbClr val="7FA9BB">
              <a:alpha val="80000"/>
            </a:srgbClr>
          </a:solidFill>
          <a:ln/>
        </p:spPr>
        <p:txBody>
          <a:bodyPr/>
          <a:lstStyle/>
          <a:p>
            <a:endParaRPr lang="sr-Latn-RS"/>
          </a:p>
        </p:txBody>
      </p:sp>
      <p:sp>
        <p:nvSpPr>
          <p:cNvPr id="37" name="Text 35"/>
          <p:cNvSpPr/>
          <p:nvPr/>
        </p:nvSpPr>
        <p:spPr>
          <a:xfrm>
            <a:off x="7543800" y="2331720"/>
            <a:ext cx="10972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Limitation noted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600" b="1" dirty="0">
                <a:solidFill>
                  <a:srgbClr val="0A2342"/>
                </a:solidFill>
                <a:latin typeface="Cambria" pitchFamily="34" charset="0"/>
                <a:ea typeface="Cambria" pitchFamily="34" charset="-122"/>
                <a:cs typeface="Cambria" pitchFamily="34" charset="-120"/>
              </a:rPr>
              <a:t>Key Outputs</a:t>
            </a:r>
            <a:endParaRPr lang="en-US" sz="3600" dirty="0"/>
          </a:p>
        </p:txBody>
      </p:sp>
      <p:sp>
        <p:nvSpPr>
          <p:cNvPr id="3" name="Shape 1"/>
          <p:cNvSpPr/>
          <p:nvPr/>
        </p:nvSpPr>
        <p:spPr>
          <a:xfrm>
            <a:off x="457200" y="960120"/>
            <a:ext cx="4023360" cy="658368"/>
          </a:xfrm>
          <a:prstGeom prst="roundRect">
            <a:avLst>
              <a:gd name="adj" fmla="val 9722"/>
            </a:avLst>
          </a:prstGeom>
          <a:solidFill>
            <a:srgbClr val="FFFFFF"/>
          </a:solidFill>
          <a:ln/>
          <a:effectLst>
            <a:outerShdw blurRad="50800" dist="12700" dir="2700000" algn="bl" rotWithShape="0">
              <a:srgbClr val="000000">
                <a:alpha val="8000"/>
              </a:srgbClr>
            </a:outerShdw>
          </a:effectLst>
        </p:spPr>
        <p:txBody>
          <a:bodyPr/>
          <a:lstStyle/>
          <a:p>
            <a:endParaRPr lang="sr-Latn-RS"/>
          </a:p>
        </p:txBody>
      </p:sp>
      <p:sp>
        <p:nvSpPr>
          <p:cNvPr id="4" name="Text 2"/>
          <p:cNvSpPr/>
          <p:nvPr/>
        </p:nvSpPr>
        <p:spPr>
          <a:xfrm>
            <a:off x="530352" y="1097280"/>
            <a:ext cx="365760" cy="3657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5" name="Text 3"/>
          <p:cNvSpPr/>
          <p:nvPr/>
        </p:nvSpPr>
        <p:spPr>
          <a:xfrm>
            <a:off x="932688" y="1014984"/>
            <a:ext cx="3383280" cy="256032"/>
          </a:xfrm>
          <a:prstGeom prst="rect">
            <a:avLst/>
          </a:prstGeom>
          <a:noFill/>
          <a:ln/>
        </p:spPr>
        <p:txBody>
          <a:bodyPr wrap="square" rtlCol="0" anchor="ctr"/>
          <a:lstStyle/>
          <a:p>
            <a:pPr marL="0" indent="0">
              <a:buNone/>
            </a:pPr>
            <a:r>
              <a:rPr lang="en-US" sz="1150" b="1" dirty="0">
                <a:solidFill>
                  <a:srgbClr val="1D6A8B"/>
                </a:solidFill>
                <a:latin typeface="Calibri" pitchFamily="34" charset="0"/>
                <a:ea typeface="Calibri" pitchFamily="34" charset="-122"/>
                <a:cs typeface="Calibri" pitchFamily="34" charset="-120"/>
              </a:rPr>
              <a:t>integrated_annotated.h5ad</a:t>
            </a:r>
            <a:endParaRPr lang="en-US" sz="1150" dirty="0"/>
          </a:p>
        </p:txBody>
      </p:sp>
      <p:sp>
        <p:nvSpPr>
          <p:cNvPr id="6" name="Text 4"/>
          <p:cNvSpPr/>
          <p:nvPr/>
        </p:nvSpPr>
        <p:spPr>
          <a:xfrm>
            <a:off x="932688" y="1289304"/>
            <a:ext cx="3383280" cy="256032"/>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Master AnnData: 33,240 cells × 3,000 genes, UMAP, all labels</a:t>
            </a:r>
            <a:endParaRPr lang="en-US" sz="1050" dirty="0"/>
          </a:p>
        </p:txBody>
      </p:sp>
      <p:sp>
        <p:nvSpPr>
          <p:cNvPr id="7" name="Shape 5"/>
          <p:cNvSpPr/>
          <p:nvPr/>
        </p:nvSpPr>
        <p:spPr>
          <a:xfrm>
            <a:off x="457200" y="1737360"/>
            <a:ext cx="4023360" cy="658368"/>
          </a:xfrm>
          <a:prstGeom prst="roundRect">
            <a:avLst>
              <a:gd name="adj" fmla="val 9722"/>
            </a:avLst>
          </a:prstGeom>
          <a:solidFill>
            <a:srgbClr val="FFFFFF"/>
          </a:solidFill>
          <a:ln/>
          <a:effectLst>
            <a:outerShdw blurRad="50800" dist="12700" dir="2700000" algn="bl" rotWithShape="0">
              <a:srgbClr val="000000">
                <a:alpha val="8000"/>
              </a:srgbClr>
            </a:outerShdw>
          </a:effectLst>
        </p:spPr>
        <p:txBody>
          <a:bodyPr/>
          <a:lstStyle/>
          <a:p>
            <a:endParaRPr lang="sr-Latn-RS"/>
          </a:p>
        </p:txBody>
      </p:sp>
      <p:sp>
        <p:nvSpPr>
          <p:cNvPr id="8" name="Text 6"/>
          <p:cNvSpPr/>
          <p:nvPr/>
        </p:nvSpPr>
        <p:spPr>
          <a:xfrm>
            <a:off x="530352" y="1874520"/>
            <a:ext cx="365760" cy="3657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9" name="Text 7"/>
          <p:cNvSpPr/>
          <p:nvPr/>
        </p:nvSpPr>
        <p:spPr>
          <a:xfrm>
            <a:off x="932688" y="1792224"/>
            <a:ext cx="3383280" cy="256032"/>
          </a:xfrm>
          <a:prstGeom prst="rect">
            <a:avLst/>
          </a:prstGeom>
          <a:noFill/>
          <a:ln/>
        </p:spPr>
        <p:txBody>
          <a:bodyPr wrap="square" rtlCol="0" anchor="ctr"/>
          <a:lstStyle/>
          <a:p>
            <a:pPr marL="0" indent="0">
              <a:buNone/>
            </a:pPr>
            <a:r>
              <a:rPr lang="en-US" sz="1150" b="1" dirty="0">
                <a:solidFill>
                  <a:srgbClr val="1D6A8B"/>
                </a:solidFill>
                <a:latin typeface="Calibri" pitchFamily="34" charset="0"/>
                <a:ea typeface="Calibri" pitchFamily="34" charset="-122"/>
                <a:cs typeface="Calibri" pitchFamily="34" charset="-120"/>
              </a:rPr>
              <a:t>4 × UMAP figures</a:t>
            </a:r>
            <a:endParaRPr lang="en-US" sz="1150" dirty="0"/>
          </a:p>
        </p:txBody>
      </p:sp>
      <p:sp>
        <p:nvSpPr>
          <p:cNvPr id="10" name="Text 8"/>
          <p:cNvSpPr/>
          <p:nvPr/>
        </p:nvSpPr>
        <p:spPr>
          <a:xfrm>
            <a:off x="932688" y="2066544"/>
            <a:ext cx="3383280" cy="256032"/>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Condition / clusters / cell types / composition barplot</a:t>
            </a:r>
            <a:endParaRPr lang="en-US" sz="1050" dirty="0"/>
          </a:p>
        </p:txBody>
      </p:sp>
      <p:sp>
        <p:nvSpPr>
          <p:cNvPr id="11" name="Shape 9"/>
          <p:cNvSpPr/>
          <p:nvPr/>
        </p:nvSpPr>
        <p:spPr>
          <a:xfrm>
            <a:off x="457200" y="2514600"/>
            <a:ext cx="4023360" cy="658368"/>
          </a:xfrm>
          <a:prstGeom prst="roundRect">
            <a:avLst>
              <a:gd name="adj" fmla="val 9722"/>
            </a:avLst>
          </a:prstGeom>
          <a:solidFill>
            <a:srgbClr val="FFFFFF"/>
          </a:solidFill>
          <a:ln/>
          <a:effectLst>
            <a:outerShdw blurRad="50800" dist="12700" dir="2700000" algn="bl" rotWithShape="0">
              <a:srgbClr val="000000">
                <a:alpha val="8000"/>
              </a:srgbClr>
            </a:outerShdw>
          </a:effectLst>
        </p:spPr>
        <p:txBody>
          <a:bodyPr/>
          <a:lstStyle/>
          <a:p>
            <a:endParaRPr lang="sr-Latn-RS"/>
          </a:p>
        </p:txBody>
      </p:sp>
      <p:sp>
        <p:nvSpPr>
          <p:cNvPr id="12" name="Text 10"/>
          <p:cNvSpPr/>
          <p:nvPr/>
        </p:nvSpPr>
        <p:spPr>
          <a:xfrm>
            <a:off x="530352" y="2651760"/>
            <a:ext cx="365760" cy="3657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3" name="Text 11"/>
          <p:cNvSpPr/>
          <p:nvPr/>
        </p:nvSpPr>
        <p:spPr>
          <a:xfrm>
            <a:off x="932688" y="2569464"/>
            <a:ext cx="3383280" cy="256032"/>
          </a:xfrm>
          <a:prstGeom prst="rect">
            <a:avLst/>
          </a:prstGeom>
          <a:noFill/>
          <a:ln/>
        </p:spPr>
        <p:txBody>
          <a:bodyPr wrap="square" rtlCol="0" anchor="ctr"/>
          <a:lstStyle/>
          <a:p>
            <a:pPr marL="0" indent="0">
              <a:buNone/>
            </a:pPr>
            <a:r>
              <a:rPr lang="en-US" sz="1150" b="1" dirty="0">
                <a:solidFill>
                  <a:srgbClr val="1D6A8B"/>
                </a:solidFill>
                <a:latin typeface="Calibri" pitchFamily="34" charset="0"/>
                <a:ea typeface="Calibri" pitchFamily="34" charset="-122"/>
                <a:cs typeface="Calibri" pitchFamily="34" charset="-120"/>
              </a:rPr>
              <a:t>cell_composition_by_condition.csv</a:t>
            </a:r>
            <a:endParaRPr lang="en-US" sz="1150" dirty="0"/>
          </a:p>
        </p:txBody>
      </p:sp>
      <p:sp>
        <p:nvSpPr>
          <p:cNvPr id="14" name="Text 12"/>
          <p:cNvSpPr/>
          <p:nvPr/>
        </p:nvSpPr>
        <p:spPr>
          <a:xfrm>
            <a:off x="932688" y="2843784"/>
            <a:ext cx="3383280" cy="256032"/>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Cell type fractions per exposure (32 rows)</a:t>
            </a:r>
            <a:endParaRPr lang="en-US" sz="1050" dirty="0"/>
          </a:p>
        </p:txBody>
      </p:sp>
      <p:sp>
        <p:nvSpPr>
          <p:cNvPr id="15" name="Shape 13"/>
          <p:cNvSpPr/>
          <p:nvPr/>
        </p:nvSpPr>
        <p:spPr>
          <a:xfrm>
            <a:off x="457200" y="3291840"/>
            <a:ext cx="4023360" cy="658368"/>
          </a:xfrm>
          <a:prstGeom prst="roundRect">
            <a:avLst>
              <a:gd name="adj" fmla="val 9722"/>
            </a:avLst>
          </a:prstGeom>
          <a:solidFill>
            <a:srgbClr val="FFFFFF"/>
          </a:solidFill>
          <a:ln/>
          <a:effectLst>
            <a:outerShdw blurRad="50800" dist="12700" dir="2700000" algn="bl" rotWithShape="0">
              <a:srgbClr val="000000">
                <a:alpha val="8000"/>
              </a:srgbClr>
            </a:outerShdw>
          </a:effectLst>
        </p:spPr>
        <p:txBody>
          <a:bodyPr/>
          <a:lstStyle/>
          <a:p>
            <a:endParaRPr lang="sr-Latn-RS"/>
          </a:p>
        </p:txBody>
      </p:sp>
      <p:sp>
        <p:nvSpPr>
          <p:cNvPr id="16" name="Text 14"/>
          <p:cNvSpPr/>
          <p:nvPr/>
        </p:nvSpPr>
        <p:spPr>
          <a:xfrm>
            <a:off x="530352" y="3429000"/>
            <a:ext cx="365760" cy="3657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7" name="Text 15"/>
          <p:cNvSpPr/>
          <p:nvPr/>
        </p:nvSpPr>
        <p:spPr>
          <a:xfrm>
            <a:off x="932688" y="3346704"/>
            <a:ext cx="3383280" cy="256032"/>
          </a:xfrm>
          <a:prstGeom prst="rect">
            <a:avLst/>
          </a:prstGeom>
          <a:noFill/>
          <a:ln/>
        </p:spPr>
        <p:txBody>
          <a:bodyPr wrap="square" rtlCol="0" anchor="ctr"/>
          <a:lstStyle/>
          <a:p>
            <a:pPr marL="0" indent="0">
              <a:buNone/>
            </a:pPr>
            <a:r>
              <a:rPr lang="en-US" sz="1150" b="1" dirty="0">
                <a:solidFill>
                  <a:srgbClr val="1D6A8B"/>
                </a:solidFill>
                <a:latin typeface="Calibri" pitchFamily="34" charset="0"/>
                <a:ea typeface="Calibri" pitchFamily="34" charset="-122"/>
                <a:cs typeface="Calibri" pitchFamily="34" charset="-120"/>
              </a:rPr>
              <a:t>differential_expression_all.csv</a:t>
            </a:r>
            <a:endParaRPr lang="en-US" sz="1150" dirty="0"/>
          </a:p>
        </p:txBody>
      </p:sp>
      <p:sp>
        <p:nvSpPr>
          <p:cNvPr id="18" name="Text 16"/>
          <p:cNvSpPr/>
          <p:nvPr/>
        </p:nvSpPr>
        <p:spPr>
          <a:xfrm>
            <a:off x="932688" y="3621024"/>
            <a:ext cx="3383280" cy="256032"/>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~66,000 gene rows; 36,814 significant hits</a:t>
            </a:r>
            <a:endParaRPr lang="en-US" sz="1050" dirty="0"/>
          </a:p>
        </p:txBody>
      </p:sp>
      <p:sp>
        <p:nvSpPr>
          <p:cNvPr id="19" name="Shape 17"/>
          <p:cNvSpPr/>
          <p:nvPr/>
        </p:nvSpPr>
        <p:spPr>
          <a:xfrm>
            <a:off x="457200" y="4069080"/>
            <a:ext cx="4023360" cy="658368"/>
          </a:xfrm>
          <a:prstGeom prst="roundRect">
            <a:avLst>
              <a:gd name="adj" fmla="val 9722"/>
            </a:avLst>
          </a:prstGeom>
          <a:solidFill>
            <a:srgbClr val="FFFFFF"/>
          </a:solidFill>
          <a:ln/>
          <a:effectLst>
            <a:outerShdw blurRad="50800" dist="12700" dir="2700000" algn="bl" rotWithShape="0">
              <a:srgbClr val="000000">
                <a:alpha val="8000"/>
              </a:srgbClr>
            </a:outerShdw>
          </a:effectLst>
        </p:spPr>
        <p:txBody>
          <a:bodyPr/>
          <a:lstStyle/>
          <a:p>
            <a:endParaRPr lang="sr-Latn-RS"/>
          </a:p>
        </p:txBody>
      </p:sp>
      <p:sp>
        <p:nvSpPr>
          <p:cNvPr id="20" name="Text 18"/>
          <p:cNvSpPr/>
          <p:nvPr/>
        </p:nvSpPr>
        <p:spPr>
          <a:xfrm>
            <a:off x="530352" y="4206240"/>
            <a:ext cx="365760" cy="3657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1" name="Text 19"/>
          <p:cNvSpPr/>
          <p:nvPr/>
        </p:nvSpPr>
        <p:spPr>
          <a:xfrm>
            <a:off x="932688" y="4123944"/>
            <a:ext cx="3383280" cy="256032"/>
          </a:xfrm>
          <a:prstGeom prst="rect">
            <a:avLst/>
          </a:prstGeom>
          <a:noFill/>
          <a:ln/>
        </p:spPr>
        <p:txBody>
          <a:bodyPr wrap="square" rtlCol="0" anchor="ctr"/>
          <a:lstStyle/>
          <a:p>
            <a:pPr marL="0" indent="0">
              <a:buNone/>
            </a:pPr>
            <a:r>
              <a:rPr lang="en-US" sz="1150" b="1" dirty="0">
                <a:solidFill>
                  <a:srgbClr val="1D6A8B"/>
                </a:solidFill>
                <a:latin typeface="Calibri" pitchFamily="34" charset="0"/>
                <a:ea typeface="Calibri" pitchFamily="34" charset="-122"/>
                <a:cs typeface="Calibri" pitchFamily="34" charset="-120"/>
              </a:rPr>
              <a:t>pathway_enrichment_all.csv</a:t>
            </a:r>
            <a:endParaRPr lang="en-US" sz="1150" dirty="0"/>
          </a:p>
        </p:txBody>
      </p:sp>
      <p:sp>
        <p:nvSpPr>
          <p:cNvPr id="22" name="Text 20"/>
          <p:cNvSpPr/>
          <p:nvPr/>
        </p:nvSpPr>
        <p:spPr>
          <a:xfrm>
            <a:off x="932688" y="4398264"/>
            <a:ext cx="3383280" cy="256032"/>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89,015 GO/KEGG/Reactome terms across all comparisons</a:t>
            </a:r>
            <a:endParaRPr lang="en-US" sz="1050" dirty="0"/>
          </a:p>
        </p:txBody>
      </p:sp>
      <p:sp>
        <p:nvSpPr>
          <p:cNvPr id="23" name="Shape 21"/>
          <p:cNvSpPr/>
          <p:nvPr/>
        </p:nvSpPr>
        <p:spPr>
          <a:xfrm>
            <a:off x="4663440" y="960120"/>
            <a:ext cx="4023360" cy="658368"/>
          </a:xfrm>
          <a:prstGeom prst="roundRect">
            <a:avLst>
              <a:gd name="adj" fmla="val 9722"/>
            </a:avLst>
          </a:prstGeom>
          <a:solidFill>
            <a:srgbClr val="FFFFFF"/>
          </a:solidFill>
          <a:ln/>
          <a:effectLst>
            <a:outerShdw blurRad="50800" dist="12700" dir="2700000" algn="bl" rotWithShape="0">
              <a:srgbClr val="000000">
                <a:alpha val="8000"/>
              </a:srgbClr>
            </a:outerShdw>
          </a:effectLst>
        </p:spPr>
        <p:txBody>
          <a:bodyPr/>
          <a:lstStyle/>
          <a:p>
            <a:endParaRPr lang="sr-Latn-RS"/>
          </a:p>
        </p:txBody>
      </p:sp>
      <p:sp>
        <p:nvSpPr>
          <p:cNvPr id="24" name="Text 22"/>
          <p:cNvSpPr/>
          <p:nvPr/>
        </p:nvSpPr>
        <p:spPr>
          <a:xfrm>
            <a:off x="4736592" y="1097280"/>
            <a:ext cx="365760" cy="3657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5" name="Text 23"/>
          <p:cNvSpPr/>
          <p:nvPr/>
        </p:nvSpPr>
        <p:spPr>
          <a:xfrm>
            <a:off x="5138928" y="1014984"/>
            <a:ext cx="3383280" cy="256032"/>
          </a:xfrm>
          <a:prstGeom prst="rect">
            <a:avLst/>
          </a:prstGeom>
          <a:noFill/>
          <a:ln/>
        </p:spPr>
        <p:txBody>
          <a:bodyPr wrap="square" rtlCol="0" anchor="ctr"/>
          <a:lstStyle/>
          <a:p>
            <a:pPr marL="0" indent="0">
              <a:buNone/>
            </a:pPr>
            <a:r>
              <a:rPr lang="en-US" sz="1150" b="1" dirty="0">
                <a:solidFill>
                  <a:srgbClr val="1D6A8B"/>
                </a:solidFill>
                <a:latin typeface="Calibri" pitchFamily="34" charset="0"/>
                <a:ea typeface="Calibri" pitchFamily="34" charset="-122"/>
                <a:cs typeface="Calibri" pitchFamily="34" charset="-120"/>
              </a:rPr>
              <a:t>size_specific_effects_summary.csv</a:t>
            </a:r>
            <a:endParaRPr lang="en-US" sz="1150" dirty="0"/>
          </a:p>
        </p:txBody>
      </p:sp>
      <p:sp>
        <p:nvSpPr>
          <p:cNvPr id="26" name="Text 24"/>
          <p:cNvSpPr/>
          <p:nvPr/>
        </p:nvSpPr>
        <p:spPr>
          <a:xfrm>
            <a:off x="5138928" y="1289304"/>
            <a:ext cx="3383280" cy="256032"/>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Unique / shared / mix-only gene counts per cell type</a:t>
            </a:r>
            <a:endParaRPr lang="en-US" sz="1050" dirty="0"/>
          </a:p>
        </p:txBody>
      </p:sp>
      <p:sp>
        <p:nvSpPr>
          <p:cNvPr id="27" name="Shape 25"/>
          <p:cNvSpPr/>
          <p:nvPr/>
        </p:nvSpPr>
        <p:spPr>
          <a:xfrm>
            <a:off x="4663440" y="1737360"/>
            <a:ext cx="4023360" cy="658368"/>
          </a:xfrm>
          <a:prstGeom prst="roundRect">
            <a:avLst>
              <a:gd name="adj" fmla="val 9722"/>
            </a:avLst>
          </a:prstGeom>
          <a:solidFill>
            <a:srgbClr val="FFFFFF"/>
          </a:solidFill>
          <a:ln/>
          <a:effectLst>
            <a:outerShdw blurRad="50800" dist="12700" dir="2700000" algn="bl" rotWithShape="0">
              <a:srgbClr val="000000">
                <a:alpha val="8000"/>
              </a:srgbClr>
            </a:outerShdw>
          </a:effectLst>
        </p:spPr>
        <p:txBody>
          <a:bodyPr/>
          <a:lstStyle/>
          <a:p>
            <a:endParaRPr lang="sr-Latn-RS"/>
          </a:p>
        </p:txBody>
      </p:sp>
      <p:sp>
        <p:nvSpPr>
          <p:cNvPr id="28" name="Text 26"/>
          <p:cNvSpPr/>
          <p:nvPr/>
        </p:nvSpPr>
        <p:spPr>
          <a:xfrm>
            <a:off x="4736592" y="1874520"/>
            <a:ext cx="365760" cy="3657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9" name="Text 27"/>
          <p:cNvSpPr/>
          <p:nvPr/>
        </p:nvSpPr>
        <p:spPr>
          <a:xfrm>
            <a:off x="5138928" y="1792224"/>
            <a:ext cx="3383280" cy="256032"/>
          </a:xfrm>
          <a:prstGeom prst="rect">
            <a:avLst/>
          </a:prstGeom>
          <a:noFill/>
          <a:ln/>
        </p:spPr>
        <p:txBody>
          <a:bodyPr wrap="square" rtlCol="0" anchor="ctr"/>
          <a:lstStyle/>
          <a:p>
            <a:pPr marL="0" indent="0">
              <a:buNone/>
            </a:pPr>
            <a:r>
              <a:rPr lang="en-US" sz="1150" b="1" dirty="0">
                <a:solidFill>
                  <a:srgbClr val="1D6A8B"/>
                </a:solidFill>
                <a:latin typeface="Calibri" pitchFamily="34" charset="0"/>
                <a:ea typeface="Calibri" pitchFamily="34" charset="-122"/>
                <a:cs typeface="Calibri" pitchFamily="34" charset="-120"/>
              </a:rPr>
              <a:t>annotation_agreement_metrics.csv</a:t>
            </a:r>
            <a:endParaRPr lang="en-US" sz="1150" dirty="0"/>
          </a:p>
        </p:txBody>
      </p:sp>
      <p:sp>
        <p:nvSpPr>
          <p:cNvPr id="30" name="Text 28"/>
          <p:cNvSpPr/>
          <p:nvPr/>
        </p:nvSpPr>
        <p:spPr>
          <a:xfrm>
            <a:off x="5138928" y="2066544"/>
            <a:ext cx="3383280" cy="256032"/>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CoDi vs marker concordance: 64.7%</a:t>
            </a:r>
            <a:endParaRPr lang="en-US" sz="1050" dirty="0"/>
          </a:p>
        </p:txBody>
      </p:sp>
      <p:sp>
        <p:nvSpPr>
          <p:cNvPr id="31" name="Shape 29"/>
          <p:cNvSpPr/>
          <p:nvPr/>
        </p:nvSpPr>
        <p:spPr>
          <a:xfrm>
            <a:off x="4663440" y="2514600"/>
            <a:ext cx="4023360" cy="658368"/>
          </a:xfrm>
          <a:prstGeom prst="roundRect">
            <a:avLst>
              <a:gd name="adj" fmla="val 9722"/>
            </a:avLst>
          </a:prstGeom>
          <a:solidFill>
            <a:srgbClr val="FFFFFF"/>
          </a:solidFill>
          <a:ln/>
          <a:effectLst>
            <a:outerShdw blurRad="50800" dist="12700" dir="2700000" algn="bl" rotWithShape="0">
              <a:srgbClr val="000000">
                <a:alpha val="8000"/>
              </a:srgbClr>
            </a:outerShdw>
          </a:effectLst>
        </p:spPr>
        <p:txBody>
          <a:bodyPr/>
          <a:lstStyle/>
          <a:p>
            <a:endParaRPr lang="sr-Latn-RS"/>
          </a:p>
        </p:txBody>
      </p:sp>
      <p:sp>
        <p:nvSpPr>
          <p:cNvPr id="32" name="Text 30"/>
          <p:cNvSpPr/>
          <p:nvPr/>
        </p:nvSpPr>
        <p:spPr>
          <a:xfrm>
            <a:off x="4736592" y="2651760"/>
            <a:ext cx="365760" cy="3657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33" name="Text 31"/>
          <p:cNvSpPr/>
          <p:nvPr/>
        </p:nvSpPr>
        <p:spPr>
          <a:xfrm>
            <a:off x="5138928" y="2569464"/>
            <a:ext cx="3383280" cy="256032"/>
          </a:xfrm>
          <a:prstGeom prst="rect">
            <a:avLst/>
          </a:prstGeom>
          <a:noFill/>
          <a:ln/>
        </p:spPr>
        <p:txBody>
          <a:bodyPr wrap="square" rtlCol="0" anchor="ctr"/>
          <a:lstStyle/>
          <a:p>
            <a:pPr marL="0" indent="0">
              <a:buNone/>
            </a:pPr>
            <a:r>
              <a:rPr lang="en-US" sz="1150" b="1" dirty="0">
                <a:solidFill>
                  <a:srgbClr val="1D6A8B"/>
                </a:solidFill>
                <a:latin typeface="Calibri" pitchFamily="34" charset="0"/>
                <a:ea typeface="Calibri" pitchFamily="34" charset="-122"/>
                <a:cs typeface="Calibri" pitchFamily="34" charset="-120"/>
              </a:rPr>
              <a:t>antigen_presentation_scores.csv</a:t>
            </a:r>
            <a:endParaRPr lang="en-US" sz="1150" dirty="0"/>
          </a:p>
        </p:txBody>
      </p:sp>
      <p:sp>
        <p:nvSpPr>
          <p:cNvPr id="34" name="Text 32"/>
          <p:cNvSpPr/>
          <p:nvPr/>
        </p:nvSpPr>
        <p:spPr>
          <a:xfrm>
            <a:off x="5138928" y="2843784"/>
            <a:ext cx="3383280" cy="256032"/>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HLA-gene scores per condition × cell type (32 rows)</a:t>
            </a:r>
            <a:endParaRPr lang="en-US" sz="1050" dirty="0"/>
          </a:p>
        </p:txBody>
      </p:sp>
      <p:sp>
        <p:nvSpPr>
          <p:cNvPr id="35" name="Shape 33"/>
          <p:cNvSpPr/>
          <p:nvPr/>
        </p:nvSpPr>
        <p:spPr>
          <a:xfrm>
            <a:off x="4663440" y="3291840"/>
            <a:ext cx="4023360" cy="658368"/>
          </a:xfrm>
          <a:prstGeom prst="roundRect">
            <a:avLst>
              <a:gd name="adj" fmla="val 9722"/>
            </a:avLst>
          </a:prstGeom>
          <a:solidFill>
            <a:srgbClr val="FFFFFF"/>
          </a:solidFill>
          <a:ln/>
          <a:effectLst>
            <a:outerShdw blurRad="50800" dist="12700" dir="2700000" algn="bl" rotWithShape="0">
              <a:srgbClr val="000000">
                <a:alpha val="8000"/>
              </a:srgbClr>
            </a:outerShdw>
          </a:effectLst>
        </p:spPr>
        <p:txBody>
          <a:bodyPr/>
          <a:lstStyle/>
          <a:p>
            <a:endParaRPr lang="sr-Latn-RS"/>
          </a:p>
        </p:txBody>
      </p:sp>
      <p:sp>
        <p:nvSpPr>
          <p:cNvPr id="36" name="Text 34"/>
          <p:cNvSpPr/>
          <p:nvPr/>
        </p:nvSpPr>
        <p:spPr>
          <a:xfrm>
            <a:off x="4736592" y="3429000"/>
            <a:ext cx="365760" cy="3657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37" name="Text 35"/>
          <p:cNvSpPr/>
          <p:nvPr/>
        </p:nvSpPr>
        <p:spPr>
          <a:xfrm>
            <a:off x="5138928" y="3346704"/>
            <a:ext cx="3383280" cy="256032"/>
          </a:xfrm>
          <a:prstGeom prst="rect">
            <a:avLst/>
          </a:prstGeom>
          <a:noFill/>
          <a:ln/>
        </p:spPr>
        <p:txBody>
          <a:bodyPr wrap="square" rtlCol="0" anchor="ctr"/>
          <a:lstStyle/>
          <a:p>
            <a:pPr marL="0" indent="0">
              <a:buNone/>
            </a:pPr>
            <a:r>
              <a:rPr lang="en-US" sz="1150" b="1" dirty="0">
                <a:solidFill>
                  <a:srgbClr val="1D6A8B"/>
                </a:solidFill>
                <a:latin typeface="Calibri" pitchFamily="34" charset="0"/>
                <a:ea typeface="Calibri" pitchFamily="34" charset="-122"/>
                <a:cs typeface="Calibri" pitchFamily="34" charset="-120"/>
              </a:rPr>
              <a:t>pseudobulk_counts.csv</a:t>
            </a:r>
            <a:endParaRPr lang="en-US" sz="1150" dirty="0"/>
          </a:p>
        </p:txBody>
      </p:sp>
      <p:sp>
        <p:nvSpPr>
          <p:cNvPr id="38" name="Text 36"/>
          <p:cNvSpPr/>
          <p:nvPr/>
        </p:nvSpPr>
        <p:spPr>
          <a:xfrm>
            <a:off x="5138928" y="3621024"/>
            <a:ext cx="3383280" cy="256032"/>
          </a:xfrm>
          <a:prstGeom prst="rect">
            <a:avLst/>
          </a:prstGeom>
          <a:noFill/>
          <a:ln/>
        </p:spPr>
        <p:txBody>
          <a:bodyPr wrap="square" rtlCol="0" anchor="ctr"/>
          <a:lstStyle/>
          <a:p>
            <a:pPr marL="0" indent="0">
              <a:buNone/>
            </a:pPr>
            <a:r>
              <a:rPr lang="en-US" sz="1050" dirty="0">
                <a:solidFill>
                  <a:srgbClr val="0A2342"/>
                </a:solidFill>
                <a:latin typeface="Calibri" pitchFamily="34" charset="0"/>
                <a:ea typeface="Calibri" pitchFamily="34" charset="-122"/>
                <a:cs typeface="Calibri" pitchFamily="34" charset="-120"/>
              </a:rPr>
              <a:t>Summed raw UMIs — 32 groups × 3,000 genes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6858000" y="3200400"/>
            <a:ext cx="3657600" cy="3657600"/>
          </a:xfrm>
          <a:prstGeom prst="ellipse">
            <a:avLst/>
          </a:prstGeom>
          <a:solidFill>
            <a:srgbClr val="1D6A8B">
              <a:alpha val="15000"/>
            </a:srgbClr>
          </a:solidFill>
          <a:ln/>
        </p:spPr>
        <p:txBody>
          <a:bodyPr/>
          <a:lstStyle/>
          <a:p>
            <a:endParaRPr lang="sr-Latn-RS"/>
          </a:p>
        </p:txBody>
      </p:sp>
      <p:sp>
        <p:nvSpPr>
          <p:cNvPr id="3" name="Shape 1"/>
          <p:cNvSpPr/>
          <p:nvPr/>
        </p:nvSpPr>
        <p:spPr>
          <a:xfrm>
            <a:off x="7498080" y="3840480"/>
            <a:ext cx="2286000" cy="2286000"/>
          </a:xfrm>
          <a:prstGeom prst="ellipse">
            <a:avLst/>
          </a:prstGeom>
          <a:solidFill>
            <a:srgbClr val="2AABCC">
              <a:alpha val="20000"/>
            </a:srgbClr>
          </a:solidFill>
          <a:ln/>
        </p:spPr>
        <p:txBody>
          <a:bodyPr/>
          <a:lstStyle/>
          <a:p>
            <a:endParaRPr lang="sr-Latn-RS"/>
          </a:p>
        </p:txBody>
      </p:sp>
      <p:sp>
        <p:nvSpPr>
          <p:cNvPr id="4" name="Text 2"/>
          <p:cNvSpPr/>
          <p:nvPr/>
        </p:nvSpPr>
        <p:spPr>
          <a:xfrm>
            <a:off x="457200" y="256032"/>
            <a:ext cx="8229600" cy="54864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Summary &amp; Conclusions</a:t>
            </a:r>
            <a:endParaRPr lang="en-US" sz="3600" dirty="0"/>
          </a:p>
        </p:txBody>
      </p:sp>
      <p:sp>
        <p:nvSpPr>
          <p:cNvPr id="5" name="Shape 3"/>
          <p:cNvSpPr/>
          <p:nvPr/>
        </p:nvSpPr>
        <p:spPr>
          <a:xfrm>
            <a:off x="457200" y="1051560"/>
            <a:ext cx="256032" cy="256032"/>
          </a:xfrm>
          <a:prstGeom prst="ellipse">
            <a:avLst/>
          </a:prstGeom>
          <a:solidFill>
            <a:srgbClr val="2AABCC"/>
          </a:solidFill>
          <a:ln/>
        </p:spPr>
        <p:txBody>
          <a:bodyPr/>
          <a:lstStyle/>
          <a:p>
            <a:endParaRPr lang="sr-Latn-RS"/>
          </a:p>
        </p:txBody>
      </p:sp>
      <p:sp>
        <p:nvSpPr>
          <p:cNvPr id="6" name="Text 4"/>
          <p:cNvSpPr/>
          <p:nvPr/>
        </p:nvSpPr>
        <p:spPr>
          <a:xfrm>
            <a:off x="804672" y="960120"/>
            <a:ext cx="7132320" cy="47548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QC: excellent data quality (97%+ retention); 33,240 cells integrated after ComBat batch correction across 4 conditions</a:t>
            </a:r>
            <a:endParaRPr lang="en-US" sz="1250" dirty="0"/>
          </a:p>
        </p:txBody>
      </p:sp>
      <p:sp>
        <p:nvSpPr>
          <p:cNvPr id="7" name="Shape 5"/>
          <p:cNvSpPr/>
          <p:nvPr/>
        </p:nvSpPr>
        <p:spPr>
          <a:xfrm>
            <a:off x="457200" y="1618488"/>
            <a:ext cx="256032" cy="256032"/>
          </a:xfrm>
          <a:prstGeom prst="ellipse">
            <a:avLst/>
          </a:prstGeom>
          <a:solidFill>
            <a:srgbClr val="2AABCC"/>
          </a:solidFill>
          <a:ln/>
        </p:spPr>
        <p:txBody>
          <a:bodyPr/>
          <a:lstStyle/>
          <a:p>
            <a:endParaRPr lang="sr-Latn-RS"/>
          </a:p>
        </p:txBody>
      </p:sp>
      <p:sp>
        <p:nvSpPr>
          <p:cNvPr id="8" name="Text 6"/>
          <p:cNvSpPr/>
          <p:nvPr/>
        </p:nvSpPr>
        <p:spPr>
          <a:xfrm>
            <a:off x="804672" y="1527048"/>
            <a:ext cx="7132320" cy="47548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Annotation: 7+ PBMC cell types identified; CoDi validation at 64.7% concordance confirms marker-based labels</a:t>
            </a:r>
            <a:endParaRPr lang="en-US" sz="1250" dirty="0"/>
          </a:p>
        </p:txBody>
      </p:sp>
      <p:sp>
        <p:nvSpPr>
          <p:cNvPr id="9" name="Shape 7"/>
          <p:cNvSpPr/>
          <p:nvPr/>
        </p:nvSpPr>
        <p:spPr>
          <a:xfrm>
            <a:off x="457200" y="2185416"/>
            <a:ext cx="256032" cy="256032"/>
          </a:xfrm>
          <a:prstGeom prst="ellipse">
            <a:avLst/>
          </a:prstGeom>
          <a:solidFill>
            <a:srgbClr val="E8A838"/>
          </a:solidFill>
          <a:ln/>
        </p:spPr>
        <p:txBody>
          <a:bodyPr/>
          <a:lstStyle/>
          <a:p>
            <a:endParaRPr lang="sr-Latn-RS"/>
          </a:p>
        </p:txBody>
      </p:sp>
      <p:sp>
        <p:nvSpPr>
          <p:cNvPr id="10" name="Text 8"/>
          <p:cNvSpPr/>
          <p:nvPr/>
        </p:nvSpPr>
        <p:spPr>
          <a:xfrm>
            <a:off x="804672" y="2093976"/>
            <a:ext cx="7132320" cy="47548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Composition: CD14+ monocytes shift from 5.7% (control) to 9.7% (200 nm) — size-dependent immune cell recruitment</a:t>
            </a:r>
            <a:endParaRPr lang="en-US" sz="1250" dirty="0"/>
          </a:p>
        </p:txBody>
      </p:sp>
      <p:sp>
        <p:nvSpPr>
          <p:cNvPr id="11" name="Shape 9"/>
          <p:cNvSpPr/>
          <p:nvPr/>
        </p:nvSpPr>
        <p:spPr>
          <a:xfrm>
            <a:off x="457200" y="2752344"/>
            <a:ext cx="256032" cy="256032"/>
          </a:xfrm>
          <a:prstGeom prst="ellipse">
            <a:avLst/>
          </a:prstGeom>
          <a:solidFill>
            <a:srgbClr val="E8A838"/>
          </a:solidFill>
          <a:ln/>
        </p:spPr>
        <p:txBody>
          <a:bodyPr/>
          <a:lstStyle/>
          <a:p>
            <a:endParaRPr lang="sr-Latn-RS"/>
          </a:p>
        </p:txBody>
      </p:sp>
      <p:sp>
        <p:nvSpPr>
          <p:cNvPr id="12" name="Text 10"/>
          <p:cNvSpPr/>
          <p:nvPr/>
        </p:nvSpPr>
        <p:spPr>
          <a:xfrm>
            <a:off x="804672" y="2660904"/>
            <a:ext cx="7132320" cy="47548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DE: 36,814 significant hits across 22 comparisons — strong immune transcriptional response to PSNP exposure</a:t>
            </a:r>
            <a:endParaRPr lang="en-US" sz="1250" dirty="0"/>
          </a:p>
        </p:txBody>
      </p:sp>
      <p:sp>
        <p:nvSpPr>
          <p:cNvPr id="13" name="Shape 11"/>
          <p:cNvSpPr/>
          <p:nvPr/>
        </p:nvSpPr>
        <p:spPr>
          <a:xfrm>
            <a:off x="457200" y="3319272"/>
            <a:ext cx="256032" cy="256032"/>
          </a:xfrm>
          <a:prstGeom prst="ellipse">
            <a:avLst/>
          </a:prstGeom>
          <a:solidFill>
            <a:srgbClr val="E05C4B"/>
          </a:solidFill>
          <a:ln/>
        </p:spPr>
        <p:txBody>
          <a:bodyPr/>
          <a:lstStyle/>
          <a:p>
            <a:endParaRPr lang="sr-Latn-RS"/>
          </a:p>
        </p:txBody>
      </p:sp>
      <p:sp>
        <p:nvSpPr>
          <p:cNvPr id="14" name="Text 12"/>
          <p:cNvSpPr/>
          <p:nvPr/>
        </p:nvSpPr>
        <p:spPr>
          <a:xfrm>
            <a:off x="804672" y="3227832"/>
            <a:ext cx="7132320" cy="47548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Pathways: 40 nm → antigen presentation / MHC II;  200 nm → metabolic stress;  mix → innate inflammatory response</a:t>
            </a:r>
            <a:endParaRPr lang="en-US" sz="1250" dirty="0"/>
          </a:p>
        </p:txBody>
      </p:sp>
      <p:sp>
        <p:nvSpPr>
          <p:cNvPr id="15" name="Shape 13"/>
          <p:cNvSpPr/>
          <p:nvPr/>
        </p:nvSpPr>
        <p:spPr>
          <a:xfrm>
            <a:off x="457200" y="3886200"/>
            <a:ext cx="256032" cy="256032"/>
          </a:xfrm>
          <a:prstGeom prst="ellipse">
            <a:avLst/>
          </a:prstGeom>
          <a:solidFill>
            <a:srgbClr val="E05C4B"/>
          </a:solidFill>
          <a:ln/>
        </p:spPr>
        <p:txBody>
          <a:bodyPr/>
          <a:lstStyle/>
          <a:p>
            <a:endParaRPr lang="sr-Latn-RS"/>
          </a:p>
        </p:txBody>
      </p:sp>
      <p:sp>
        <p:nvSpPr>
          <p:cNvPr id="16" name="Text 14"/>
          <p:cNvSpPr/>
          <p:nvPr/>
        </p:nvSpPr>
        <p:spPr>
          <a:xfrm>
            <a:off x="804672" y="3794760"/>
            <a:ext cx="7132320" cy="47548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Size effects: 294 mixture-only emergent genes in monocytes — combined exposure is NOT additive; novel synergy detected</a:t>
            </a:r>
            <a:endParaRPr lang="en-US" sz="1250" dirty="0"/>
          </a:p>
        </p:txBody>
      </p:sp>
      <p:sp>
        <p:nvSpPr>
          <p:cNvPr id="17" name="Shape 15"/>
          <p:cNvSpPr/>
          <p:nvPr/>
        </p:nvSpPr>
        <p:spPr>
          <a:xfrm>
            <a:off x="457200" y="4407408"/>
            <a:ext cx="8229600" cy="475488"/>
          </a:xfrm>
          <a:prstGeom prst="roundRect">
            <a:avLst>
              <a:gd name="adj" fmla="val 13462"/>
            </a:avLst>
          </a:prstGeom>
          <a:solidFill>
            <a:srgbClr val="2AABCC">
              <a:alpha val="85000"/>
            </a:srgbClr>
          </a:solidFill>
          <a:ln/>
        </p:spPr>
        <p:txBody>
          <a:bodyPr/>
          <a:lstStyle/>
          <a:p>
            <a:endParaRPr lang="sr-Latn-RS"/>
          </a:p>
        </p:txBody>
      </p:sp>
      <p:sp>
        <p:nvSpPr>
          <p:cNvPr id="18" name="Text 16"/>
          <p:cNvSpPr/>
          <p:nvPr/>
        </p:nvSpPr>
        <p:spPr>
          <a:xfrm>
            <a:off x="594360" y="4407408"/>
            <a:ext cx="7955280" cy="475488"/>
          </a:xfrm>
          <a:prstGeom prst="rect">
            <a:avLst/>
          </a:prstGeom>
          <a:noFill/>
          <a:ln/>
        </p:spPr>
        <p:txBody>
          <a:bodyPr wrap="square" rtlCol="0" anchor="ctr"/>
          <a:lstStyle/>
          <a:p>
            <a:pPr marL="0" indent="0">
              <a:buNone/>
            </a:pPr>
            <a:r>
              <a:rPr lang="en-US" sz="1250" b="1" dirty="0">
                <a:solidFill>
                  <a:srgbClr val="0A2342"/>
                </a:solidFill>
                <a:latin typeface="Calibri" pitchFamily="34" charset="0"/>
                <a:ea typeface="Calibri" pitchFamily="34" charset="-122"/>
                <a:cs typeface="Calibri" pitchFamily="34" charset="-120"/>
              </a:rPr>
              <a:t>Hypothesis confirmed: Nanoparticle size reshapes immune cell composition and gene expression — with size-specific, shared, and emergent mixture effects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600" b="1" dirty="0">
                <a:solidFill>
                  <a:srgbClr val="0A2342"/>
                </a:solidFill>
                <a:latin typeface="Cambria" pitchFamily="34" charset="0"/>
                <a:ea typeface="Cambria" pitchFamily="34" charset="-122"/>
                <a:cs typeface="Cambria" pitchFamily="34" charset="-120"/>
              </a:rPr>
              <a:t>Limitations &amp; Future Work</a:t>
            </a:r>
            <a:endParaRPr lang="en-US" sz="3600" dirty="0"/>
          </a:p>
        </p:txBody>
      </p:sp>
      <p:sp>
        <p:nvSpPr>
          <p:cNvPr id="3" name="Text 1"/>
          <p:cNvSpPr/>
          <p:nvPr/>
        </p:nvSpPr>
        <p:spPr>
          <a:xfrm>
            <a:off x="457200" y="914400"/>
            <a:ext cx="4023360" cy="347472"/>
          </a:xfrm>
          <a:prstGeom prst="rect">
            <a:avLst/>
          </a:prstGeom>
          <a:noFill/>
          <a:ln/>
        </p:spPr>
        <p:txBody>
          <a:bodyPr wrap="square" rtlCol="0" anchor="ctr"/>
          <a:lstStyle/>
          <a:p>
            <a:pPr marL="0" indent="0">
              <a:buNone/>
            </a:pPr>
            <a:r>
              <a:rPr lang="en-US" sz="1700" b="1" dirty="0">
                <a:solidFill>
                  <a:srgbClr val="E05C4B"/>
                </a:solidFill>
                <a:latin typeface="Calibri" pitchFamily="34" charset="0"/>
                <a:ea typeface="Calibri" pitchFamily="34" charset="-122"/>
                <a:cs typeface="Calibri" pitchFamily="34" charset="-120"/>
              </a:rPr>
              <a:t>Current Limitations</a:t>
            </a:r>
            <a:endParaRPr lang="en-US" sz="1700" dirty="0"/>
          </a:p>
        </p:txBody>
      </p:sp>
      <p:sp>
        <p:nvSpPr>
          <p:cNvPr id="4" name="Shape 2"/>
          <p:cNvSpPr/>
          <p:nvPr/>
        </p:nvSpPr>
        <p:spPr>
          <a:xfrm>
            <a:off x="457200" y="1499616"/>
            <a:ext cx="173736" cy="173736"/>
          </a:xfrm>
          <a:prstGeom prst="ellipse">
            <a:avLst/>
          </a:prstGeom>
          <a:solidFill>
            <a:srgbClr val="E05C4B"/>
          </a:solidFill>
          <a:ln/>
        </p:spPr>
        <p:txBody>
          <a:bodyPr/>
          <a:lstStyle/>
          <a:p>
            <a:endParaRPr lang="sr-Latn-RS"/>
          </a:p>
        </p:txBody>
      </p:sp>
      <p:sp>
        <p:nvSpPr>
          <p:cNvPr id="5" name="Text 3"/>
          <p:cNvSpPr/>
          <p:nvPr/>
        </p:nvSpPr>
        <p:spPr>
          <a:xfrm>
            <a:off x="704088" y="1371600"/>
            <a:ext cx="3566160" cy="402336"/>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Single donor — results may not generalise to the population</a:t>
            </a:r>
            <a:endParaRPr lang="en-US" sz="1150" dirty="0"/>
          </a:p>
        </p:txBody>
      </p:sp>
      <p:sp>
        <p:nvSpPr>
          <p:cNvPr id="6" name="Shape 4"/>
          <p:cNvSpPr/>
          <p:nvPr/>
        </p:nvSpPr>
        <p:spPr>
          <a:xfrm>
            <a:off x="457200" y="1975104"/>
            <a:ext cx="173736" cy="173736"/>
          </a:xfrm>
          <a:prstGeom prst="ellipse">
            <a:avLst/>
          </a:prstGeom>
          <a:solidFill>
            <a:srgbClr val="E05C4B"/>
          </a:solidFill>
          <a:ln/>
        </p:spPr>
        <p:txBody>
          <a:bodyPr/>
          <a:lstStyle/>
          <a:p>
            <a:endParaRPr lang="sr-Latn-RS"/>
          </a:p>
        </p:txBody>
      </p:sp>
      <p:sp>
        <p:nvSpPr>
          <p:cNvPr id="7" name="Text 5"/>
          <p:cNvSpPr/>
          <p:nvPr/>
        </p:nvSpPr>
        <p:spPr>
          <a:xfrm>
            <a:off x="704088" y="1847088"/>
            <a:ext cx="3566160" cy="402336"/>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In vitro design — does not capture the complexity of in vivo exposure</a:t>
            </a:r>
            <a:endParaRPr lang="en-US" sz="1150" dirty="0"/>
          </a:p>
        </p:txBody>
      </p:sp>
      <p:sp>
        <p:nvSpPr>
          <p:cNvPr id="8" name="Shape 6"/>
          <p:cNvSpPr/>
          <p:nvPr/>
        </p:nvSpPr>
        <p:spPr>
          <a:xfrm>
            <a:off x="457200" y="2450592"/>
            <a:ext cx="173736" cy="173736"/>
          </a:xfrm>
          <a:prstGeom prst="ellipse">
            <a:avLst/>
          </a:prstGeom>
          <a:solidFill>
            <a:srgbClr val="E05C4B"/>
          </a:solidFill>
          <a:ln/>
        </p:spPr>
        <p:txBody>
          <a:bodyPr/>
          <a:lstStyle/>
          <a:p>
            <a:endParaRPr lang="sr-Latn-RS"/>
          </a:p>
        </p:txBody>
      </p:sp>
      <p:sp>
        <p:nvSpPr>
          <p:cNvPr id="9" name="Text 7"/>
          <p:cNvSpPr/>
          <p:nvPr/>
        </p:nvSpPr>
        <p:spPr>
          <a:xfrm>
            <a:off x="704088" y="2322576"/>
            <a:ext cx="3566160" cy="402336"/>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RNA only — transcriptome does not equal protein activity or cell function</a:t>
            </a:r>
            <a:endParaRPr lang="en-US" sz="1150" dirty="0"/>
          </a:p>
        </p:txBody>
      </p:sp>
      <p:sp>
        <p:nvSpPr>
          <p:cNvPr id="10" name="Shape 8"/>
          <p:cNvSpPr/>
          <p:nvPr/>
        </p:nvSpPr>
        <p:spPr>
          <a:xfrm>
            <a:off x="457200" y="2926080"/>
            <a:ext cx="173736" cy="173736"/>
          </a:xfrm>
          <a:prstGeom prst="ellipse">
            <a:avLst/>
          </a:prstGeom>
          <a:solidFill>
            <a:srgbClr val="E05C4B"/>
          </a:solidFill>
          <a:ln/>
        </p:spPr>
        <p:txBody>
          <a:bodyPr/>
          <a:lstStyle/>
          <a:p>
            <a:endParaRPr lang="sr-Latn-RS"/>
          </a:p>
        </p:txBody>
      </p:sp>
      <p:sp>
        <p:nvSpPr>
          <p:cNvPr id="11" name="Text 9"/>
          <p:cNvSpPr/>
          <p:nvPr/>
        </p:nvSpPr>
        <p:spPr>
          <a:xfrm>
            <a:off x="704088" y="2798064"/>
            <a:ext cx="3566160" cy="402336"/>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No spatial context — single-cell data lacks tissue architecture</a:t>
            </a:r>
            <a:endParaRPr lang="en-US" sz="1150" dirty="0"/>
          </a:p>
        </p:txBody>
      </p:sp>
      <p:sp>
        <p:nvSpPr>
          <p:cNvPr id="12" name="Shape 10"/>
          <p:cNvSpPr/>
          <p:nvPr/>
        </p:nvSpPr>
        <p:spPr>
          <a:xfrm>
            <a:off x="457200" y="3401568"/>
            <a:ext cx="173736" cy="173736"/>
          </a:xfrm>
          <a:prstGeom prst="ellipse">
            <a:avLst/>
          </a:prstGeom>
          <a:solidFill>
            <a:srgbClr val="E05C4B"/>
          </a:solidFill>
          <a:ln/>
        </p:spPr>
        <p:txBody>
          <a:bodyPr/>
          <a:lstStyle/>
          <a:p>
            <a:endParaRPr lang="sr-Latn-RS"/>
          </a:p>
        </p:txBody>
      </p:sp>
      <p:sp>
        <p:nvSpPr>
          <p:cNvPr id="13" name="Text 11"/>
          <p:cNvSpPr/>
          <p:nvPr/>
        </p:nvSpPr>
        <p:spPr>
          <a:xfrm>
            <a:off x="704088" y="3273552"/>
            <a:ext cx="3566160" cy="402336"/>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Cell cycle genes absent from HVG matrix — proliferation not assessable</a:t>
            </a:r>
            <a:endParaRPr lang="en-US" sz="1150" dirty="0"/>
          </a:p>
        </p:txBody>
      </p:sp>
      <p:sp>
        <p:nvSpPr>
          <p:cNvPr id="14" name="Shape 12"/>
          <p:cNvSpPr/>
          <p:nvPr/>
        </p:nvSpPr>
        <p:spPr>
          <a:xfrm>
            <a:off x="457200" y="3877056"/>
            <a:ext cx="173736" cy="173736"/>
          </a:xfrm>
          <a:prstGeom prst="ellipse">
            <a:avLst/>
          </a:prstGeom>
          <a:solidFill>
            <a:srgbClr val="E05C4B"/>
          </a:solidFill>
          <a:ln/>
        </p:spPr>
        <p:txBody>
          <a:bodyPr/>
          <a:lstStyle/>
          <a:p>
            <a:endParaRPr lang="sr-Latn-RS"/>
          </a:p>
        </p:txBody>
      </p:sp>
      <p:sp>
        <p:nvSpPr>
          <p:cNvPr id="15" name="Text 13"/>
          <p:cNvSpPr/>
          <p:nvPr/>
        </p:nvSpPr>
        <p:spPr>
          <a:xfrm>
            <a:off x="704088" y="3749040"/>
            <a:ext cx="3566160" cy="402336"/>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Azimuth annotation needs separate R execution (not in main Python run)</a:t>
            </a:r>
            <a:endParaRPr lang="en-US" sz="1150" dirty="0"/>
          </a:p>
        </p:txBody>
      </p:sp>
      <p:sp>
        <p:nvSpPr>
          <p:cNvPr id="16" name="Text 14"/>
          <p:cNvSpPr/>
          <p:nvPr/>
        </p:nvSpPr>
        <p:spPr>
          <a:xfrm>
            <a:off x="4754880" y="914400"/>
            <a:ext cx="3931920" cy="347472"/>
          </a:xfrm>
          <a:prstGeom prst="rect">
            <a:avLst/>
          </a:prstGeom>
          <a:noFill/>
          <a:ln/>
        </p:spPr>
        <p:txBody>
          <a:bodyPr wrap="square" rtlCol="0" anchor="ctr"/>
          <a:lstStyle/>
          <a:p>
            <a:pPr marL="0" indent="0">
              <a:buNone/>
            </a:pPr>
            <a:r>
              <a:rPr lang="en-US" sz="1700" b="1" dirty="0">
                <a:solidFill>
                  <a:srgbClr val="1D6A8B"/>
                </a:solidFill>
                <a:latin typeface="Calibri" pitchFamily="34" charset="0"/>
                <a:ea typeface="Calibri" pitchFamily="34" charset="-122"/>
                <a:cs typeface="Calibri" pitchFamily="34" charset="-120"/>
              </a:rPr>
              <a:t>Future Directions</a:t>
            </a:r>
            <a:endParaRPr lang="en-US" sz="1700" dirty="0"/>
          </a:p>
        </p:txBody>
      </p:sp>
      <p:sp>
        <p:nvSpPr>
          <p:cNvPr id="17" name="Shape 15"/>
          <p:cNvSpPr/>
          <p:nvPr/>
        </p:nvSpPr>
        <p:spPr>
          <a:xfrm>
            <a:off x="4754880" y="1499616"/>
            <a:ext cx="173736" cy="173736"/>
          </a:xfrm>
          <a:prstGeom prst="ellipse">
            <a:avLst/>
          </a:prstGeom>
          <a:solidFill>
            <a:srgbClr val="1D6A8B"/>
          </a:solidFill>
          <a:ln/>
        </p:spPr>
        <p:txBody>
          <a:bodyPr/>
          <a:lstStyle/>
          <a:p>
            <a:endParaRPr lang="sr-Latn-RS"/>
          </a:p>
        </p:txBody>
      </p:sp>
      <p:sp>
        <p:nvSpPr>
          <p:cNvPr id="18" name="Text 16"/>
          <p:cNvSpPr/>
          <p:nvPr/>
        </p:nvSpPr>
        <p:spPr>
          <a:xfrm>
            <a:off x="5001768" y="1371600"/>
            <a:ext cx="3657600" cy="402336"/>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Multi-donor validation to assess inter-individual variability</a:t>
            </a:r>
            <a:endParaRPr lang="en-US" sz="1150" dirty="0"/>
          </a:p>
        </p:txBody>
      </p:sp>
      <p:sp>
        <p:nvSpPr>
          <p:cNvPr id="19" name="Shape 17"/>
          <p:cNvSpPr/>
          <p:nvPr/>
        </p:nvSpPr>
        <p:spPr>
          <a:xfrm>
            <a:off x="4754880" y="1975104"/>
            <a:ext cx="173736" cy="173736"/>
          </a:xfrm>
          <a:prstGeom prst="ellipse">
            <a:avLst/>
          </a:prstGeom>
          <a:solidFill>
            <a:srgbClr val="1D6A8B"/>
          </a:solidFill>
          <a:ln/>
        </p:spPr>
        <p:txBody>
          <a:bodyPr/>
          <a:lstStyle/>
          <a:p>
            <a:endParaRPr lang="sr-Latn-RS"/>
          </a:p>
        </p:txBody>
      </p:sp>
      <p:sp>
        <p:nvSpPr>
          <p:cNvPr id="20" name="Text 18"/>
          <p:cNvSpPr/>
          <p:nvPr/>
        </p:nvSpPr>
        <p:spPr>
          <a:xfrm>
            <a:off x="5001768" y="1847088"/>
            <a:ext cx="3657600" cy="402336"/>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Protein-level confirmation (CyTOF / CITE-seq) of key DE genes</a:t>
            </a:r>
            <a:endParaRPr lang="en-US" sz="1150" dirty="0"/>
          </a:p>
        </p:txBody>
      </p:sp>
      <p:sp>
        <p:nvSpPr>
          <p:cNvPr id="21" name="Shape 19"/>
          <p:cNvSpPr/>
          <p:nvPr/>
        </p:nvSpPr>
        <p:spPr>
          <a:xfrm>
            <a:off x="4754880" y="2450592"/>
            <a:ext cx="173736" cy="173736"/>
          </a:xfrm>
          <a:prstGeom prst="ellipse">
            <a:avLst/>
          </a:prstGeom>
          <a:solidFill>
            <a:srgbClr val="1D6A8B"/>
          </a:solidFill>
          <a:ln/>
        </p:spPr>
        <p:txBody>
          <a:bodyPr/>
          <a:lstStyle/>
          <a:p>
            <a:endParaRPr lang="sr-Latn-RS"/>
          </a:p>
        </p:txBody>
      </p:sp>
      <p:sp>
        <p:nvSpPr>
          <p:cNvPr id="22" name="Text 20"/>
          <p:cNvSpPr/>
          <p:nvPr/>
        </p:nvSpPr>
        <p:spPr>
          <a:xfrm>
            <a:off x="5001768" y="2322576"/>
            <a:ext cx="3657600" cy="402336"/>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Pseudobulk DESeq2 analysis for more rigorous statistics</a:t>
            </a:r>
            <a:endParaRPr lang="en-US" sz="1150" dirty="0"/>
          </a:p>
        </p:txBody>
      </p:sp>
      <p:sp>
        <p:nvSpPr>
          <p:cNvPr id="23" name="Shape 21"/>
          <p:cNvSpPr/>
          <p:nvPr/>
        </p:nvSpPr>
        <p:spPr>
          <a:xfrm>
            <a:off x="4754880" y="2926080"/>
            <a:ext cx="173736" cy="173736"/>
          </a:xfrm>
          <a:prstGeom prst="ellipse">
            <a:avLst/>
          </a:prstGeom>
          <a:solidFill>
            <a:srgbClr val="1D6A8B"/>
          </a:solidFill>
          <a:ln/>
        </p:spPr>
        <p:txBody>
          <a:bodyPr/>
          <a:lstStyle/>
          <a:p>
            <a:endParaRPr lang="sr-Latn-RS"/>
          </a:p>
        </p:txBody>
      </p:sp>
      <p:sp>
        <p:nvSpPr>
          <p:cNvPr id="24" name="Text 22"/>
          <p:cNvSpPr/>
          <p:nvPr/>
        </p:nvSpPr>
        <p:spPr>
          <a:xfrm>
            <a:off x="5001768" y="2798064"/>
            <a:ext cx="3657600" cy="402336"/>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Cell–cell communication analysis (CellChat / NicheNet) for monocyte–T interactions</a:t>
            </a:r>
            <a:endParaRPr lang="en-US" sz="1150" dirty="0"/>
          </a:p>
        </p:txBody>
      </p:sp>
      <p:sp>
        <p:nvSpPr>
          <p:cNvPr id="25" name="Shape 23"/>
          <p:cNvSpPr/>
          <p:nvPr/>
        </p:nvSpPr>
        <p:spPr>
          <a:xfrm>
            <a:off x="4754880" y="3401568"/>
            <a:ext cx="173736" cy="173736"/>
          </a:xfrm>
          <a:prstGeom prst="ellipse">
            <a:avLst/>
          </a:prstGeom>
          <a:solidFill>
            <a:srgbClr val="1D6A8B"/>
          </a:solidFill>
          <a:ln/>
        </p:spPr>
        <p:txBody>
          <a:bodyPr/>
          <a:lstStyle/>
          <a:p>
            <a:endParaRPr lang="sr-Latn-RS"/>
          </a:p>
        </p:txBody>
      </p:sp>
      <p:sp>
        <p:nvSpPr>
          <p:cNvPr id="26" name="Text 24"/>
          <p:cNvSpPr/>
          <p:nvPr/>
        </p:nvSpPr>
        <p:spPr>
          <a:xfrm>
            <a:off x="5001768" y="3273552"/>
            <a:ext cx="3657600" cy="402336"/>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In vivo mouse model validation of particle-size effects</a:t>
            </a:r>
            <a:endParaRPr lang="en-US" sz="1150" dirty="0"/>
          </a:p>
        </p:txBody>
      </p:sp>
      <p:sp>
        <p:nvSpPr>
          <p:cNvPr id="27" name="Shape 25"/>
          <p:cNvSpPr/>
          <p:nvPr/>
        </p:nvSpPr>
        <p:spPr>
          <a:xfrm>
            <a:off x="4754880" y="3877056"/>
            <a:ext cx="173736" cy="173736"/>
          </a:xfrm>
          <a:prstGeom prst="ellipse">
            <a:avLst/>
          </a:prstGeom>
          <a:solidFill>
            <a:srgbClr val="1D6A8B"/>
          </a:solidFill>
          <a:ln/>
        </p:spPr>
        <p:txBody>
          <a:bodyPr/>
          <a:lstStyle/>
          <a:p>
            <a:endParaRPr lang="sr-Latn-RS"/>
          </a:p>
        </p:txBody>
      </p:sp>
      <p:sp>
        <p:nvSpPr>
          <p:cNvPr id="28" name="Text 26"/>
          <p:cNvSpPr/>
          <p:nvPr/>
        </p:nvSpPr>
        <p:spPr>
          <a:xfrm>
            <a:off x="5001768" y="3749040"/>
            <a:ext cx="3657600" cy="402336"/>
          </a:xfrm>
          <a:prstGeom prst="rect">
            <a:avLst/>
          </a:prstGeom>
          <a:noFill/>
          <a:ln/>
        </p:spPr>
        <p:txBody>
          <a:bodyPr wrap="square" rtlCol="0" anchor="ctr"/>
          <a:lstStyle/>
          <a:p>
            <a:pPr marL="0" indent="0">
              <a:buNone/>
            </a:pPr>
            <a:r>
              <a:rPr lang="en-US" sz="1150" dirty="0">
                <a:solidFill>
                  <a:srgbClr val="0A2342"/>
                </a:solidFill>
                <a:latin typeface="Calibri" pitchFamily="34" charset="0"/>
                <a:ea typeface="Calibri" pitchFamily="34" charset="-122"/>
                <a:cs typeface="Calibri" pitchFamily="34" charset="-120"/>
              </a:rPr>
              <a:t>Trajectory / pseudotime analysis of monocyte activation states</a:t>
            </a:r>
            <a:endParaRPr lang="en-US" sz="1150" dirty="0"/>
          </a:p>
        </p:txBody>
      </p:sp>
      <p:sp>
        <p:nvSpPr>
          <p:cNvPr id="29" name="Shape 27"/>
          <p:cNvSpPr/>
          <p:nvPr/>
        </p:nvSpPr>
        <p:spPr>
          <a:xfrm>
            <a:off x="4526280" y="914400"/>
            <a:ext cx="0" cy="3794760"/>
          </a:xfrm>
          <a:prstGeom prst="line">
            <a:avLst/>
          </a:prstGeom>
          <a:noFill/>
          <a:ln w="12700">
            <a:solidFill>
              <a:srgbClr val="CCCCCC"/>
            </a:solidFill>
            <a:prstDash val="solid"/>
          </a:ln>
        </p:spPr>
        <p:txBody>
          <a:bodyPr/>
          <a:lstStyle/>
          <a:p>
            <a:endParaRPr lang="sr-Latn-RS"/>
          </a:p>
        </p:txBody>
      </p:sp>
      <p:sp>
        <p:nvSpPr>
          <p:cNvPr id="30" name="Shape 28"/>
          <p:cNvSpPr/>
          <p:nvPr/>
        </p:nvSpPr>
        <p:spPr>
          <a:xfrm>
            <a:off x="457200" y="4462272"/>
            <a:ext cx="8229600" cy="365760"/>
          </a:xfrm>
          <a:prstGeom prst="roundRect">
            <a:avLst>
              <a:gd name="adj" fmla="val 12500"/>
            </a:avLst>
          </a:prstGeom>
          <a:solidFill>
            <a:srgbClr val="F0F7FA"/>
          </a:solidFill>
          <a:ln/>
        </p:spPr>
        <p:txBody>
          <a:bodyPr/>
          <a:lstStyle/>
          <a:p>
            <a:endParaRPr lang="sr-Latn-RS"/>
          </a:p>
        </p:txBody>
      </p:sp>
      <p:sp>
        <p:nvSpPr>
          <p:cNvPr id="31" name="Text 29"/>
          <p:cNvSpPr/>
          <p:nvPr/>
        </p:nvSpPr>
        <p:spPr>
          <a:xfrm>
            <a:off x="594360" y="4462272"/>
            <a:ext cx="7955280" cy="365760"/>
          </a:xfrm>
          <a:prstGeom prst="rect">
            <a:avLst/>
          </a:prstGeom>
          <a:noFill/>
          <a:ln/>
        </p:spPr>
        <p:txBody>
          <a:bodyPr wrap="square" rtlCol="0" anchor="ctr"/>
          <a:lstStyle/>
          <a:p>
            <a:pPr marL="0" indent="0">
              <a:buNone/>
            </a:pPr>
            <a:r>
              <a:rPr lang="en-US" sz="1100" i="1" dirty="0">
                <a:solidFill>
                  <a:srgbClr val="7FA9BB"/>
                </a:solidFill>
                <a:latin typeface="Calibri" pitchFamily="34" charset="0"/>
                <a:ea typeface="Calibri" pitchFamily="34" charset="-122"/>
                <a:cs typeface="Calibri" pitchFamily="34" charset="-120"/>
              </a:rPr>
              <a:t>Full code, environment file, and README available on GitHub  ·  Pipeline runtime ~9 min  ·  All outputs in results/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457200" y="3200400"/>
            <a:ext cx="4572000" cy="4572000"/>
          </a:xfrm>
          <a:prstGeom prst="ellipse">
            <a:avLst/>
          </a:prstGeom>
          <a:solidFill>
            <a:srgbClr val="1D6A8B">
              <a:alpha val="15000"/>
            </a:srgbClr>
          </a:solidFill>
          <a:ln/>
        </p:spPr>
        <p:txBody>
          <a:bodyPr/>
          <a:lstStyle/>
          <a:p>
            <a:endParaRPr lang="sr-Latn-RS"/>
          </a:p>
        </p:txBody>
      </p:sp>
      <p:sp>
        <p:nvSpPr>
          <p:cNvPr id="3" name="Shape 1"/>
          <p:cNvSpPr/>
          <p:nvPr/>
        </p:nvSpPr>
        <p:spPr>
          <a:xfrm>
            <a:off x="7132320" y="-914400"/>
            <a:ext cx="3200400" cy="3200400"/>
          </a:xfrm>
          <a:prstGeom prst="ellipse">
            <a:avLst/>
          </a:prstGeom>
          <a:solidFill>
            <a:srgbClr val="2AABCC">
              <a:alpha val="18000"/>
            </a:srgbClr>
          </a:solidFill>
          <a:ln/>
        </p:spPr>
        <p:txBody>
          <a:bodyPr/>
          <a:lstStyle/>
          <a:p>
            <a:endParaRPr lang="sr-Latn-RS"/>
          </a:p>
        </p:txBody>
      </p:sp>
      <p:sp>
        <p:nvSpPr>
          <p:cNvPr id="4" name="Text 2"/>
          <p:cNvSpPr/>
          <p:nvPr/>
        </p:nvSpPr>
        <p:spPr>
          <a:xfrm>
            <a:off x="914400" y="1097280"/>
            <a:ext cx="7315200" cy="1097280"/>
          </a:xfrm>
          <a:prstGeom prst="rect">
            <a:avLst/>
          </a:prstGeom>
          <a:noFill/>
          <a:ln/>
        </p:spPr>
        <p:txBody>
          <a:bodyPr wrap="square"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Thank You</a:t>
            </a:r>
            <a:endParaRPr lang="en-US" sz="6400" dirty="0"/>
          </a:p>
        </p:txBody>
      </p:sp>
      <p:sp>
        <p:nvSpPr>
          <p:cNvPr id="5" name="Text 3"/>
          <p:cNvSpPr/>
          <p:nvPr/>
        </p:nvSpPr>
        <p:spPr>
          <a:xfrm>
            <a:off x="914400" y="2286000"/>
            <a:ext cx="7315200" cy="457200"/>
          </a:xfrm>
          <a:prstGeom prst="rect">
            <a:avLst/>
          </a:prstGeom>
          <a:noFill/>
          <a:ln/>
        </p:spPr>
        <p:txBody>
          <a:bodyPr wrap="square" rtlCol="0" anchor="ctr"/>
          <a:lstStyle/>
          <a:p>
            <a:pPr marL="0" indent="0" algn="ctr">
              <a:buNone/>
            </a:pPr>
            <a:r>
              <a:rPr lang="en-US" sz="2400" dirty="0">
                <a:solidFill>
                  <a:srgbClr val="2AABCC"/>
                </a:solidFill>
                <a:latin typeface="Calibri" pitchFamily="34" charset="0"/>
                <a:ea typeface="Calibri" pitchFamily="34" charset="-122"/>
                <a:cs typeface="Calibri" pitchFamily="34" charset="-120"/>
              </a:rPr>
              <a:t>Questions &amp; Discussion</a:t>
            </a:r>
            <a:endParaRPr lang="en-US" sz="2400" dirty="0"/>
          </a:p>
        </p:txBody>
      </p:sp>
      <p:sp>
        <p:nvSpPr>
          <p:cNvPr id="6" name="Shape 4"/>
          <p:cNvSpPr/>
          <p:nvPr/>
        </p:nvSpPr>
        <p:spPr>
          <a:xfrm>
            <a:off x="548640" y="3108960"/>
            <a:ext cx="2560320" cy="438912"/>
          </a:xfrm>
          <a:prstGeom prst="roundRect">
            <a:avLst>
              <a:gd name="adj" fmla="val 16667"/>
            </a:avLst>
          </a:prstGeom>
          <a:solidFill>
            <a:srgbClr val="1D6A8B">
              <a:alpha val="70000"/>
            </a:srgbClr>
          </a:solidFill>
          <a:ln/>
        </p:spPr>
        <p:txBody>
          <a:bodyPr/>
          <a:lstStyle/>
          <a:p>
            <a:endParaRPr lang="sr-Latn-RS"/>
          </a:p>
        </p:txBody>
      </p:sp>
      <p:sp>
        <p:nvSpPr>
          <p:cNvPr id="7" name="Text 5"/>
          <p:cNvSpPr/>
          <p:nvPr/>
        </p:nvSpPr>
        <p:spPr>
          <a:xfrm>
            <a:off x="548640" y="3108960"/>
            <a:ext cx="2560320"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33,240 cells · 4 conditions</a:t>
            </a:r>
            <a:endParaRPr lang="en-US" sz="1200" dirty="0"/>
          </a:p>
        </p:txBody>
      </p:sp>
      <p:sp>
        <p:nvSpPr>
          <p:cNvPr id="8" name="Shape 6"/>
          <p:cNvSpPr/>
          <p:nvPr/>
        </p:nvSpPr>
        <p:spPr>
          <a:xfrm>
            <a:off x="3383280" y="3108960"/>
            <a:ext cx="2560320" cy="438912"/>
          </a:xfrm>
          <a:prstGeom prst="roundRect">
            <a:avLst>
              <a:gd name="adj" fmla="val 16667"/>
            </a:avLst>
          </a:prstGeom>
          <a:solidFill>
            <a:srgbClr val="1D6A8B">
              <a:alpha val="70000"/>
            </a:srgbClr>
          </a:solidFill>
          <a:ln/>
        </p:spPr>
        <p:txBody>
          <a:bodyPr/>
          <a:lstStyle/>
          <a:p>
            <a:endParaRPr lang="sr-Latn-RS"/>
          </a:p>
        </p:txBody>
      </p:sp>
      <p:sp>
        <p:nvSpPr>
          <p:cNvPr id="9" name="Text 7"/>
          <p:cNvSpPr/>
          <p:nvPr/>
        </p:nvSpPr>
        <p:spPr>
          <a:xfrm>
            <a:off x="3383280" y="3108960"/>
            <a:ext cx="2560320"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Size-specific immune programmes</a:t>
            </a:r>
            <a:endParaRPr lang="en-US" sz="1200" dirty="0"/>
          </a:p>
        </p:txBody>
      </p:sp>
      <p:sp>
        <p:nvSpPr>
          <p:cNvPr id="10" name="Shape 8"/>
          <p:cNvSpPr/>
          <p:nvPr/>
        </p:nvSpPr>
        <p:spPr>
          <a:xfrm>
            <a:off x="6217920" y="3108960"/>
            <a:ext cx="2560320" cy="438912"/>
          </a:xfrm>
          <a:prstGeom prst="roundRect">
            <a:avLst>
              <a:gd name="adj" fmla="val 16667"/>
            </a:avLst>
          </a:prstGeom>
          <a:solidFill>
            <a:srgbClr val="1D6A8B">
              <a:alpha val="70000"/>
            </a:srgbClr>
          </a:solidFill>
          <a:ln/>
        </p:spPr>
        <p:txBody>
          <a:bodyPr/>
          <a:lstStyle/>
          <a:p>
            <a:endParaRPr lang="sr-Latn-RS"/>
          </a:p>
        </p:txBody>
      </p:sp>
      <p:sp>
        <p:nvSpPr>
          <p:cNvPr id="11" name="Text 9"/>
          <p:cNvSpPr/>
          <p:nvPr/>
        </p:nvSpPr>
        <p:spPr>
          <a:xfrm>
            <a:off x="6217920" y="3108960"/>
            <a:ext cx="2560320"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Mix-only emergent effects (294 genes)</a:t>
            </a:r>
            <a:endParaRPr lang="en-US" sz="1200" dirty="0"/>
          </a:p>
        </p:txBody>
      </p:sp>
      <p:sp>
        <p:nvSpPr>
          <p:cNvPr id="12" name="Text 10"/>
          <p:cNvSpPr/>
          <p:nvPr/>
        </p:nvSpPr>
        <p:spPr>
          <a:xfrm>
            <a:off x="914400" y="3840480"/>
            <a:ext cx="7315200" cy="274320"/>
          </a:xfrm>
          <a:prstGeom prst="rect">
            <a:avLst/>
          </a:prstGeom>
          <a:noFill/>
          <a:ln/>
        </p:spPr>
        <p:txBody>
          <a:bodyPr wrap="square" rtlCol="0" anchor="ctr"/>
          <a:lstStyle/>
          <a:p>
            <a:pPr marL="0" indent="0" algn="ctr">
              <a:buNone/>
            </a:pPr>
            <a:r>
              <a:rPr lang="en-US" sz="1100" dirty="0">
                <a:solidFill>
                  <a:srgbClr val="7FA9BB"/>
                </a:solidFill>
                <a:latin typeface="Calibri" pitchFamily="34" charset="0"/>
                <a:ea typeface="Calibri" pitchFamily="34" charset="-122"/>
                <a:cs typeface="Calibri" pitchFamily="34" charset="-120"/>
              </a:rPr>
              <a:t>Data: DOI 10.5281/zenodo.15866724</a:t>
            </a:r>
            <a:endParaRPr lang="en-US" sz="1100" dirty="0"/>
          </a:p>
        </p:txBody>
      </p:sp>
      <p:sp>
        <p:nvSpPr>
          <p:cNvPr id="13" name="Text 11"/>
          <p:cNvSpPr/>
          <p:nvPr/>
        </p:nvSpPr>
        <p:spPr>
          <a:xfrm>
            <a:off x="914400" y="4114800"/>
            <a:ext cx="7315200" cy="274320"/>
          </a:xfrm>
          <a:prstGeom prst="rect">
            <a:avLst/>
          </a:prstGeom>
          <a:noFill/>
          <a:ln/>
        </p:spPr>
        <p:txBody>
          <a:bodyPr wrap="square" rtlCol="0" anchor="ctr"/>
          <a:lstStyle/>
          <a:p>
            <a:pPr marL="0" indent="0" algn="ctr">
              <a:buNone/>
            </a:pPr>
            <a:r>
              <a:rPr lang="en-US" sz="1100" dirty="0">
                <a:solidFill>
                  <a:srgbClr val="7FA9BB"/>
                </a:solidFill>
                <a:latin typeface="Calibri" pitchFamily="34" charset="0"/>
                <a:ea typeface="Calibri" pitchFamily="34" charset="-122"/>
                <a:cs typeface="Calibri" pitchFamily="34" charset="-120"/>
              </a:rPr>
              <a:t>Azimuth PBMC reference: DOI 10.5281/zenodo.4546839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3712</Words>
  <Application>Microsoft Office PowerPoint</Application>
  <PresentationFormat>On-screen Show (16:9)</PresentationFormat>
  <Paragraphs>340</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Single-Cell Analysis of Immune Response to Nanoplastic Particles</dc:title>
  <dc:subject>PptxGenJS Presentation</dc:subject>
  <dc:creator>PptxGenJS</dc:creator>
  <cp:lastModifiedBy>Marija Dovijanic</cp:lastModifiedBy>
  <cp:revision>3</cp:revision>
  <dcterms:created xsi:type="dcterms:W3CDTF">2026-06-15T16:31:32Z</dcterms:created>
  <dcterms:modified xsi:type="dcterms:W3CDTF">2026-07-06T10:15:22Z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0167c36-b4d5-4e4e-bd61-39632ce73ec8_Enabled">
    <vt:lpwstr>true</vt:lpwstr>
  </property>
  <property fmtid="{D5CDD505-2E9C-101B-9397-08002B2CF9AE}" pid="3" name="MSIP_Label_d0167c36-b4d5-4e4e-bd61-39632ce73ec8_SetDate">
    <vt:lpwstr>2026-06-15T16:34:59Z</vt:lpwstr>
  </property>
  <property fmtid="{D5CDD505-2E9C-101B-9397-08002B2CF9AE}" pid="4" name="MSIP_Label_d0167c36-b4d5-4e4e-bd61-39632ce73ec8_Method">
    <vt:lpwstr>Privileged</vt:lpwstr>
  </property>
  <property fmtid="{D5CDD505-2E9C-101B-9397-08002B2CF9AE}" pid="5" name="MSIP_Label_d0167c36-b4d5-4e4e-bd61-39632ce73ec8_Name">
    <vt:lpwstr>Open</vt:lpwstr>
  </property>
  <property fmtid="{D5CDD505-2E9C-101B-9397-08002B2CF9AE}" pid="6" name="MSIP_Label_d0167c36-b4d5-4e4e-bd61-39632ce73ec8_SiteId">
    <vt:lpwstr>169bbd4f-4054-49cd-a5c7-0244ab23e3a8</vt:lpwstr>
  </property>
  <property fmtid="{D5CDD505-2E9C-101B-9397-08002B2CF9AE}" pid="7" name="MSIP_Label_d0167c36-b4d5-4e4e-bd61-39632ce73ec8_ActionId">
    <vt:lpwstr>48534bc6-3bc6-4896-9f10-90a7e860f086</vt:lpwstr>
  </property>
  <property fmtid="{D5CDD505-2E9C-101B-9397-08002B2CF9AE}" pid="8" name="MSIP_Label_d0167c36-b4d5-4e4e-bd61-39632ce73ec8_ContentBits">
    <vt:lpwstr>1</vt:lpwstr>
  </property>
  <property fmtid="{D5CDD505-2E9C-101B-9397-08002B2CF9AE}" pid="9" name="MSIP_Label_d0167c36-b4d5-4e4e-bd61-39632ce73ec8_Tag">
    <vt:lpwstr>10, 0, 1, 1</vt:lpwstr>
  </property>
  <property fmtid="{D5CDD505-2E9C-101B-9397-08002B2CF9AE}" pid="10" name="ClassificationContentMarkingHeaderLocations">
    <vt:lpwstr>Office Theme:3</vt:lpwstr>
  </property>
  <property fmtid="{D5CDD505-2E9C-101B-9397-08002B2CF9AE}" pid="11" name="ClassificationContentMarkingHeaderText">
    <vt:lpwstr>Open</vt:lpwstr>
  </property>
</Properties>
</file>