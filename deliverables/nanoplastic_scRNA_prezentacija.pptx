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Single-cell analiza imunog odgovora</a:t>
            </a:r>
          </a:p>
          <a:p>
            <a:r>
              <a:t>na nanoplastične čestice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PBMC jednog donora | 40 nm, 200 nm, mix i control | scRNA-seq (Zenodo 15866724)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Cilj projekta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Ispitati kako veličina karboxilovanih polistirenskih nanoplastika (PSNP) menja imuni transcriptom u perifernoj krvi.</a:t>
            </a:r>
          </a:p>
          <a:p>
            <a:pPr>
              <a:defRPr sz="1800"/>
            </a:pPr>
            <a:r>
              <a:t>Uporediti tri izloženosti (40 nm, 200 nm, 40+200 nm mix) sa neizloženim control-om.</a:t>
            </a:r>
          </a:p>
          <a:p>
            <a:pPr>
              <a:defRPr sz="1800"/>
            </a:pPr>
            <a:r>
              <a:t>Identifikovati promene u sastavu ćelija, diferencijalnoj ekspresiji gena i biološkim putanjama.</a:t>
            </a:r>
          </a:p>
          <a:p>
            <a:pPr>
              <a:defRPr sz="1800"/>
            </a:pPr>
            <a:r>
              <a:t>Posebno: efekti zavisni od veličine čestice i emergentni odgovor na mešavinu.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Dizajn studije i podaci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Izvor: Zenodo zapis 15866724 — jedan donor, četiri uzorka (po jedan uslov).</a:t>
            </a:r>
          </a:p>
          <a:p>
            <a:pPr>
              <a:defRPr sz="1800"/>
            </a:pPr>
            <a:r>
              <a:t>Uslovi: PSNP 40 nm, PSNP 200 nm, PSNP mix (40+200 nm), control.</a:t>
            </a:r>
          </a:p>
          <a:p>
            <a:pPr>
              <a:defRPr sz="1800"/>
            </a:pPr>
            <a:r>
              <a:t>Modalitet: single-cell RNA-seq (AnnData .h5ad), ~22k gena po uzorku pre QC.</a:t>
            </a:r>
          </a:p>
          <a:p>
            <a:pPr>
              <a:defRPr sz="1800"/>
            </a:pPr>
            <a:r>
              <a:t>Nakon QC i integracije: 33 240 ćelija × 20 388 gena (spojeni dataset).</a:t>
            </a:r>
          </a:p>
          <a:p>
            <a:pPr>
              <a:defRPr sz="1800"/>
            </a:pPr>
            <a:r>
              <a:t>Ograničenje: jedan donor — statistika je unutar uzorka, ne zamena za biološke replikate.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Šta pipeline radi (run_pipeline.py)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QC: filter ćelija (min 200 gena, max 7000, min 500 counts, mt ≤ 15%) — zadržano 96.9–98.0% ćelija.</a:t>
            </a:r>
          </a:p>
          <a:p>
            <a:pPr>
              <a:defRPr sz="1800"/>
            </a:pPr>
            <a:r>
              <a:t>2. Normalizacija, module skorovi (ciklus, IFN, antigen prezentacija), 3000 HVG gena.</a:t>
            </a:r>
          </a:p>
          <a:p>
            <a:pPr>
              <a:defRPr sz="1800"/>
            </a:pPr>
            <a:r>
              <a:t>3. PCA, Combat integracija po uzorku, UMAP, Leiden klasterizacija (14 klastera).</a:t>
            </a:r>
          </a:p>
          <a:p>
            <a:pPr>
              <a:defRPr sz="1800"/>
            </a:pPr>
            <a:r>
              <a:t>4. Anotacija tipova ćelija: marker geni + spoljna CoDi referenca + opciono Azimuth (R).</a:t>
            </a:r>
          </a:p>
          <a:p>
            <a:pPr>
              <a:defRPr sz="1800"/>
            </a:pPr>
            <a:r>
              <a:t>5. Analiza sastava populacije po uslovu.</a:t>
            </a:r>
          </a:p>
          <a:p>
            <a:pPr>
              <a:defRPr sz="1800"/>
            </a:pPr>
            <a:r>
              <a:t>6. Diferencijalna ekspresija (Wilcoxon) i obogaćivanje putanja (GO, KEGG, Reactome).</a:t>
            </a:r>
          </a:p>
          <a:p>
            <a:pPr>
              <a:defRPr sz="1800"/>
            </a:pPr>
            <a:r>
              <a:t>7. Size-specific klasifikacija DE gena + pseudobulk matrica za downstream validaciju.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Kontrola kvaliteta — zadržane ćelije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Uzorak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Pre QC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Posle QC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Zadržano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PSNP 40 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8 729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8 458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96.9%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PSNP 200 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12 676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12 421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98.0%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PSNP 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6 157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6 005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97.5%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6 516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6 356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97.5%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971800"/>
            <a:ext cx="112471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Visok procenat zadržanih ćelija ukazuje na dobar kvalitet ulaznih podataka.</a:t>
            </a:r>
          </a:p>
          <a:p>
            <a:pPr>
              <a:defRPr sz="1300"/>
            </a:pPr>
            <a:r>
              <a:t>• Nijedan uzorak nije neravnomerno odbačen — pouzdana poređenja između uslova.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UMAP po eksperimentalnom uslovu</a:t>
            </a:r>
          </a:p>
        </p:txBody>
      </p:sp>
      <p:pic>
        <p:nvPicPr>
          <p:cNvPr id="3" name="Picture 2" descr="umap_cond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11556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15000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Svaka tačka = jedna ćelija; blizina ≈ sličan genetski profil.</a:t>
            </a:r>
          </a:p>
          <a:p>
            <a:pPr>
              <a:defRPr sz="1400"/>
            </a:pPr>
            <a:r>
              <a:t>• Sva četiri uslova se preklapaju na istim regionima — nema odvojenih ostrva po izloženosti.</a:t>
            </a:r>
          </a:p>
          <a:p>
            <a:pPr>
              <a:defRPr sz="1400"/>
            </a:pPr>
            <a:r>
              <a:t>• Integracija (Combat) uspešna; efekti su gen-specifični (vidljivi u DE), ne globalni pomeraj mape.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UMAP podeljen po uslovima (4 panela)</a:t>
            </a:r>
          </a:p>
        </p:txBody>
      </p:sp>
      <p:pic>
        <p:nvPicPr>
          <p:cNvPr id="3" name="Picture 2" descr="umap_split_by_cond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1115568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2578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Ista UMAP koordinata — u svakom panelu jedan uslov obojen, ostalo sivo.</a:t>
            </a:r>
          </a:p>
          <a:p>
            <a:pPr>
              <a:defRPr sz="1400"/>
            </a:pPr>
            <a:r>
              <a:t>• Nijedan uslov ne zauzima ekskluzivan region — struktura PBMC populacije ostaje.</a:t>
            </a:r>
          </a:p>
          <a:p>
            <a:pPr>
              <a:defRPr sz="1400"/>
            </a:pPr>
            <a:r>
              <a:t>• Mix ne pravi potpuno novu mapu; emergentni efekti su u genima, ne u globalnom layout-u.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Provera integracije — UMAP po uzorku</a:t>
            </a:r>
          </a:p>
        </p:txBody>
      </p:sp>
      <p:pic>
        <p:nvPicPr>
          <p:cNvPr id="3" name="Picture 2" descr="umap_sample_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11556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15000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Boje = tehnički uzorci (Sample 1–4); posle Combat korekcije uzorci se mešaju.</a:t>
            </a:r>
          </a:p>
          <a:p>
            <a:pPr>
              <a:defRPr sz="1400"/>
            </a:pPr>
            <a:r>
              <a:t>• Nema četiri odvojena ostrva — batch efekti su uklonjeni.</a:t>
            </a:r>
          </a:p>
          <a:p>
            <a:pPr>
              <a:defRPr sz="1400"/>
            </a:pPr>
            <a:r>
              <a:t>• UMAP po uslovu zato odražava biologiju, a ne artefakt sekvenciranja.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Leiden klasteri (14 klastera)</a:t>
            </a:r>
          </a:p>
        </p:txBody>
      </p:sp>
      <p:pic>
        <p:nvPicPr>
          <p:cNvPr id="3" name="Picture 2" descr="umap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11556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15000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Nekontrolisane grupe sličnih ćelija pre dodele tipova — algoritam našao 14 klastera.</a:t>
            </a:r>
          </a:p>
          <a:p>
            <a:pPr>
              <a:defRPr sz="1400"/>
            </a:pPr>
            <a:r>
              <a:t>• Klasteri odgovaraju glavnim PBMC kompartmanima (T, B, NK, monociti).</a:t>
            </a:r>
          </a:p>
          <a:p>
            <a:pPr>
              <a:defRPr sz="1400"/>
            </a:pPr>
            <a:r>
              <a:t>• Zdrava unsupervisirana struktura potvrđuje kvalitet podataka.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Tipovi ćelija — marker anotacija</a:t>
            </a:r>
          </a:p>
        </p:txBody>
      </p:sp>
      <p:pic>
        <p:nvPicPr>
          <p:cNvPr id="3" name="Picture 2" descr="umap_celltypes_mar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11556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15000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CD4 T dominiraju: 15 568 ćelija (46.8%) — tipičan PBMC profil periferne krvi.</a:t>
            </a:r>
          </a:p>
          <a:p>
            <a:pPr>
              <a:defRPr sz="1400"/>
            </a:pPr>
            <a:r>
              <a:t>• B ćelije u odvojenom ostrvu; monociti u zasebnom regionu — očekivana anatomija krvi.</a:t>
            </a:r>
          </a:p>
          <a:p>
            <a:pPr>
              <a:defRPr sz="1400"/>
            </a:pPr>
            <a:r>
              <a:t>• NK i CD8 T delimično se preklapaju zbog deljenih markera (npr. NKG7).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CoDi spoljna anotacija (validacija)</a:t>
            </a:r>
          </a:p>
        </p:txBody>
      </p:sp>
      <p:pic>
        <p:nvPicPr>
          <p:cNvPr id="3" name="Picture 2" descr="umap_codi_cell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11556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15000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Nezavisne etikete iz Zenodo CSV fajlova — mapirano 99.6% ćelija.</a:t>
            </a:r>
          </a:p>
          <a:p>
            <a:pPr>
              <a:defRPr sz="1400"/>
            </a:pPr>
            <a:r>
              <a:t>• Prostorijski raspored usklađen sa marker anotacijom — validacija glavnih linija.</a:t>
            </a:r>
          </a:p>
          <a:p>
            <a:pPr>
              <a:defRPr sz="1400"/>
            </a:pPr>
            <a:r>
              <a:t>• Razlike u granularnosti su očekivane (CoDi vs naš marker panel).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skorovi na UMAP-u (S, G2M, IFN)</a:t>
            </a:r>
          </a:p>
        </p:txBody>
      </p:sp>
      <p:pic>
        <p:nvPicPr>
          <p:cNvPr id="3" name="Picture 2" descr="umap_module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822960"/>
            <a:ext cx="1115568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800600"/>
            <a:ext cx="1115568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S i G2M skorovi = proliferacija; lokalizovani u određenim regionima (normalno za krv).</a:t>
            </a:r>
          </a:p>
          <a:p>
            <a:pPr>
              <a:defRPr sz="1400"/>
            </a:pPr>
            <a:r>
              <a:t>• IFN skor = interferon program; nije uniformno povišen pod nanoplastikom.</a:t>
            </a:r>
          </a:p>
          <a:p>
            <a:pPr>
              <a:defRPr sz="1400"/>
            </a:pPr>
            <a:r>
              <a:t>• Module skor sažima ekspresiju skupa gena u jedan broj po ćeliji.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Marker geni — dot plot</a:t>
            </a:r>
          </a:p>
        </p:txBody>
      </p:sp>
      <p:pic>
        <p:nvPicPr>
          <p:cNvPr id="3" name="Picture 2" descr="marker_dot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1115568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166360"/>
            <a:ext cx="1115568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Veličina tačke = udeo ćelija koje ekspresiraju gen; boja = intenzitet.</a:t>
            </a:r>
          </a:p>
          <a:p>
            <a:pPr>
              <a:defRPr sz="1400"/>
            </a:pPr>
            <a:r>
              <a:t>• MS4A1/CD79A visoki u B ćelijama; LYZ/S100A8 u CD14 monocitima — potvrda anotacije.</a:t>
            </a:r>
          </a:p>
          <a:p>
            <a:pPr>
              <a:defRPr sz="1400"/>
            </a:pPr>
            <a:r>
              <a:t>• Dokaz da dodela tipova odgovara kanonskim PBMC markerima iz literature.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Sastav populacije po uslovu</a:t>
            </a:r>
          </a:p>
        </p:txBody>
      </p:sp>
      <p:pic>
        <p:nvPicPr>
          <p:cNvPr id="3" name="Picture 2" descr="composition_bar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1115568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166360"/>
            <a:ext cx="1115568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CD4 T: control 49.2% → 200 nm 44.0%</a:t>
            </a:r>
          </a:p>
          <a:p>
            <a:pPr>
              <a:defRPr sz="1400"/>
            </a:pPr>
            <a:r>
              <a:t>• CD14 monociti: control 5.7% → 200 nm 9.7% (↑ porast)</a:t>
            </a:r>
          </a:p>
          <a:p>
            <a:pPr>
              <a:defRPr sz="1400"/>
            </a:pPr>
            <a:r>
              <a:t>• Mix: CD14 monociti 3.1% — drugačiji profil od 200 nm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Tabela: sastav ćelija po uslovu (%)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Tip ćelije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40 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200 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Mix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CD4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48.4%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Monocyte CD14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3.1%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NK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13.9%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971800"/>
            <a:ext cx="112471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Proporcije su uglavnom stabilne — nanoplastika ne menja drastično ceo imuni pejzaž.</a:t>
            </a:r>
          </a:p>
          <a:p>
            <a:pPr>
              <a:defRPr sz="1300"/>
            </a:pPr>
            <a:r>
              <a:t>• Porast CD14 monocita na 200 nm sugerise mieloidni (innate) odgovor na veće čestice.</a:t>
            </a:r>
          </a:p>
          <a:p>
            <a:pPr>
              <a:defRPr sz="1300"/>
            </a:pPr>
            <a:r>
              <a:t>• Jedan donor — formulisi kao hipoteza za dalja istraživanja.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Diferencijalna ekspresija (DE)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Fajl: differential_expression_all.csv — 66 000 redova, 22 poređenja (tip × uslov vs control).</a:t>
            </a:r>
          </a:p>
          <a:p>
            <a:pPr>
              <a:defRPr sz="1800"/>
            </a:pPr>
            <a:r>
              <a:t>Metoda: Wilcoxon rank-sum unutar svakog tipa ćelije; praga padj &lt; 0.05, |logFC| &gt; 0.25.</a:t>
            </a:r>
          </a:p>
          <a:p>
            <a:pPr>
              <a:defRPr sz="1800"/>
            </a:pPr>
            <a:r>
              <a:t>Rezultat: 36 814 značajnih genetskih promena — masivan, ali tip-specifičan signal.</a:t>
            </a:r>
          </a:p>
          <a:p>
            <a:pPr>
              <a:defRPr sz="1800"/>
            </a:pPr>
            <a:r>
              <a:t>UMAP izgleda slično, ali gen po gen efekat je jak — promene su u programima, ne u potpunoj promeni identiteta.</a:t>
            </a:r>
          </a:p>
          <a:p>
            <a:pPr>
              <a:defRPr sz="1800"/>
            </a:pPr>
            <a:r>
              <a:t>Trombociti: samo jedno poređenje (200 nm vs control) zbog malog broja ćelija.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Obogaćivanje bioloških putanja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Fajl: pathway_enrichment_all.csv — 89 015 redova (GO BP 2023, KEGG 2021, Reactome 2022).</a:t>
            </a:r>
          </a:p>
          <a:p>
            <a:pPr>
              <a:defRPr sz="1800"/>
            </a:pPr>
            <a:r>
              <a:t>Ulaz: značajno upregulisani DE genovi po tipu ćelije i uslovu.</a:t>
            </a:r>
          </a:p>
          <a:p>
            <a:pPr>
              <a:defRPr sz="1800"/>
            </a:pPr>
            <a:r>
              <a:t>Dominantne putanje: inflamatorni odgovor, citokin signalizacija, hemotaksija.</a:t>
            </a:r>
          </a:p>
          <a:p>
            <a:pPr>
              <a:defRPr sz="1800"/>
            </a:pPr>
            <a:r>
              <a:t>Primeri: NK i B ćelije pod 200 nm — Inflammatory Response; monociti pod mix — citokin putanje.</a:t>
            </a:r>
          </a:p>
          <a:p>
            <a:pPr>
              <a:defRPr sz="1800"/>
            </a:pPr>
            <a:r>
              <a:t>Konzistentno sa imunološkim izazovom nanoplastike in vitro (ali ne dokaz in vivo patologije).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Efekti zavisni od veličine čestice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Tip ćelije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Klasa efekta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Broj gena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Monocyte_CD14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Zajednički sva 3 izloženja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865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NK_cell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Zajednički sva 3 izloženja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748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Monocyte_CD16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Zajednički sva 3 izloženja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697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B_cell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Zajednički sva 3 izloženja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624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Samo mix (emergentni)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402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CD8_T_cytotoxic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Samo mix (emergentni)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382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Monocyte_CD14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Samo mix (emergentni)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294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Platelet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Samo 200 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1419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251960"/>
            <a:ext cx="1124712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40 nm ≠ 200 nm — mnogi geni su jedinstveni za jednu veličinu.</a:t>
            </a:r>
          </a:p>
          <a:p>
            <a:pPr>
              <a:defRPr sz="1300"/>
            </a:pPr>
            <a:r>
              <a:t>• 865 zajedničkih gena u CD14 monocitima = jezgro odgovora na PSNP.</a:t>
            </a:r>
          </a:p>
          <a:p>
            <a:pPr>
              <a:defRPr sz="1300"/>
            </a:pPr>
            <a:r>
              <a:t>• Mix dodaje emergentne gene (294+ u monocitima, 400+ u DC/CD8) — mešavina nije trivijalna.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Skorovi ćelijskog ciklusa po uslovu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Uslov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S_score (S faza)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G2M_score (G2/M faza)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 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0.0163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200 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-0.0177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0.0122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0.0120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971800"/>
            <a:ext cx="112471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Skorovi blizu nule — većina PBMC u krvi nije u aktivnom deljenju (očekivano).</a:t>
            </a:r>
          </a:p>
          <a:p>
            <a:pPr>
              <a:defRPr sz="1300"/>
            </a:pPr>
            <a:r>
              <a:t>• Nema dramatične promene ciklusa; 200 nm ima blago niži G2M (−0.018 vs 0.012).</a:t>
            </a:r>
          </a:p>
          <a:p>
            <a:pPr>
              <a:defRPr sz="1300"/>
            </a:pPr>
            <a:r>
              <a:t>• Računato pre HVG filtriranja — validni numerički rezultati.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Interferon (IFN) potpis po uslovu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Uslov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IFN_score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40 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0.0045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200 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0.0096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-0.0018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0.0351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971800"/>
            <a:ext cx="1124712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• Control ima najviši IFN skor (0.035) — suprotno od jednostavne priče o masivnoj IFN aktivaciji.</a:t>
            </a:r>
          </a:p>
          <a:p>
            <a:pPr>
              <a:defRPr sz="1300"/>
            </a:pPr>
            <a:r>
              <a:t>• Razlike su slabe; IFN modul nije glavni dokaz efekta — jači su DE i pathway rezultati.</a:t>
            </a:r>
          </a:p>
          <a:p>
            <a:pPr>
              <a:defRPr sz="1300"/>
            </a:pPr>
            <a:r>
              <a:t>• Transparentno prijavljujemo i neodlučne module.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Antigen prezentacija i validacija anotacije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antigen_presentation_scores.csv — HLA/MHC program po tipu i uslovu.</a:t>
            </a:r>
          </a:p>
          <a:p>
            <a:pPr>
              <a:defRPr sz="1800"/>
            </a:pPr>
            <a:r>
              <a:t>Najviši skorovi kod B ćelija (control 1.44 → 40 nm 0.95) — blaga moguća supresija na 40 nm.</a:t>
            </a:r>
          </a:p>
          <a:p>
            <a:pPr>
              <a:defRPr sz="1800"/>
            </a:pPr>
            <a:r>
              <a:t>Monociti i DC: niže apsolutne vrednosti, ali biološki relevantni za imuni odgovor na NP.</a:t>
            </a:r>
          </a:p>
          <a:p>
            <a:pPr>
              <a:defRPr sz="1800"/>
            </a:pPr>
            <a:r>
              <a:t>annotation_agreement_metrics.csv: CoDi vs marker slažnost 64.7% — u redu za cross-validaciju.</a:t>
            </a:r>
          </a:p>
          <a:p>
            <a:pPr>
              <a:defRPr sz="1800"/>
            </a:pPr>
            <a:r>
              <a:t>azimuth_annotations.csv: 33 240 ćelija, mean score 0.908 — nezavisna PBMC referenca.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Generisani output fajlovi — pregled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Figure (9): umap_condition, umap_split, umap_sample_integration, umap_clusters,</a:t>
            </a:r>
          </a:p>
          <a:p>
            <a:pPr>
              <a:defRPr sz="1800"/>
            </a:pPr>
            <a:r>
              <a:t>  umap_celltypes_marker, umap_codi_celltypes, umap_module_scores, marker_dotplot, composition_barplot.</a:t>
            </a:r>
          </a:p>
          <a:p>
            <a:pPr>
              <a:defRPr sz="1800"/>
            </a:pPr>
            <a:r>
              <a:t>Tabele (10): cell_composition, differential_expression, pathway_enrichment, size_specific_effects,</a:t>
            </a:r>
          </a:p>
          <a:p>
            <a:pPr>
              <a:defRPr sz="1800"/>
            </a:pPr>
            <a:r>
              <a:t>  cell_cycle_scores, ifn_scores, antigen_presentation, pseudobulk, annotation_agreement, azimuth.</a:t>
            </a:r>
          </a:p>
          <a:p>
            <a:pPr>
              <a:defRPr sz="1800"/>
            </a:pPr>
            <a:r>
              <a:t>Processed: data/processed/integrated_annotated.h5ad (33 240 × 3000 HVG).</a:t>
            </a:r>
          </a:p>
          <a:p>
            <a:pPr>
              <a:defRPr sz="1800"/>
            </a:pPr>
            <a:r>
              <a:t>Logovi: results/run_logs/ — reprodukcija pipeline run-a od 2026-06-11.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Glavni zaključci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Nanoplastika indukuje širok, tip-specifičan transkripcioni odgovor (36 814 DE gena).</a:t>
            </a:r>
          </a:p>
          <a:p>
            <a:pPr>
              <a:defRPr sz="1800"/>
            </a:pPr>
            <a:r>
              <a:t>Globalna UMAP struktura i sastav populacije su uglavnom stabilni — efekti su suptilni na mapama, jaki u genima.</a:t>
            </a:r>
          </a:p>
          <a:p>
            <a:pPr>
              <a:defRPr sz="1800"/>
            </a:pPr>
            <a:r>
              <a:t>Veličina čestice važi: različiti genetski setovi za 40 nm vs 200 nm; mix daje emergentne gene.</a:t>
            </a:r>
          </a:p>
          <a:p>
            <a:pPr>
              <a:defRPr sz="1800"/>
            </a:pPr>
            <a:r>
              <a:t>200 nm povećava udeo CD14 monocita (5.7% → 9.7%) — hipoteza o mieloidnom odgovoru na veće čestice.</a:t>
            </a:r>
          </a:p>
          <a:p>
            <a:pPr>
              <a:defRPr sz="1800"/>
            </a:pPr>
            <a:r>
              <a:t>Pathway analiza ukazuje na inflamatorne i citokinske programe — plauzibilan imuni odgovor.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Ograničenja i sledeći koraci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Jedan donor, in vitro — statistika je istraživačka, ne klinička generalizacija.</a:t>
            </a:r>
          </a:p>
          <a:p>
            <a:pPr>
              <a:defRPr sz="1800"/>
            </a:pPr>
            <a:r>
              <a:t>DE na 3000 HVG gena — neki biološki relevantni geni mogu biti isključeni iz DE testa.</a:t>
            </a:r>
          </a:p>
          <a:p>
            <a:pPr>
              <a:defRPr sz="1800"/>
            </a:pPr>
            <a:r>
              <a:t>Marker panel za DC precenjuje u odnosu na Azimuth (2 078 vs 46 DC na L1).</a:t>
            </a:r>
          </a:p>
          <a:p>
            <a:pPr>
              <a:defRPr sz="1800"/>
            </a:pPr>
            <a:r>
              <a:t>Budući rad: više donora, pseudobulk validacija (DESeq2), in vivo relevantnost.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